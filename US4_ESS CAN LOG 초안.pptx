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251" userDrawn="1">
          <p15:clr>
            <a:srgbClr val="A4A3A4"/>
          </p15:clr>
        </p15:guide>
        <p15:guide id="4" orient="horz" pos="23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00FF"/>
    <a:srgbClr val="003399"/>
    <a:srgbClr val="00FFFF"/>
    <a:srgbClr val="FFCC66"/>
    <a:srgbClr val="32946A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027" autoAdjust="0"/>
  </p:normalViewPr>
  <p:slideViewPr>
    <p:cSldViewPr>
      <p:cViewPr varScale="1">
        <p:scale>
          <a:sx n="104" d="100"/>
          <a:sy n="104" d="100"/>
        </p:scale>
        <p:origin x="754" y="91"/>
      </p:cViewPr>
      <p:guideLst>
        <p:guide orient="horz" pos="2160"/>
        <p:guide pos="3840"/>
        <p:guide orient="horz" pos="2251"/>
        <p:guide orient="horz" pos="2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91" d="100"/>
          <a:sy n="91" d="100"/>
        </p:scale>
        <p:origin x="3768" y="102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50000"/>
              </a:spcBef>
              <a:defRPr kumimoji="1" sz="1200" b="1">
                <a:solidFill>
                  <a:srgbClr val="FF0000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50000"/>
              </a:spcBef>
              <a:defRPr kumimoji="1" sz="1200" b="1">
                <a:solidFill>
                  <a:srgbClr val="FF0000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50000"/>
              </a:spcBef>
              <a:defRPr kumimoji="1" sz="1200" b="1">
                <a:solidFill>
                  <a:srgbClr val="FF0000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50000"/>
              </a:spcBef>
              <a:defRPr kumimoji="1" sz="1200" b="1">
                <a:solidFill>
                  <a:srgbClr val="FF0000"/>
                </a:solidFill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8209308B-C219-426A-8EA1-A96B073C76B1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5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1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657F6227-7A0E-40F6-8F51-1D4D25B0683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 smtClean="0"/>
              <a:t>마스터 부제목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7592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2A6748-36FA-41FA-ADE9-2603E4039F58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54352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7592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9E4808-1AAD-4826-8712-C5101E8B46C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4452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7592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2710E9-B21D-4B47-B4A6-6DA60579CE2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84812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7592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40A833-B97B-4BCD-876C-B33D51C3A4C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45055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7592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23E5E-B979-4F6C-845F-2AAD0AF61368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79469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7592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C2B279-32D2-4AE0-9590-6A8D7773737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64196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7592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0DB6DF-2642-452F-9480-31AEC498949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89435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7592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1E47BA-81B8-49BF-B94A-1FA205B7E5C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3415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7592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1EB26-9321-4224-B4D6-6B0D640CB6B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26891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7592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AECD07-2075-4D33-977E-58C9C071165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86672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7592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76009-7A8F-4E3F-A35F-82F38CF74008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2209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7592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6D48B7-86A2-49DF-BA5B-D1F63BCFD4F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32725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3"/>
          <p:cNvSpPr>
            <a:spLocks noChangeShapeType="1"/>
          </p:cNvSpPr>
          <p:nvPr/>
        </p:nvSpPr>
        <p:spPr bwMode="auto">
          <a:xfrm>
            <a:off x="711200" y="6477000"/>
            <a:ext cx="11074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7" name="Line 4"/>
          <p:cNvSpPr>
            <a:spLocks noChangeShapeType="1"/>
          </p:cNvSpPr>
          <p:nvPr/>
        </p:nvSpPr>
        <p:spPr bwMode="auto">
          <a:xfrm>
            <a:off x="431800" y="765175"/>
            <a:ext cx="110744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0" name="Line 9"/>
          <p:cNvSpPr>
            <a:spLocks noChangeShapeType="1"/>
          </p:cNvSpPr>
          <p:nvPr userDrawn="1"/>
        </p:nvSpPr>
        <p:spPr bwMode="auto">
          <a:xfrm>
            <a:off x="431800" y="765175"/>
            <a:ext cx="11074400" cy="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31" name="Picture 11" descr="logo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287338"/>
            <a:ext cx="2782888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37"/>
          <p:cNvSpPr txBox="1">
            <a:spLocks noChangeArrowheads="1"/>
          </p:cNvSpPr>
          <p:nvPr userDrawn="1"/>
        </p:nvSpPr>
        <p:spPr bwMode="auto">
          <a:xfrm>
            <a:off x="7027089" y="320504"/>
            <a:ext cx="44791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>
              <a:defRPr/>
            </a:pPr>
            <a:r>
              <a:rPr lang="en-US" altLang="ko-KR" sz="2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US4</a:t>
            </a:r>
            <a:r>
              <a:rPr lang="en-US" altLang="ko-KR" sz="2400" b="1" baseline="0" dirty="0" smtClean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_PE ESS / JG ASC </a:t>
            </a:r>
            <a:r>
              <a:rPr lang="ko-KR" altLang="en-US" sz="2400" b="1" baseline="0" dirty="0" smtClean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사양 비교</a:t>
            </a:r>
            <a:endParaRPr lang="en-US" altLang="ko-KR" sz="2400" b="1" dirty="0" smtClean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ts00\Desktop\ESS_ASC%20CAN%20&#48708;&#44368;.xlsx" TargetMode="Externa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9576" y="1844824"/>
            <a:ext cx="69127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2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ESS(US4_PE)</a:t>
            </a:r>
            <a:r>
              <a:rPr lang="ko-KR" altLang="en-US" sz="2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와 </a:t>
            </a:r>
            <a:r>
              <a:rPr lang="en-US" altLang="ko-KR" sz="25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ASC(JG)</a:t>
            </a:r>
            <a:r>
              <a:rPr lang="en-US" altLang="ko-KR" sz="2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2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사양 비교</a:t>
            </a:r>
            <a:endParaRPr lang="en-US" altLang="ko-KR" sz="2500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lang="en-US" altLang="ko-KR" sz="2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 1) CAN </a:t>
            </a:r>
            <a:r>
              <a:rPr lang="ko-KR" altLang="en-US" sz="2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도메인 및 </a:t>
            </a:r>
            <a:r>
              <a:rPr lang="en-US" altLang="ko-KR" sz="2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DB</a:t>
            </a:r>
          </a:p>
          <a:p>
            <a:r>
              <a:rPr lang="en-US" altLang="ko-KR" sz="2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 2) </a:t>
            </a:r>
            <a:r>
              <a:rPr lang="ko-KR" altLang="en-US" sz="2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제어로직</a:t>
            </a:r>
            <a:r>
              <a:rPr lang="en-US" altLang="ko-KR" sz="2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lang="ko-KR" altLang="en-US" sz="2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차종간의</a:t>
            </a:r>
            <a:r>
              <a:rPr lang="ko-KR" altLang="en-US" sz="2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2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작동조건</a:t>
            </a:r>
            <a:r>
              <a:rPr lang="en-US" altLang="ko-KR" sz="2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2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기능차이</a:t>
            </a:r>
            <a:r>
              <a:rPr lang="en-US" altLang="ko-KR" sz="2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  <a:p>
            <a:r>
              <a:rPr lang="en-US" altLang="ko-KR" sz="2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 3) MCU </a:t>
            </a:r>
            <a:r>
              <a:rPr lang="ko-KR" altLang="en-US" sz="2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사양</a:t>
            </a:r>
            <a:endParaRPr lang="en-US" altLang="ko-KR" sz="2000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lang="en-US" altLang="ko-KR"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2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4) SWP/OTA </a:t>
            </a:r>
            <a:r>
              <a:rPr lang="ko-KR" altLang="en-US" sz="2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적용 여부</a:t>
            </a:r>
            <a:endParaRPr lang="en-US" altLang="ko-KR" sz="2000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endParaRPr lang="en-US" altLang="ko-KR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lang="en-US" altLang="ko-KR" sz="2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2. JG ASC </a:t>
            </a:r>
            <a:r>
              <a:rPr lang="ko-KR" altLang="en-US" sz="2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 일정 및 </a:t>
            </a:r>
            <a:r>
              <a:rPr lang="ko-KR" altLang="en-US" sz="25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운영안</a:t>
            </a:r>
            <a:endParaRPr lang="en-US" altLang="ko-KR" sz="2500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480376" y="5373216"/>
            <a:ext cx="244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‘25.07.09</a:t>
            </a:r>
          </a:p>
          <a:p>
            <a:r>
              <a:rPr lang="ko-KR" altLang="en-US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대동모빌리티연구소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제어팀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석정수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연구원</a:t>
            </a: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139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3392" y="4365104"/>
            <a:ext cx="741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CAN DB : ESS_ASC CAN DB.xlsx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파일 첨부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148962"/>
              </p:ext>
            </p:extLst>
          </p:nvPr>
        </p:nvGraphicFramePr>
        <p:xfrm>
          <a:off x="5447928" y="4383340"/>
          <a:ext cx="914400" cy="827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워크시트" showAsIcon="1" r:id="rId3" imgW="914400" imgH="792360" progId="Excel.Sheet.12">
                  <p:link updateAutomatic="1"/>
                </p:oleObj>
              </mc:Choice>
              <mc:Fallback>
                <p:oleObj name="워크시트" showAsIcon="1" r:id="rId3" imgW="914400" imgH="79236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47928" y="4383340"/>
                        <a:ext cx="914400" cy="8273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72858" y="998955"/>
            <a:ext cx="665924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1-1) </a:t>
            </a:r>
            <a:r>
              <a:rPr lang="en-US" altLang="ko-KR" sz="28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CAN </a:t>
            </a:r>
            <a:r>
              <a:rPr lang="ko-KR" altLang="en-US" sz="28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도메인 및 </a:t>
            </a:r>
            <a:r>
              <a:rPr lang="en-US" altLang="ko-KR" sz="28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DB</a:t>
            </a:r>
            <a:endParaRPr lang="ko-KR" altLang="en-US" sz="28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endParaRPr lang="ko-KR" altLang="en-US" sz="2500" b="1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441223"/>
              </p:ext>
            </p:extLst>
          </p:nvPr>
        </p:nvGraphicFramePr>
        <p:xfrm>
          <a:off x="1991544" y="2564904"/>
          <a:ext cx="7660389" cy="9700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54440">
                  <a:extLst>
                    <a:ext uri="{9D8B030D-6E8A-4147-A177-3AD203B41FA5}">
                      <a16:colId xmlns:a16="http://schemas.microsoft.com/office/drawing/2014/main" val="3273486223"/>
                    </a:ext>
                  </a:extLst>
                </a:gridCol>
                <a:gridCol w="1835468">
                  <a:extLst>
                    <a:ext uri="{9D8B030D-6E8A-4147-A177-3AD203B41FA5}">
                      <a16:colId xmlns:a16="http://schemas.microsoft.com/office/drawing/2014/main" val="1058677807"/>
                    </a:ext>
                  </a:extLst>
                </a:gridCol>
                <a:gridCol w="2070481">
                  <a:extLst>
                    <a:ext uri="{9D8B030D-6E8A-4147-A177-3AD203B41FA5}">
                      <a16:colId xmlns:a16="http://schemas.microsoft.com/office/drawing/2014/main" val="1637509021"/>
                    </a:ext>
                  </a:extLst>
                </a:gridCol>
              </a:tblGrid>
              <a:tr h="28605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구분</a:t>
                      </a:r>
                      <a:endParaRPr lang="ko-KR" altLang="en-US" sz="15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차종</a:t>
                      </a:r>
                      <a:endParaRPr lang="ko-KR" altLang="en-US" sz="15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195988"/>
                  </a:ext>
                </a:extLst>
              </a:tr>
              <a:tr h="3300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ESS_PE</a:t>
                      </a:r>
                      <a:r>
                        <a:rPr lang="en-US" altLang="ko-KR" sz="1500" b="1" baseline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ESS</a:t>
                      </a:r>
                      <a:endParaRPr lang="ko-KR" altLang="en-US" sz="15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JG ASC</a:t>
                      </a:r>
                      <a:endParaRPr lang="ko-KR" altLang="en-US" sz="15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476164"/>
                  </a:ext>
                </a:extLst>
              </a:tr>
              <a:tr h="2629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CAN</a:t>
                      </a:r>
                      <a:r>
                        <a:rPr lang="en-US" altLang="ko-KR" sz="1500" baseline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Domain</a:t>
                      </a:r>
                      <a:endParaRPr lang="ko-KR" altLang="en-US" sz="15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Body</a:t>
                      </a:r>
                      <a:r>
                        <a:rPr lang="en-US" altLang="ko-KR" sz="1500" b="0" baseline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CAN</a:t>
                      </a:r>
                      <a:endParaRPr lang="ko-KR" altLang="en-US" sz="15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Body CAN</a:t>
                      </a:r>
                      <a:endParaRPr lang="ko-KR" altLang="en-US" sz="15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538467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23392" y="1982674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CAN Domain :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77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72858" y="998955"/>
            <a:ext cx="665924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1-2) </a:t>
            </a:r>
            <a:r>
              <a:rPr lang="en-US" altLang="ko-KR" sz="2500" b="1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US4_PE ESS / JG ASC </a:t>
            </a:r>
            <a:r>
              <a:rPr lang="ko-KR" altLang="en-US" sz="2500" b="1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제어 </a:t>
            </a:r>
            <a:r>
              <a:rPr lang="ko-KR" altLang="en-US" sz="2500" b="1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로직</a:t>
            </a:r>
            <a:r>
              <a:rPr lang="ko-KR" altLang="en-US" sz="2500" b="1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비교</a:t>
            </a:r>
            <a:endParaRPr lang="ko-KR" altLang="en-US" sz="2500" b="1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151671"/>
              </p:ext>
            </p:extLst>
          </p:nvPr>
        </p:nvGraphicFramePr>
        <p:xfrm>
          <a:off x="695400" y="1786620"/>
          <a:ext cx="5117541" cy="9361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8163">
                  <a:extLst>
                    <a:ext uri="{9D8B030D-6E8A-4147-A177-3AD203B41FA5}">
                      <a16:colId xmlns:a16="http://schemas.microsoft.com/office/drawing/2014/main" val="3273486223"/>
                    </a:ext>
                  </a:extLst>
                </a:gridCol>
                <a:gridCol w="2609378">
                  <a:extLst>
                    <a:ext uri="{9D8B030D-6E8A-4147-A177-3AD203B41FA5}">
                      <a16:colId xmlns:a16="http://schemas.microsoft.com/office/drawing/2014/main" val="1058677807"/>
                    </a:ext>
                  </a:extLst>
                </a:gridCol>
              </a:tblGrid>
              <a:tr h="31203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구분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제어로직</a:t>
                      </a:r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(STEP)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195988"/>
                  </a:ext>
                </a:extLst>
              </a:tr>
              <a:tr h="3120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DOOR</a:t>
                      </a:r>
                      <a:r>
                        <a:rPr lang="en-US" altLang="ko-KR" sz="1200" b="1" baseline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SIG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476164"/>
                  </a:ext>
                </a:extLst>
              </a:tr>
              <a:tr h="312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US4</a:t>
                      </a:r>
                      <a:r>
                        <a:rPr lang="en-US" altLang="ko-KR" sz="1200" baseline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_PE ESS</a:t>
                      </a:r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(</a:t>
                      </a:r>
                      <a:r>
                        <a:rPr lang="ko-KR" altLang="en-US" sz="1200" dirty="0" err="1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자동모드</a:t>
                      </a:r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OPEN/CLOSE</a:t>
                      </a:r>
                      <a:endParaRPr lang="ko-KR" altLang="en-US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538467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99879" y="3645024"/>
            <a:ext cx="34471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STEP OPEN :</a:t>
            </a:r>
            <a:r>
              <a:rPr lang="ko-KR" altLang="en-US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endParaRPr lang="en-US" altLang="ko-KR" sz="1200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Step_SW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ON &amp; </a:t>
            </a:r>
            <a:r>
              <a:rPr lang="en-US" altLang="ko-KR" sz="1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VehSpd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=0 &amp; GEAR=P &amp; Door 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STEP CLOSE 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Step_SW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ON &amp; </a:t>
            </a:r>
            <a:r>
              <a:rPr lang="en-US" altLang="ko-KR" sz="1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VehSpd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=0 &amp; Door Close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Step_SW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OFF &amp; </a:t>
            </a:r>
            <a:r>
              <a:rPr lang="en-US" altLang="ko-KR" sz="1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VehSpd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=0 &amp; Door Close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Step_SW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OFF &amp; </a:t>
            </a:r>
            <a:r>
              <a:rPr lang="en-US" altLang="ko-KR" sz="1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VehSpd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&gt;4 &amp; Door Open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Step_SW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ON &amp; </a:t>
            </a:r>
            <a:r>
              <a:rPr lang="en-US" altLang="ko-KR" sz="1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VehSpd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&gt;4 &amp; Door Open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Step_SW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OFF &amp; </a:t>
            </a:r>
            <a:r>
              <a:rPr lang="en-US" altLang="ko-KR" sz="1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VehSpd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&gt;4 &amp; Door Close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Step_SW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ON &amp; </a:t>
            </a:r>
            <a:r>
              <a:rPr lang="en-US" altLang="ko-KR" sz="1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VehSpd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&gt;4 &amp; Door Close  </a:t>
            </a:r>
            <a:endParaRPr lang="en-US" altLang="ko-KR" sz="10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7548" y="3234468"/>
            <a:ext cx="222051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* 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동작 </a:t>
            </a:r>
            <a:r>
              <a:rPr lang="ko-KR" altLang="en-US" sz="15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로직</a:t>
            </a:r>
            <a:r>
              <a:rPr lang="en-US" altLang="ko-KR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(Rr)</a:t>
            </a:r>
            <a:endParaRPr lang="ko-KR" altLang="en-US" sz="15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9879" y="5589691"/>
            <a:ext cx="4552797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* 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기능</a:t>
            </a:r>
            <a:endParaRPr lang="en-US" altLang="ko-KR" sz="1200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Hard-wiring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</a:t>
            </a:r>
            <a:r>
              <a:rPr lang="ko-KR" altLang="en-US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Sleep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모드 </a:t>
            </a:r>
            <a:r>
              <a:rPr lang="ko-KR" altLang="en-US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진입</a:t>
            </a:r>
            <a:endParaRPr lang="en-US" altLang="ko-KR" sz="1200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CAN-FD </a:t>
            </a: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SIG(RH)</a:t>
            </a:r>
            <a:r>
              <a:rPr lang="ko-KR" altLang="en-US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Open/Close </a:t>
            </a:r>
            <a:r>
              <a:rPr lang="ko-KR" altLang="en-US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동작 제어</a:t>
            </a:r>
            <a:endParaRPr lang="en-US" altLang="ko-KR" sz="1200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2-wire </a:t>
            </a: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Motor (VCC, </a:t>
            </a:r>
            <a:r>
              <a:rPr lang="en-US" altLang="ko-KR" sz="12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HallOutput</a:t>
            </a: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&amp; GND)</a:t>
            </a:r>
            <a:endParaRPr lang="en-US" altLang="ko-KR" sz="1200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216320"/>
              </p:ext>
            </p:extLst>
          </p:nvPr>
        </p:nvGraphicFramePr>
        <p:xfrm>
          <a:off x="6456040" y="1772816"/>
          <a:ext cx="5472607" cy="1320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2184">
                  <a:extLst>
                    <a:ext uri="{9D8B030D-6E8A-4147-A177-3AD203B41FA5}">
                      <a16:colId xmlns:a16="http://schemas.microsoft.com/office/drawing/2014/main" val="3273486223"/>
                    </a:ext>
                  </a:extLst>
                </a:gridCol>
                <a:gridCol w="1311264">
                  <a:extLst>
                    <a:ext uri="{9D8B030D-6E8A-4147-A177-3AD203B41FA5}">
                      <a16:colId xmlns:a16="http://schemas.microsoft.com/office/drawing/2014/main" val="1058677807"/>
                    </a:ext>
                  </a:extLst>
                </a:gridCol>
                <a:gridCol w="1479159">
                  <a:extLst>
                    <a:ext uri="{9D8B030D-6E8A-4147-A177-3AD203B41FA5}">
                      <a16:colId xmlns:a16="http://schemas.microsoft.com/office/drawing/2014/main" val="1637509021"/>
                    </a:ext>
                  </a:extLst>
                </a:gridCol>
              </a:tblGrid>
              <a:tr h="33001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구분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제어로직</a:t>
                      </a:r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(STEP)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195988"/>
                  </a:ext>
                </a:extLst>
              </a:tr>
              <a:tr h="3300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AVN SIG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DOOR</a:t>
                      </a:r>
                      <a:r>
                        <a:rPr lang="en-US" altLang="ko-KR" sz="1200" b="1" baseline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SIG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476164"/>
                  </a:ext>
                </a:extLst>
              </a:tr>
              <a:tr h="3300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JG ASC (</a:t>
                      </a:r>
                      <a:r>
                        <a:rPr lang="ko-KR" altLang="en-US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수동모드</a:t>
                      </a:r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OPEN/CLOSE</a:t>
                      </a:r>
                      <a:endParaRPr lang="ko-KR" altLang="en-US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538467"/>
                  </a:ext>
                </a:extLst>
              </a:tr>
              <a:tr h="3300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JG ASC (</a:t>
                      </a:r>
                      <a:r>
                        <a:rPr lang="ko-KR" altLang="en-US" sz="1200" dirty="0" err="1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자동모드</a:t>
                      </a:r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1200" dirty="0" smtClean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baseline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OPEN/CLOSE</a:t>
                      </a:r>
                      <a:endParaRPr lang="ko-KR" altLang="en-US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960561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384032" y="3212976"/>
                <a:ext cx="3240360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* </a:t>
                </a:r>
                <a:r>
                  <a:rPr lang="ko-KR" altLang="en-US" sz="1500" dirty="0" err="1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자동모드</a:t>
                </a:r>
                <a:r>
                  <a:rPr lang="ko-KR" altLang="en-US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  <a:r>
                  <a:rPr lang="ko-KR" altLang="en-US" sz="1500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동작 </a:t>
                </a:r>
                <a:r>
                  <a:rPr lang="ko-KR" altLang="en-US" sz="1500" dirty="0" err="1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로직</a:t>
                </a:r>
                <a:r>
                  <a:rPr lang="en-US" altLang="ko-KR" sz="15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(Rr/Lf)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200" dirty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en-US" altLang="ko-KR" sz="10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Rr/Lf  </a:t>
                </a:r>
                <a:r>
                  <a:rPr lang="en-US" altLang="ko-KR" sz="1000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STEP OPEN/CLOSE </a:t>
                </a:r>
                <a:r>
                  <a:rPr lang="ko-KR" altLang="en-US" sz="10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독립 제어</a:t>
                </a:r>
                <a:endParaRPr lang="en-US" altLang="ko-KR" sz="1000" dirty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ko-KR" altLang="en-US" sz="10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동작 </a:t>
                </a:r>
                <a:r>
                  <a:rPr lang="ko-KR" altLang="en-US" sz="1000" dirty="0" err="1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로직은</a:t>
                </a:r>
                <a:r>
                  <a:rPr lang="ko-KR" altLang="en-US" sz="10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  <a:r>
                  <a:rPr lang="en-US" altLang="ko-KR" sz="10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US4_ESS</a:t>
                </a:r>
                <a:r>
                  <a:rPr lang="ko-KR" altLang="en-US" sz="10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와 대체적으로 유사함</a:t>
                </a:r>
                <a:r>
                  <a:rPr lang="en-US" altLang="ko-KR" sz="10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.</a:t>
                </a:r>
                <a:endParaRPr lang="en-US" altLang="ko-KR" sz="1000" dirty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ko-KR" altLang="en-US" sz="1200" dirty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200" dirty="0" smtClean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2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STEP OPEN :</a:t>
                </a:r>
                <a:r>
                  <a:rPr lang="ko-KR" altLang="en-US" sz="12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  <a:endParaRPr lang="en-US" altLang="ko-KR" sz="1200" dirty="0" smtClean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ko-KR" sz="10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Auto Mode ON &amp; </a:t>
                </a:r>
                <a:r>
                  <a:rPr lang="en-US" altLang="ko-KR" sz="1000" dirty="0" err="1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VehSpd</a:t>
                </a:r>
                <a:r>
                  <a:rPr lang="en-US" altLang="ko-KR" sz="10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10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5 &amp; Door Open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200" dirty="0" smtClean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2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STEP CLOSE :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altLang="ko-KR" sz="10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Auto </a:t>
                </a:r>
                <a:r>
                  <a:rPr lang="en-US" altLang="ko-KR" sz="1000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Mode ON &amp; </a:t>
                </a:r>
                <a:r>
                  <a:rPr lang="en-US" altLang="ko-KR" sz="1000" dirty="0" err="1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VehSpd</a:t>
                </a:r>
                <a:r>
                  <a:rPr lang="en-US" altLang="ko-KR" sz="1000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1000" dirty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5 &amp; Door </a:t>
                </a:r>
                <a:r>
                  <a:rPr lang="en-US" altLang="ko-KR" sz="1000" dirty="0" smtClean="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Close</a:t>
                </a:r>
              </a:p>
              <a:p>
                <a:endParaRPr lang="en-US" altLang="ko-KR" sz="1200" dirty="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32" y="3212976"/>
                <a:ext cx="3240360" cy="2215991"/>
              </a:xfrm>
              <a:prstGeom prst="rect">
                <a:avLst/>
              </a:prstGeom>
              <a:blipFill>
                <a:blip r:embed="rId2"/>
                <a:stretch>
                  <a:fillRect t="-5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9552384" y="3212976"/>
            <a:ext cx="252028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* 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수동모드 동작 </a:t>
            </a:r>
            <a:r>
              <a:rPr lang="ko-KR" altLang="en-US" sz="15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로직</a:t>
            </a:r>
            <a:r>
              <a:rPr lang="en-US" altLang="ko-KR" sz="15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(Rr/Lf</a:t>
            </a:r>
            <a:r>
              <a:rPr lang="en-US" altLang="ko-KR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AVN </a:t>
            </a:r>
            <a:r>
              <a:rPr lang="ko-KR" altLang="en-US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인터페이스 설정</a:t>
            </a:r>
            <a:endParaRPr lang="ko-KR" altLang="en-US" sz="10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84032" y="5658940"/>
            <a:ext cx="499054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* </a:t>
            </a:r>
            <a:r>
              <a:rPr lang="ko-KR" altLang="en-US" sz="15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기능</a:t>
            </a:r>
            <a:endParaRPr lang="en-US" altLang="ko-KR" sz="1500" b="1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CAN</a:t>
            </a:r>
            <a:r>
              <a:rPr lang="ko-KR" altLang="en-US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통신 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</a:t>
            </a:r>
            <a:r>
              <a:rPr lang="ko-KR" altLang="en-US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Sleep </a:t>
            </a:r>
            <a:r>
              <a:rPr lang="ko-KR" altLang="en-US" sz="1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모드 </a:t>
            </a:r>
            <a:r>
              <a:rPr lang="ko-KR" altLang="en-US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진입</a:t>
            </a:r>
            <a:endParaRPr lang="en-US" altLang="ko-KR" sz="1000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CAN-FD(RH), 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LIN 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SIG(LH)</a:t>
            </a:r>
            <a:r>
              <a:rPr lang="ko-KR" altLang="en-US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Open/Close </a:t>
            </a:r>
            <a:r>
              <a:rPr lang="ko-KR" altLang="en-US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동작 제어</a:t>
            </a:r>
            <a:endParaRPr lang="en-US" altLang="ko-KR" sz="1000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3-wire 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Motor (VCC / </a:t>
            </a:r>
            <a:r>
              <a:rPr lang="en-US" altLang="ko-KR" sz="10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HallOutput</a:t>
            </a:r>
            <a:r>
              <a:rPr lang="en-US" altLang="ko-KR" sz="10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/ GND)</a:t>
            </a:r>
            <a:endParaRPr lang="en-US" altLang="ko-KR" sz="1000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51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004006"/>
              </p:ext>
            </p:extLst>
          </p:nvPr>
        </p:nvGraphicFramePr>
        <p:xfrm>
          <a:off x="4511824" y="980728"/>
          <a:ext cx="6120679" cy="52663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8502">
                  <a:extLst>
                    <a:ext uri="{9D8B030D-6E8A-4147-A177-3AD203B41FA5}">
                      <a16:colId xmlns:a16="http://schemas.microsoft.com/office/drawing/2014/main" val="3273486223"/>
                    </a:ext>
                  </a:extLst>
                </a:gridCol>
                <a:gridCol w="1481309">
                  <a:extLst>
                    <a:ext uri="{9D8B030D-6E8A-4147-A177-3AD203B41FA5}">
                      <a16:colId xmlns:a16="http://schemas.microsoft.com/office/drawing/2014/main" val="2371076855"/>
                    </a:ext>
                  </a:extLst>
                </a:gridCol>
                <a:gridCol w="1466547">
                  <a:extLst>
                    <a:ext uri="{9D8B030D-6E8A-4147-A177-3AD203B41FA5}">
                      <a16:colId xmlns:a16="http://schemas.microsoft.com/office/drawing/2014/main" val="1058677807"/>
                    </a:ext>
                  </a:extLst>
                </a:gridCol>
                <a:gridCol w="1654321">
                  <a:extLst>
                    <a:ext uri="{9D8B030D-6E8A-4147-A177-3AD203B41FA5}">
                      <a16:colId xmlns:a16="http://schemas.microsoft.com/office/drawing/2014/main" val="1637509021"/>
                    </a:ext>
                  </a:extLst>
                </a:gridCol>
              </a:tblGrid>
              <a:tr h="263138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구분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MCU </a:t>
                      </a:r>
                      <a:r>
                        <a:rPr lang="ko-KR" altLang="en-US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요구사항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195988"/>
                  </a:ext>
                </a:extLst>
              </a:tr>
              <a:tr h="252023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JG</a:t>
                      </a:r>
                      <a:r>
                        <a:rPr lang="en-US" altLang="ko-KR" sz="1200" b="1" baseline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ASC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US4</a:t>
                      </a:r>
                      <a:r>
                        <a:rPr lang="en-US" altLang="ko-KR" sz="1200" b="1" baseline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_PE ESS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476164"/>
                  </a:ext>
                </a:extLst>
              </a:tr>
              <a:tr h="4200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Model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R7F7016954AFPC</a:t>
                      </a:r>
                      <a:endParaRPr lang="ko-KR" altLang="en-US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FS32K116LAT0MLFT</a:t>
                      </a:r>
                      <a:endParaRPr lang="ko-KR" altLang="en-US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538467"/>
                  </a:ext>
                </a:extLst>
              </a:tr>
              <a:tr h="252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Manufacturer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RENESAS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NXP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5831314"/>
                  </a:ext>
                </a:extLst>
              </a:tr>
              <a:tr h="252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err="1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AutoSAR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ko-KR" altLang="en-US" sz="1200" b="1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적용여부</a:t>
                      </a:r>
                      <a:r>
                        <a:rPr lang="en-US" altLang="ko-KR" sz="1200" b="1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O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X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232708"/>
                  </a:ext>
                </a:extLst>
              </a:tr>
              <a:tr h="252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ADC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12bit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12bit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442602"/>
                  </a:ext>
                </a:extLst>
              </a:tr>
              <a:tr h="252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CPU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Core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G3KH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ARM Cortex</a:t>
                      </a:r>
                      <a:r>
                        <a:rPr lang="en-US" altLang="ko-KR" sz="1200" baseline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M0+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6291557"/>
                  </a:ext>
                </a:extLst>
              </a:tr>
              <a:tr h="4200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Memory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Program</a:t>
                      </a:r>
                      <a:r>
                        <a:rPr lang="en-US" altLang="ko-KR" sz="1200" b="1" baseline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Memory size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512kB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128kB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733091"/>
                  </a:ext>
                </a:extLst>
              </a:tr>
              <a:tr h="252023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통신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HSCAN</a:t>
                      </a:r>
                      <a:r>
                        <a:rPr lang="en-US" altLang="ko-KR" sz="1200" b="1" baseline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[</a:t>
                      </a:r>
                      <a:r>
                        <a:rPr lang="en-US" altLang="ko-KR" sz="1200" b="1" baseline="0" dirty="0" err="1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ch</a:t>
                      </a:r>
                      <a:r>
                        <a:rPr lang="en-US" altLang="ko-KR" sz="1200" b="1" baseline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]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169825"/>
                  </a:ext>
                </a:extLst>
              </a:tr>
              <a:tr h="25202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CANFD</a:t>
                      </a:r>
                      <a:r>
                        <a:rPr lang="en-US" altLang="ko-KR" sz="1200" b="1" baseline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[</a:t>
                      </a:r>
                      <a:r>
                        <a:rPr lang="en-US" altLang="ko-KR" sz="1200" b="1" baseline="0" dirty="0" err="1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ch</a:t>
                      </a:r>
                      <a:r>
                        <a:rPr lang="en-US" altLang="ko-KR" sz="1200" b="1" baseline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]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480903"/>
                  </a:ext>
                </a:extLst>
              </a:tr>
              <a:tr h="25202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Ethernet</a:t>
                      </a:r>
                      <a:r>
                        <a:rPr lang="en-US" altLang="ko-KR" sz="1200" b="1" baseline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[</a:t>
                      </a:r>
                      <a:r>
                        <a:rPr lang="en-US" altLang="ko-KR" sz="1200" b="1" baseline="0" dirty="0" err="1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ch</a:t>
                      </a:r>
                      <a:r>
                        <a:rPr lang="en-US" altLang="ko-KR" sz="1200" b="1" baseline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]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941848"/>
                  </a:ext>
                </a:extLst>
              </a:tr>
              <a:tr h="25202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LIN [</a:t>
                      </a:r>
                      <a:r>
                        <a:rPr lang="en-US" altLang="ko-KR" sz="1200" b="1" dirty="0" err="1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ch</a:t>
                      </a:r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]</a:t>
                      </a:r>
                      <a:endParaRPr lang="ko-KR" altLang="en-US" sz="1200" b="1" dirty="0" smtClean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336818"/>
                  </a:ext>
                </a:extLst>
              </a:tr>
              <a:tr h="25202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SPI [</a:t>
                      </a:r>
                      <a:r>
                        <a:rPr lang="en-US" altLang="ko-KR" sz="1200" b="1" dirty="0" err="1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ch</a:t>
                      </a:r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]</a:t>
                      </a:r>
                      <a:endParaRPr lang="ko-KR" altLang="en-US" sz="1200" b="1" dirty="0" smtClean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913229"/>
                  </a:ext>
                </a:extLst>
              </a:tr>
              <a:tr h="25202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I2C [</a:t>
                      </a:r>
                      <a:r>
                        <a:rPr lang="en-US" altLang="ko-KR" sz="1200" b="1" dirty="0" err="1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ch</a:t>
                      </a:r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]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6185710"/>
                  </a:ext>
                </a:extLst>
              </a:tr>
              <a:tr h="2520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동작 전압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 ~ 5.5V 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2.7 ~ 5.5V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0077552"/>
                  </a:ext>
                </a:extLst>
              </a:tr>
              <a:tr h="2520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동작 온도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-40 ~ 105</a:t>
                      </a:r>
                      <a:r>
                        <a:rPr lang="ko-KR" altLang="en-US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˚</a:t>
                      </a:r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-40 ~ 125</a:t>
                      </a:r>
                      <a:r>
                        <a:rPr lang="ko-KR" altLang="en-US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˚</a:t>
                      </a:r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</a:t>
                      </a:r>
                      <a:endParaRPr lang="ko-KR" altLang="en-US" sz="1200" dirty="0" smtClean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1613729"/>
                  </a:ext>
                </a:extLst>
              </a:tr>
              <a:tr h="252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PKG(pin)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LQFP-48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LQFP-48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518167"/>
                  </a:ext>
                </a:extLst>
              </a:tr>
              <a:tr h="252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SWP/OTA</a:t>
                      </a:r>
                      <a:endParaRPr lang="ko-KR" altLang="en-US" sz="12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X</a:t>
                      </a:r>
                      <a:endParaRPr lang="ko-KR" altLang="en-US" sz="12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X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35781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07368" y="980728"/>
            <a:ext cx="604867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1-3) MCU </a:t>
            </a:r>
            <a:r>
              <a:rPr lang="ko-KR" altLang="en-US" sz="2500" b="1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사양</a:t>
            </a:r>
            <a:endParaRPr lang="en-US" altLang="ko-KR" sz="2500" b="1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lang="en-US" altLang="ko-KR" sz="2500" b="1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1-4)</a:t>
            </a:r>
            <a:r>
              <a:rPr lang="ko-KR" altLang="en-US" sz="2500" b="1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2500" b="1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SWP/OTA </a:t>
            </a:r>
            <a:r>
              <a:rPr lang="ko-KR" altLang="en-US" sz="2500" b="1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적용 여부</a:t>
            </a:r>
            <a:endParaRPr lang="ko-KR" altLang="en-US" sz="2500" b="1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0665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7368" y="978193"/>
            <a:ext cx="55268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 smtClean="0"/>
              <a:t>2. US4_PE ESS </a:t>
            </a:r>
            <a:r>
              <a:rPr lang="ko-KR" altLang="en-US" sz="2500" b="1" dirty="0" smtClean="0"/>
              <a:t>개발 일정</a:t>
            </a:r>
            <a:endParaRPr lang="ko-KR" altLang="en-US" sz="25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1484784"/>
            <a:ext cx="10273308" cy="495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19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1916832"/>
            <a:ext cx="8248650" cy="3552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9376" y="1031974"/>
            <a:ext cx="55268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 smtClean="0"/>
              <a:t>2. JG ASC </a:t>
            </a:r>
            <a:r>
              <a:rPr lang="ko-KR" altLang="en-US" sz="2500" b="1" dirty="0" smtClean="0"/>
              <a:t>개발 일정 </a:t>
            </a:r>
            <a:endParaRPr lang="ko-KR" altLang="en-US" sz="25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0011333" y="2280726"/>
            <a:ext cx="20434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P1 : 25’ 9.15</a:t>
            </a:r>
          </a:p>
          <a:p>
            <a:r>
              <a:rPr lang="en-US" altLang="ko-KR" b="1" dirty="0" smtClean="0"/>
              <a:t>P2 : 25’12.15 </a:t>
            </a:r>
          </a:p>
          <a:p>
            <a:r>
              <a:rPr lang="en-US" altLang="ko-KR" b="1" dirty="0" smtClean="0"/>
              <a:t>SOP : 26’ 1.31</a:t>
            </a:r>
            <a:endParaRPr lang="ko-KR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037707" y="5469657"/>
            <a:ext cx="4646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JG ASC : JG </a:t>
            </a:r>
            <a:r>
              <a:rPr lang="ko-KR" altLang="en-US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전차종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옵션 사양</a:t>
            </a: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Side Step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장착 시 차량 에어 서스펜션 적용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508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38904</TotalTime>
  <Words>432</Words>
  <Application>Microsoft Office PowerPoint</Application>
  <PresentationFormat>와이드스크린</PresentationFormat>
  <Paragraphs>125</Paragraphs>
  <Slides>6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연결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현대하모니 B</vt:lpstr>
      <vt:lpstr>현대하모니 M</vt:lpstr>
      <vt:lpstr>Arial</vt:lpstr>
      <vt:lpstr>Cambria Math</vt:lpstr>
      <vt:lpstr>Wingdings</vt:lpstr>
      <vt:lpstr>기본 디자인</vt:lpstr>
      <vt:lpstr>file:///C:\Users\cts00\Desktop\ESS_ASC%20CAN%20비교.xlsx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(주)대동시스템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cts00</dc:creator>
  <cp:lastModifiedBy>cts00</cp:lastModifiedBy>
  <cp:revision>1575</cp:revision>
  <cp:lastPrinted>2024-01-09T06:59:44Z</cp:lastPrinted>
  <dcterms:created xsi:type="dcterms:W3CDTF">2004-12-29T09:37:05Z</dcterms:created>
  <dcterms:modified xsi:type="dcterms:W3CDTF">2025-07-09T00:47:05Z</dcterms:modified>
</cp:coreProperties>
</file>