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818" r:id="rId1"/>
  </p:sldMasterIdLst>
  <p:notesMasterIdLst>
    <p:notesMasterId r:id="rId84"/>
  </p:notesMasterIdLst>
  <p:handoutMasterIdLst>
    <p:handoutMasterId r:id="rId85"/>
  </p:handoutMasterIdLst>
  <p:sldIdLst>
    <p:sldId id="350" r:id="rId2"/>
    <p:sldId id="351" r:id="rId3"/>
    <p:sldId id="362" r:id="rId4"/>
    <p:sldId id="360" r:id="rId5"/>
    <p:sldId id="345" r:id="rId6"/>
    <p:sldId id="346" r:id="rId7"/>
    <p:sldId id="299" r:id="rId8"/>
    <p:sldId id="290" r:id="rId9"/>
    <p:sldId id="300" r:id="rId10"/>
    <p:sldId id="357" r:id="rId11"/>
    <p:sldId id="307" r:id="rId12"/>
    <p:sldId id="308" r:id="rId13"/>
    <p:sldId id="285" r:id="rId14"/>
    <p:sldId id="306" r:id="rId15"/>
    <p:sldId id="313" r:id="rId16"/>
    <p:sldId id="320" r:id="rId17"/>
    <p:sldId id="314" r:id="rId18"/>
    <p:sldId id="312" r:id="rId19"/>
    <p:sldId id="309" r:id="rId20"/>
    <p:sldId id="305" r:id="rId21"/>
    <p:sldId id="315" r:id="rId22"/>
    <p:sldId id="321" r:id="rId23"/>
    <p:sldId id="316" r:id="rId24"/>
    <p:sldId id="355" r:id="rId25"/>
    <p:sldId id="319" r:id="rId26"/>
    <p:sldId id="284" r:id="rId27"/>
    <p:sldId id="287" r:id="rId28"/>
    <p:sldId id="347" r:id="rId29"/>
    <p:sldId id="289" r:id="rId30"/>
    <p:sldId id="292" r:id="rId31"/>
    <p:sldId id="293" r:id="rId32"/>
    <p:sldId id="310" r:id="rId33"/>
    <p:sldId id="291" r:id="rId34"/>
    <p:sldId id="294" r:id="rId35"/>
    <p:sldId id="296" r:id="rId36"/>
    <p:sldId id="303" r:id="rId37"/>
    <p:sldId id="295" r:id="rId38"/>
    <p:sldId id="297" r:id="rId39"/>
    <p:sldId id="336" r:id="rId40"/>
    <p:sldId id="298" r:id="rId41"/>
    <p:sldId id="358" r:id="rId42"/>
    <p:sldId id="322" r:id="rId43"/>
    <p:sldId id="325" r:id="rId44"/>
    <p:sldId id="324" r:id="rId45"/>
    <p:sldId id="326" r:id="rId46"/>
    <p:sldId id="323" r:id="rId47"/>
    <p:sldId id="327" r:id="rId48"/>
    <p:sldId id="328" r:id="rId49"/>
    <p:sldId id="338" r:id="rId50"/>
    <p:sldId id="329" r:id="rId51"/>
    <p:sldId id="330" r:id="rId52"/>
    <p:sldId id="331" r:id="rId53"/>
    <p:sldId id="339" r:id="rId54"/>
    <p:sldId id="341" r:id="rId55"/>
    <p:sldId id="342" r:id="rId56"/>
    <p:sldId id="343" r:id="rId57"/>
    <p:sldId id="366" r:id="rId58"/>
    <p:sldId id="364" r:id="rId59"/>
    <p:sldId id="365" r:id="rId60"/>
    <p:sldId id="413" r:id="rId61"/>
    <p:sldId id="414" r:id="rId62"/>
    <p:sldId id="356" r:id="rId63"/>
    <p:sldId id="368" r:id="rId64"/>
    <p:sldId id="372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6" r:id="rId77"/>
    <p:sldId id="427" r:id="rId78"/>
    <p:sldId id="428" r:id="rId79"/>
    <p:sldId id="429" r:id="rId80"/>
    <p:sldId id="430" r:id="rId81"/>
    <p:sldId id="431" r:id="rId82"/>
    <p:sldId id="432" r:id="rId83"/>
  </p:sldIdLst>
  <p:sldSz cx="9906000" cy="6858000" type="A4"/>
  <p:notesSz cx="6797675" cy="9926638"/>
  <p:embeddedFontLst>
    <p:embeddedFont>
      <p:font typeface="현대하모니 M" panose="02020603020101020101" pitchFamily="18" charset="-127"/>
      <p:regular r:id="rId86"/>
    </p:embeddedFont>
    <p:embeddedFont>
      <p:font typeface="현대하모니 L" panose="02020603020101020101" pitchFamily="18" charset="-127"/>
      <p:regular r:id="rId87"/>
    </p:embeddedFont>
    <p:embeddedFont>
      <p:font typeface="현대하모니 B" panose="02020603020101020101" pitchFamily="18" charset="-127"/>
      <p:regular r:id="rId88"/>
    </p:embeddedFont>
    <p:embeddedFont>
      <p:font typeface="맑은 고딕" panose="020B0503020000020004" pitchFamily="50" charset="-127"/>
      <p:regular r:id="rId89"/>
      <p:bold r:id="rId90"/>
    </p:embeddedFont>
  </p:embeddedFontLst>
  <p:defaultTextStyle>
    <a:defPPr>
      <a:defRPr lang="ko-KR"/>
    </a:defPPr>
    <a:lvl1pPr algn="l" defTabSz="957263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77838" indent="-57150" algn="l" defTabSz="957263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57263" indent="-117475" algn="l" defTabSz="957263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435100" indent="-176213" algn="l" defTabSz="957263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914525" indent="-234950" algn="l" defTabSz="957263" rtl="0" fontAlgn="base" latinLnBrk="1">
      <a:spcBef>
        <a:spcPct val="0"/>
      </a:spcBef>
      <a:spcAft>
        <a:spcPct val="0"/>
      </a:spcAft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9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172">
          <p15:clr>
            <a:srgbClr val="A4A3A4"/>
          </p15:clr>
        </p15:guide>
        <p15:guide id="5" pos="3120">
          <p15:clr>
            <a:srgbClr val="A4A3A4"/>
          </p15:clr>
        </p15:guide>
        <p15:guide id="6" pos="6068">
          <p15:clr>
            <a:srgbClr val="A4A3A4"/>
          </p15:clr>
        </p15:guide>
        <p15:guide id="7" pos="1306">
          <p15:clr>
            <a:srgbClr val="A4A3A4"/>
          </p15:clr>
        </p15:guide>
        <p15:guide id="8" pos="49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EE0000"/>
    <a:srgbClr val="DE0000"/>
    <a:srgbClr val="CC0000"/>
    <a:srgbClr val="003B83"/>
    <a:srgbClr val="F5F5F5"/>
    <a:srgbClr val="DADEDD"/>
    <a:srgbClr val="B3B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550" autoAdjust="0"/>
  </p:normalViewPr>
  <p:slideViewPr>
    <p:cSldViewPr showGuides="1">
      <p:cViewPr>
        <p:scale>
          <a:sx n="125" d="100"/>
          <a:sy n="125" d="100"/>
        </p:scale>
        <p:origin x="283" y="-514"/>
      </p:cViewPr>
      <p:guideLst>
        <p:guide orient="horz" pos="255"/>
        <p:guide orient="horz" pos="4065"/>
        <p:guide orient="horz" pos="2160"/>
        <p:guide pos="172"/>
        <p:guide pos="3120"/>
        <p:guide pos="6068"/>
        <p:guide pos="1306"/>
        <p:guide pos="49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5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3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1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32A77DD-D6EA-4881-8964-0633A0ED0BD4}" type="datetimeFigureOut">
              <a:rPr lang="ko-KR" altLang="en-US"/>
              <a:pPr>
                <a:defRPr/>
              </a:pPr>
              <a:t>2025-04-16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46E8075-8946-410E-A9E8-B3341D76BC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52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l" defTabSz="957776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</p:spPr>
        <p:txBody>
          <a:bodyPr vert="horz" lIns="91422" tIns="45712" rIns="91422" bIns="45712" rtlCol="0"/>
          <a:lstStyle>
            <a:lvl1pPr algn="r" defTabSz="957776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C3A94C04-CE98-4915-9774-D132471BB613}" type="datetimeFigureOut">
              <a:rPr lang="ko-KR" altLang="en-US"/>
              <a:pPr>
                <a:defRPr/>
              </a:pPr>
              <a:t>2025-04-16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2" rIns="91422" bIns="4571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5710"/>
            <a:ext cx="5438775" cy="4466511"/>
          </a:xfrm>
          <a:prstGeom prst="rect">
            <a:avLst/>
          </a:prstGeom>
        </p:spPr>
        <p:txBody>
          <a:bodyPr vert="horz" lIns="91422" tIns="45712" rIns="91422" bIns="45712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l" defTabSz="957776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22" tIns="45712" rIns="91422" bIns="45712" rtlCol="0" anchor="b"/>
          <a:lstStyle>
            <a:lvl1pPr algn="r" defTabSz="957776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D5B3352-8347-4172-8DE9-643F794CA59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2078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19100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38200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58888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77988" algn="l" rtl="0" eaLnBrk="0" fontAlgn="base" latinLnBrk="1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99234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19081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38927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58774" algn="l" defTabSz="839694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75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50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D:\업무파일\문화개발팀\2017년\RND WAY\가치체계 개발\디자인 개발\최종결과물\source file\JPG\슬로건가로형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493" y="1940017"/>
            <a:ext cx="209701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25" y="655955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6542648"/>
            <a:ext cx="1463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1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25" y="655955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6542648"/>
            <a:ext cx="1463537" cy="252000"/>
          </a:xfrm>
          <a:prstGeom prst="rect">
            <a:avLst/>
          </a:prstGeom>
        </p:spPr>
      </p:pic>
      <p:sp>
        <p:nvSpPr>
          <p:cNvPr id="13" name="Text Box 38"/>
          <p:cNvSpPr txBox="1">
            <a:spLocks noChangeArrowheads="1"/>
          </p:cNvSpPr>
          <p:nvPr userDrawn="1"/>
        </p:nvSpPr>
        <p:spPr bwMode="auto">
          <a:xfrm>
            <a:off x="8553400" y="96147"/>
            <a:ext cx="1068216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fontAlgn="base" hangingPunct="1">
              <a:lnSpc>
                <a:spcPct val="4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62404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8"/>
          <p:cNvSpPr txBox="1">
            <a:spLocks noChangeArrowheads="1"/>
          </p:cNvSpPr>
          <p:nvPr userDrawn="1"/>
        </p:nvSpPr>
        <p:spPr bwMode="auto">
          <a:xfrm>
            <a:off x="563949" y="1562373"/>
            <a:ext cx="1068216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fontAlgn="base" hangingPunct="1">
              <a:lnSpc>
                <a:spcPct val="4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99700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25" y="655955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6542648"/>
            <a:ext cx="1463537" cy="252000"/>
          </a:xfrm>
          <a:prstGeom prst="rect">
            <a:avLst/>
          </a:prstGeom>
        </p:spPr>
      </p:pic>
      <p:sp>
        <p:nvSpPr>
          <p:cNvPr id="13" name="Text Box 38"/>
          <p:cNvSpPr txBox="1">
            <a:spLocks noChangeArrowheads="1"/>
          </p:cNvSpPr>
          <p:nvPr userDrawn="1"/>
        </p:nvSpPr>
        <p:spPr bwMode="auto">
          <a:xfrm>
            <a:off x="8553400" y="96147"/>
            <a:ext cx="1068216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fontAlgn="base" hangingPunct="1">
              <a:lnSpc>
                <a:spcPct val="4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71535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 defTabSz="957838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2BA5DC-42AE-4D8B-BC2B-833E5D6AE73C}" type="datetime1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2025-04-16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 b="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r" defTabSz="957838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FCB10B8-AEA0-4067-92E7-B5CB4600ECDE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47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____.xlsx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jpeg"/><Relationship Id="rId4" Type="http://schemas.openxmlformats.org/officeDocument/2006/relationships/image" Target="../media/image8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3.png"/><Relationship Id="rId4" Type="http://schemas.openxmlformats.org/officeDocument/2006/relationships/image" Target="../media/image10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3.png"/><Relationship Id="rId5" Type="http://schemas.openxmlformats.org/officeDocument/2006/relationships/image" Target="../media/image112.jpeg"/><Relationship Id="rId4" Type="http://schemas.openxmlformats.org/officeDocument/2006/relationships/image" Target="../media/image11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jpeg"/><Relationship Id="rId4" Type="http://schemas.openxmlformats.org/officeDocument/2006/relationships/image" Target="../media/image1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9.jpeg"/><Relationship Id="rId4" Type="http://schemas.openxmlformats.org/officeDocument/2006/relationships/image" Target="../media/image12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png"/><Relationship Id="rId5" Type="http://schemas.openxmlformats.org/officeDocument/2006/relationships/image" Target="../media/image133.jpeg"/><Relationship Id="rId4" Type="http://schemas.openxmlformats.org/officeDocument/2006/relationships/image" Target="../media/image132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gif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eg"/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e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e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jpeg"/><Relationship Id="rId2" Type="http://schemas.openxmlformats.org/officeDocument/2006/relationships/hyperlink" Target="http://www.google.co.kr/url?sa=i&amp;rct=j&amp;q=&amp;esrc=s&amp;source=images&amp;cd=&amp;cad=rja&amp;uact=8&amp;ved=0ahUKEwiIx_Cwm-vYAhWKvbwKHel9AlgQjRwIBw&amp;url=http://www.robotroom.com/Faulty-Capacitors-1.html&amp;psig=AOvVaw2TDSIj1CnQmTAWLFrrSNW6&amp;ust=1516698237953096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029767"/>
              </p:ext>
            </p:extLst>
          </p:nvPr>
        </p:nvGraphicFramePr>
        <p:xfrm>
          <a:off x="273520" y="404664"/>
          <a:ext cx="9360000" cy="612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Version</a:t>
                      </a:r>
                      <a:r>
                        <a:rPr lang="ko-KR" altLang="en-US" sz="1200" dirty="0">
                          <a:latin typeface="현대하모니 B"/>
                          <a:ea typeface="현대하모니 B"/>
                        </a:rPr>
                        <a:t> </a:t>
                      </a: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: 17.0</a:t>
                      </a:r>
                      <a:endParaRPr lang="ko-KR" altLang="en-US" sz="1200" dirty="0">
                        <a:latin typeface="현대하모니 B"/>
                        <a:ea typeface="현대하모니 B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800" dirty="0">
                          <a:latin typeface="현대하모니 B"/>
                          <a:ea typeface="현대하모니 B"/>
                        </a:rPr>
                        <a:t>PCB Design Review Check Sheet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B"/>
                          <a:ea typeface="현대하모니 B"/>
                        </a:rPr>
                        <a:t>제정</a:t>
                      </a: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: </a:t>
                      </a:r>
                      <a:r>
                        <a:rPr lang="ko-KR" altLang="en-US" sz="1200" dirty="0" err="1">
                          <a:latin typeface="현대하모니 B"/>
                          <a:ea typeface="현대하모니 B"/>
                        </a:rPr>
                        <a:t>제어기선행시험팀</a:t>
                      </a:r>
                      <a:endParaRPr lang="ko-KR" altLang="en-US" sz="1200" dirty="0">
                        <a:latin typeface="현대하모니 B"/>
                        <a:ea typeface="현대하모니 B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6000">
                <a:tc gridSpan="3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/>
                          <a:ea typeface="현대하모니 L"/>
                        </a:rPr>
                        <a:t>    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</a:endParaRP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roup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427648"/>
              </p:ext>
            </p:extLst>
          </p:nvPr>
        </p:nvGraphicFramePr>
        <p:xfrm>
          <a:off x="3066304" y="4877832"/>
          <a:ext cx="3636000" cy="1152525"/>
        </p:xfrm>
        <a:graphic>
          <a:graphicData uri="http://schemas.openxmlformats.org/drawingml/2006/table">
            <a:tbl>
              <a:tblPr/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88">
                <a:tc row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결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    재</a:t>
                      </a:r>
                    </a:p>
                  </a:txBody>
                  <a:tcPr marL="91455" marR="9145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작   성</a:t>
                      </a:r>
                    </a:p>
                  </a:txBody>
                  <a:tcPr marL="91455" marR="9145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검   토</a:t>
                      </a:r>
                    </a:p>
                  </a:txBody>
                  <a:tcPr marL="91455" marR="9145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dirty="0">
                          <a:latin typeface="현대하모니 L"/>
                          <a:ea typeface="현대하모니 L"/>
                        </a:rPr>
                        <a:t>승   인</a:t>
                      </a:r>
                    </a:p>
                  </a:txBody>
                  <a:tcPr marL="91455" marR="9145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dirty="0">
                        <a:latin typeface="현대하모니 L"/>
                        <a:ea typeface="현대하모니 L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4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4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14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17747"/>
              </p:ext>
            </p:extLst>
          </p:nvPr>
        </p:nvGraphicFramePr>
        <p:xfrm>
          <a:off x="3066720" y="1709800"/>
          <a:ext cx="3636000" cy="2880000"/>
        </p:xfrm>
        <a:graphic>
          <a:graphicData uri="http://schemas.openxmlformats.org/drawingml/2006/table">
            <a:tbl>
              <a:tblPr/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차       종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US4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제어기 명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ESS_ver3.0</a:t>
                      </a:r>
                      <a:endParaRPr lang="en-US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개발 단계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 smtClean="0">
                          <a:latin typeface="현대하모니 L"/>
                          <a:ea typeface="현대하모니 L"/>
                        </a:rPr>
                        <a:t>설계 단계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버전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err="1" smtClean="0">
                          <a:latin typeface="현대하모니 L"/>
                          <a:ea typeface="현대하모니 L"/>
                        </a:rPr>
                        <a:t>ver</a:t>
                      </a: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 3.0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 err="1">
                          <a:latin typeface="현대하모니 L"/>
                          <a:ea typeface="현대하모니 L"/>
                        </a:rPr>
                        <a:t>협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  </a:t>
                      </a:r>
                      <a:r>
                        <a:rPr lang="ko-KR" altLang="en-US" sz="1200" dirty="0" err="1">
                          <a:latin typeface="현대하모니 L"/>
                          <a:ea typeface="현대하모니 L"/>
                        </a:rPr>
                        <a:t>력</a:t>
                      </a: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  사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 err="1" smtClean="0">
                          <a:latin typeface="현대하모니 L"/>
                          <a:ea typeface="현대하모니 L"/>
                        </a:rPr>
                        <a:t>대동시스템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팀       명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 err="1" smtClean="0">
                          <a:latin typeface="현대하모니 L"/>
                          <a:ea typeface="현대하모니 L"/>
                        </a:rPr>
                        <a:t>제어팀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gridSpan="2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작성자 성명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 err="1" smtClean="0">
                          <a:latin typeface="현대하모니 L"/>
                          <a:ea typeface="현대하모니 L"/>
                        </a:rPr>
                        <a:t>석정수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rowSpan="3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연락처</a:t>
                      </a:r>
                    </a:p>
                  </a:txBody>
                  <a:tcPr marL="91455" marR="91455" marT="45693" marB="45693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사무실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현대하모니 L"/>
                          <a:ea typeface="현대하모니 L"/>
                        </a:rPr>
                        <a:t>휴대폰</a:t>
                      </a: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010-6406-3225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688" marB="456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현대하모니 L"/>
                          <a:ea typeface="현대하모니 L"/>
                        </a:rPr>
                        <a:t>E-Mail</a:t>
                      </a:r>
                      <a:endParaRPr lang="ko-KR" altLang="en-US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 smtClean="0">
                          <a:latin typeface="현대하모니 L"/>
                          <a:ea typeface="현대하모니 L"/>
                        </a:rPr>
                        <a:t>seokjs@dds.co.kr</a:t>
                      </a:r>
                      <a:endParaRPr lang="ko-KR" altLang="ko-KR" sz="12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693" marB="45693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Rectangle 160"/>
          <p:cNvSpPr>
            <a:spLocks noChangeArrowheads="1"/>
          </p:cNvSpPr>
          <p:nvPr/>
        </p:nvSpPr>
        <p:spPr bwMode="auto">
          <a:xfrm>
            <a:off x="3065197" y="6056382"/>
            <a:ext cx="38175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※ </a:t>
            </a:r>
            <a:r>
              <a:rPr kumimoji="0" lang="ko-KR" altLang="en-US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반드시 </a:t>
            </a:r>
            <a:r>
              <a:rPr kumimoji="0" lang="ko-KR" altLang="en-US" sz="1100" b="0" dirty="0" err="1">
                <a:solidFill>
                  <a:prstClr val="black"/>
                </a:solidFill>
                <a:latin typeface="현대하모니 L"/>
                <a:ea typeface="현대하모니 L"/>
              </a:rPr>
              <a:t>협력사</a:t>
            </a:r>
            <a:r>
              <a:rPr kumimoji="0" lang="ko-KR" altLang="en-US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 승인권자의 결재 후 자료 송부 </a:t>
            </a:r>
            <a:r>
              <a:rPr kumimoji="0" lang="en-US" altLang="ko-KR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(</a:t>
            </a:r>
            <a:r>
              <a:rPr kumimoji="0" lang="ko-KR" altLang="en-US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결재 근거</a:t>
            </a:r>
            <a:r>
              <a:rPr kumimoji="0" lang="en-US" altLang="ko-KR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 </a:t>
            </a:r>
            <a:r>
              <a:rPr kumimoji="0" lang="ko-KR" altLang="en-US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첨부</a:t>
            </a:r>
            <a:r>
              <a:rPr kumimoji="0" lang="en-US" altLang="ko-KR" sz="1100" b="0" dirty="0">
                <a:solidFill>
                  <a:prstClr val="black"/>
                </a:solidFill>
                <a:latin typeface="현대하모니 L"/>
                <a:ea typeface="현대하모니 L"/>
              </a:rPr>
              <a:t>)</a:t>
            </a:r>
            <a:endParaRPr kumimoji="0" lang="ko-KR" altLang="en-US" sz="1100" b="0" dirty="0">
              <a:solidFill>
                <a:prstClr val="black"/>
              </a:solidFill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211972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661792"/>
              </p:ext>
            </p:extLst>
          </p:nvPr>
        </p:nvGraphicFramePr>
        <p:xfrm>
          <a:off x="273520" y="404664"/>
          <a:ext cx="9360000" cy="6120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000"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Version</a:t>
                      </a:r>
                      <a:r>
                        <a:rPr lang="ko-KR" altLang="en-US" sz="1200" dirty="0">
                          <a:latin typeface="현대하모니 B"/>
                          <a:ea typeface="현대하모니 B"/>
                        </a:rPr>
                        <a:t> </a:t>
                      </a: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: 17.0</a:t>
                      </a:r>
                      <a:endParaRPr lang="ko-KR" altLang="en-US" sz="1200" dirty="0">
                        <a:latin typeface="현대하모니 B"/>
                        <a:ea typeface="현대하모니 B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800" dirty="0">
                          <a:latin typeface="현대하모니 B"/>
                          <a:ea typeface="현대하모니 B"/>
                        </a:rPr>
                        <a:t>PCB Design Review Check Sheet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B"/>
                          <a:ea typeface="현대하모니 B"/>
                        </a:rPr>
                        <a:t>제정</a:t>
                      </a:r>
                      <a:r>
                        <a:rPr lang="en-US" altLang="ko-KR" sz="1200" dirty="0">
                          <a:latin typeface="현대하모니 B"/>
                          <a:ea typeface="현대하모니 B"/>
                        </a:rPr>
                        <a:t>: </a:t>
                      </a:r>
                      <a:r>
                        <a:rPr lang="ko-KR" altLang="en-US" sz="1200" dirty="0" err="1">
                          <a:latin typeface="현대하모니 B"/>
                          <a:ea typeface="현대하모니 B"/>
                        </a:rPr>
                        <a:t>제어기선행시험팀</a:t>
                      </a:r>
                      <a:endParaRPr lang="ko-KR" altLang="en-US" sz="1200" dirty="0">
                        <a:latin typeface="현대하모니 B"/>
                        <a:ea typeface="현대하모니 B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6000">
                <a:tc gridSpan="3">
                  <a:txBody>
                    <a:bodyPr/>
                    <a:lstStyle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/>
                          <a:ea typeface="현대하모니 L"/>
                        </a:rPr>
                        <a:t>    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/>
                        <a:ea typeface="현대하모니 L"/>
                      </a:endParaRPr>
                    </a:p>
                  </a:txBody>
                  <a:tcPr marL="91455" marR="91455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711679"/>
              </p:ext>
            </p:extLst>
          </p:nvPr>
        </p:nvGraphicFramePr>
        <p:xfrm>
          <a:off x="2109312" y="1484784"/>
          <a:ext cx="5652000" cy="4914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NO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분         류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내          용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1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1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차 </a:t>
                      </a:r>
                      <a:r>
                        <a:rPr lang="ko-KR" altLang="en-US" sz="9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2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2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차 </a:t>
                      </a:r>
                      <a:r>
                        <a:rPr lang="ko-KR" altLang="en-US" sz="9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 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3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SMT 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조립 </a:t>
                      </a:r>
                      <a:r>
                        <a:rPr lang="ko-KR" altLang="en-US" sz="9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개발용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양산용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4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9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 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Rigid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개발용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양산용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Flexible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개발용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양산용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Metal (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특수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개발용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양산용 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sample</a:t>
                      </a: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00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5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원판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Rigid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제조사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Model No.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Flexible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제조사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Model No.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Metal (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특수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제조사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Model No.(PP</a:t>
                      </a: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포함</a:t>
                      </a: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6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PSR Ink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제조사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Model No.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dirty="0">
                          <a:latin typeface="현대하모니 L"/>
                          <a:ea typeface="현대하모니 L"/>
                        </a:rPr>
                        <a:t>7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표면처리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endParaRPr lang="ko-KR" altLang="en-US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L"/>
                          <a:ea typeface="현대하모니 L"/>
                        </a:rPr>
                        <a:t>표면처리방법</a:t>
                      </a:r>
                    </a:p>
                  </a:txBody>
                  <a:tcPr marL="91455" marR="91455" marT="45725" marB="45725" anchor="ctr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dirty="0">
                        <a:latin typeface="현대하모니 L"/>
                        <a:ea typeface="현대하모니 L"/>
                      </a:endParaRPr>
                    </a:p>
                  </a:txBody>
                  <a:tcPr marL="91455" marR="91455" marT="45725" marB="45725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04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/>
          </p:cNvSpPr>
          <p:nvPr/>
        </p:nvSpPr>
        <p:spPr bwMode="auto">
          <a:xfrm>
            <a:off x="273050" y="232847"/>
            <a:ext cx="4942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PCB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체크시트 </a:t>
            </a:r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16.1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버전 주요 변경 내용</a:t>
            </a:r>
            <a:endParaRPr lang="en-US" altLang="ko-KR" sz="2400" b="0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050" y="836712"/>
            <a:ext cx="8919429" cy="53245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00" b="0" dirty="0" err="1">
                <a:latin typeface="현대하모니 L"/>
                <a:ea typeface="현대하모니 L"/>
              </a:rPr>
              <a:t>Ver</a:t>
            </a:r>
            <a:r>
              <a:rPr lang="en-US" altLang="ko-KR" sz="1000" b="0" dirty="0">
                <a:latin typeface="현대하모니 L"/>
                <a:ea typeface="현대하모니 L"/>
              </a:rPr>
              <a:t> 16.1</a:t>
            </a: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1. </a:t>
            </a:r>
            <a:r>
              <a:rPr lang="ko-KR" altLang="en-US" sz="1000" b="0" dirty="0">
                <a:latin typeface="현대하모니 L"/>
                <a:ea typeface="현대하모니 L"/>
              </a:rPr>
              <a:t>디자인리뷰 체크시트 개정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팀명</a:t>
            </a:r>
            <a:r>
              <a:rPr lang="ko-KR" altLang="en-US" sz="1000" b="0" dirty="0">
                <a:latin typeface="현대하모니 L"/>
                <a:ea typeface="현대하모니 L"/>
              </a:rPr>
              <a:t> 변경 </a:t>
            </a:r>
            <a:r>
              <a:rPr lang="en-US" altLang="ko-KR" sz="1000" b="0" dirty="0">
                <a:latin typeface="현대하모니 L"/>
                <a:ea typeface="현대하모니 L"/>
              </a:rPr>
              <a:t>: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제어기선행평가팀</a:t>
            </a:r>
            <a:r>
              <a:rPr lang="ko-KR" altLang="en-US" sz="1000" b="0" dirty="0">
                <a:latin typeface="현대하모니 L"/>
                <a:ea typeface="현대하모니 L"/>
              </a:rPr>
              <a:t> </a:t>
            </a:r>
            <a:r>
              <a:rPr lang="en-US" altLang="ko-KR" sz="1000" b="0" dirty="0">
                <a:latin typeface="현대하모니 L"/>
                <a:ea typeface="현대하모니 L"/>
                <a:sym typeface="Wingdings" panose="05000000000000000000" pitchFamily="2" charset="2"/>
              </a:rPr>
              <a:t> </a:t>
            </a:r>
            <a:r>
              <a:rPr lang="ko-KR" altLang="en-US" sz="1000" b="0" dirty="0" err="1">
                <a:latin typeface="현대하모니 L"/>
                <a:ea typeface="현대하모니 L"/>
                <a:sym typeface="Wingdings" panose="05000000000000000000" pitchFamily="2" charset="2"/>
              </a:rPr>
              <a:t>제어기선행시험팀</a:t>
            </a:r>
            <a:endParaRPr lang="en-US" altLang="ko-KR" sz="1000" b="0" dirty="0">
              <a:latin typeface="현대하모니 L"/>
              <a:ea typeface="현대하모니 L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2. [1] 5) CAF Test </a:t>
            </a:r>
            <a:r>
              <a:rPr lang="ko-KR" altLang="en-US" sz="1000" b="0" dirty="0">
                <a:latin typeface="현대하모니 L"/>
                <a:ea typeface="현대하모니 L"/>
              </a:rPr>
              <a:t>결과 관련 설계 내용 검토 구체화 </a:t>
            </a:r>
            <a:r>
              <a:rPr lang="en-US" altLang="ko-KR" sz="1000" b="0" dirty="0">
                <a:latin typeface="현대하모니 L"/>
                <a:ea typeface="현대하모니 L"/>
              </a:rPr>
              <a:t>: wall to wall, line to line , wall to line </a:t>
            </a:r>
            <a:r>
              <a:rPr lang="ko-KR" altLang="en-US" sz="1000" b="0" dirty="0">
                <a:latin typeface="현대하모니 L"/>
                <a:ea typeface="현대하모니 L"/>
              </a:rPr>
              <a:t>간격 확인하도록 개정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3. [10]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대전류</a:t>
            </a:r>
            <a:r>
              <a:rPr lang="ko-KR" altLang="en-US" sz="1000" b="0" dirty="0">
                <a:latin typeface="현대하모니 L"/>
                <a:ea typeface="현대하모니 L"/>
              </a:rPr>
              <a:t> 패턴 설계 시트에 </a:t>
            </a:r>
            <a:r>
              <a:rPr lang="en-US" altLang="ko-KR" sz="1000" b="0" dirty="0">
                <a:latin typeface="현대하모니 L"/>
                <a:ea typeface="현대하모니 L"/>
              </a:rPr>
              <a:t>PCB </a:t>
            </a:r>
            <a:r>
              <a:rPr lang="ko-KR" altLang="en-US" sz="1000" b="0" dirty="0">
                <a:latin typeface="현대하모니 L"/>
                <a:ea typeface="현대하모니 L"/>
              </a:rPr>
              <a:t>패턴 체크시트 엑셀 파일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 err="1">
                <a:latin typeface="현대하모니 L"/>
                <a:ea typeface="현대하모니 L"/>
              </a:rPr>
              <a:t>Ver</a:t>
            </a:r>
            <a:r>
              <a:rPr lang="en-US" altLang="ko-KR" sz="1000" b="0" dirty="0">
                <a:latin typeface="현대하모니 L"/>
                <a:ea typeface="현대하모니 L"/>
              </a:rPr>
              <a:t> 16.0</a:t>
            </a: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1. [1] PCB </a:t>
            </a:r>
            <a:r>
              <a:rPr lang="ko-KR" altLang="en-US" sz="1000" b="0" dirty="0">
                <a:latin typeface="현대하모니 L"/>
                <a:ea typeface="현대하모니 L"/>
              </a:rPr>
              <a:t>원판 시트 </a:t>
            </a:r>
            <a:r>
              <a:rPr lang="en-US" altLang="ko-KR" sz="1000" b="0" dirty="0">
                <a:latin typeface="현대하모니 L"/>
                <a:ea typeface="현대하모니 L"/>
              </a:rPr>
              <a:t>- 3), 4)</a:t>
            </a:r>
            <a:r>
              <a:rPr lang="ko-KR" altLang="en-US" sz="1000" b="0" dirty="0">
                <a:latin typeface="현대하모니 L"/>
                <a:ea typeface="현대하모니 L"/>
              </a:rPr>
              <a:t>번</a:t>
            </a:r>
            <a:r>
              <a:rPr lang="en-US" altLang="ko-KR" sz="1000" b="0" dirty="0">
                <a:latin typeface="현대하모니 L"/>
                <a:ea typeface="현대하모니 L"/>
              </a:rPr>
              <a:t> </a:t>
            </a:r>
            <a:r>
              <a:rPr lang="ko-KR" altLang="en-US" sz="1000" b="0" dirty="0">
                <a:latin typeface="현대하모니 L"/>
                <a:ea typeface="현대하모니 L"/>
              </a:rPr>
              <a:t>항목 이해도 향상을 위해 문구 수정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2. [5] </a:t>
            </a:r>
            <a:r>
              <a:rPr lang="ko-KR" altLang="en-US" sz="1000" b="0" dirty="0">
                <a:latin typeface="현대하모니 L"/>
                <a:ea typeface="현대하모니 L"/>
              </a:rPr>
              <a:t>발진소자 주변 설계 </a:t>
            </a:r>
            <a:r>
              <a:rPr lang="en-US" altLang="ko-KR" sz="1000" b="0" dirty="0">
                <a:latin typeface="현대하모니 L"/>
                <a:ea typeface="현대하모니 L"/>
              </a:rPr>
              <a:t>- 3), 4)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항목을 </a:t>
            </a:r>
            <a:r>
              <a:rPr lang="en-US" altLang="ko-KR" sz="1000" b="0" dirty="0">
                <a:latin typeface="현대하모니 L"/>
                <a:ea typeface="현대하모니 L"/>
              </a:rPr>
              <a:t>1</a:t>
            </a:r>
            <a:r>
              <a:rPr lang="ko-KR" altLang="en-US" sz="1000" b="0" dirty="0">
                <a:latin typeface="현대하모니 L"/>
                <a:ea typeface="현대하모니 L"/>
              </a:rPr>
              <a:t>개 항목으로 일원화하여 중복 내용 정리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3. [6]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디커플링커패시터</a:t>
            </a:r>
            <a:r>
              <a:rPr lang="ko-KR" altLang="en-US" sz="1000" b="0" dirty="0">
                <a:latin typeface="현대하모니 L"/>
                <a:ea typeface="현대하모니 L"/>
              </a:rPr>
              <a:t> </a:t>
            </a:r>
            <a:r>
              <a:rPr lang="en-US" altLang="ko-KR" sz="1000" b="0" dirty="0">
                <a:latin typeface="현대하모니 L"/>
                <a:ea typeface="현대하모니 L"/>
              </a:rPr>
              <a:t>- 1)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 문구 수정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>
                <a:latin typeface="현대하모니 L"/>
                <a:ea typeface="현대하모니 L"/>
              </a:rPr>
              <a:t>적용된 </a:t>
            </a:r>
            <a:r>
              <a:rPr lang="en-US" altLang="ko-KR" sz="1000" b="0" dirty="0">
                <a:latin typeface="현대하모니 L"/>
                <a:ea typeface="현대하모니 L"/>
              </a:rPr>
              <a:t>MCU, IC </a:t>
            </a:r>
            <a:r>
              <a:rPr lang="ko-KR" altLang="en-US" sz="1000" b="0" dirty="0">
                <a:latin typeface="현대하모니 L"/>
                <a:ea typeface="현대하모니 L"/>
              </a:rPr>
              <a:t>모두 검토하도록 문구 명확화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4. [7] MCU Reset </a:t>
            </a:r>
            <a:r>
              <a:rPr lang="ko-KR" altLang="en-US" sz="1000" b="0" dirty="0">
                <a:latin typeface="현대하모니 L"/>
                <a:ea typeface="현대하모니 L"/>
              </a:rPr>
              <a:t>단 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1), 2)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 문구 수정</a:t>
            </a:r>
            <a:r>
              <a:rPr lang="en-US" altLang="ko-KR" sz="1000" b="0" dirty="0">
                <a:latin typeface="현대하모니 L"/>
                <a:ea typeface="현대하모니 L"/>
              </a:rPr>
              <a:t>, pull up </a:t>
            </a:r>
            <a:r>
              <a:rPr lang="ko-KR" altLang="en-US" sz="1000" b="0" dirty="0">
                <a:latin typeface="현대하모니 L"/>
                <a:ea typeface="현대하모니 L"/>
              </a:rPr>
              <a:t>저항 뿐만 아니라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커패시터를</a:t>
            </a:r>
            <a:r>
              <a:rPr lang="ko-KR" altLang="en-US" sz="1000" b="0" dirty="0">
                <a:latin typeface="현대하모니 L"/>
                <a:ea typeface="현대하모니 L"/>
              </a:rPr>
              <a:t> 포함하여 필터 회로를 </a:t>
            </a:r>
            <a:r>
              <a:rPr lang="en-US" altLang="ko-KR" sz="1000" b="0" dirty="0">
                <a:latin typeface="현대하모니 L"/>
                <a:ea typeface="현대하모니 L"/>
              </a:rPr>
              <a:t>PCB</a:t>
            </a:r>
            <a:r>
              <a:rPr lang="ko-KR" altLang="en-US" sz="1000" b="0" dirty="0">
                <a:latin typeface="현대하모니 L"/>
                <a:ea typeface="현대하모니 L"/>
              </a:rPr>
              <a:t>에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아트웤</a:t>
            </a:r>
            <a:r>
              <a:rPr lang="ko-KR" altLang="en-US" sz="1000" b="0" dirty="0">
                <a:latin typeface="현대하모니 L"/>
                <a:ea typeface="현대하모니 L"/>
              </a:rPr>
              <a:t> 하는 경우 </a:t>
            </a:r>
            <a:r>
              <a:rPr lang="en-US" altLang="ko-KR" sz="1000" b="0" dirty="0">
                <a:latin typeface="현대하모니 L"/>
                <a:ea typeface="현대하모니 L"/>
              </a:rPr>
              <a:t>MCU </a:t>
            </a:r>
            <a:r>
              <a:rPr lang="ko-KR" altLang="en-US" sz="1000" b="0" dirty="0">
                <a:latin typeface="현대하모니 L"/>
                <a:ea typeface="현대하모니 L"/>
              </a:rPr>
              <a:t>근접 설계하도록 명확화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5. [8] BGA </a:t>
            </a:r>
            <a:r>
              <a:rPr lang="ko-KR" altLang="en-US" sz="1000" b="0" dirty="0">
                <a:latin typeface="현대하모니 L"/>
                <a:ea typeface="현대하모니 L"/>
              </a:rPr>
              <a:t>등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솔더볼을</a:t>
            </a:r>
            <a:r>
              <a:rPr lang="ko-KR" altLang="en-US" sz="1000" b="0" dirty="0">
                <a:latin typeface="현대하모니 L"/>
                <a:ea typeface="현대하모니 L"/>
              </a:rPr>
              <a:t> 적용하는 패키지 </a:t>
            </a:r>
            <a:r>
              <a:rPr lang="en-US" altLang="ko-KR" sz="1000" b="0" dirty="0">
                <a:latin typeface="현대하모니 L"/>
                <a:ea typeface="현대하모니 L"/>
              </a:rPr>
              <a:t>– 4), 5)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항목을 </a:t>
            </a:r>
            <a:r>
              <a:rPr lang="en-US" altLang="ko-KR" sz="1000" b="0" dirty="0">
                <a:latin typeface="현대하모니 L"/>
                <a:ea typeface="현대하모니 L"/>
              </a:rPr>
              <a:t>1</a:t>
            </a:r>
            <a:r>
              <a:rPr lang="ko-KR" altLang="en-US" sz="1000" b="0" dirty="0">
                <a:latin typeface="현대하모니 L"/>
                <a:ea typeface="현대하모니 L"/>
              </a:rPr>
              <a:t>개로 통합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>
                <a:latin typeface="현대하모니 L"/>
                <a:ea typeface="현대하모니 L"/>
              </a:rPr>
              <a:t>메모리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미러링</a:t>
            </a:r>
            <a:r>
              <a:rPr lang="ko-KR" altLang="en-US" sz="1000" b="0" dirty="0">
                <a:latin typeface="현대하모니 L"/>
                <a:ea typeface="현대하모니 L"/>
              </a:rPr>
              <a:t> 설계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필요시</a:t>
            </a:r>
            <a:r>
              <a:rPr lang="ko-KR" altLang="en-US" sz="1000" b="0" dirty="0">
                <a:latin typeface="현대하모니 L"/>
                <a:ea typeface="현대하모니 L"/>
              </a:rPr>
              <a:t> 허용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6. [9] BGA – 1) Via hole filled via </a:t>
            </a:r>
            <a:r>
              <a:rPr lang="ko-KR" altLang="en-US" sz="1000" b="0" dirty="0">
                <a:latin typeface="현대하모니 L"/>
                <a:ea typeface="현대하모니 L"/>
              </a:rPr>
              <a:t>용어 정의 명확화</a:t>
            </a:r>
            <a:r>
              <a:rPr lang="en-US" altLang="ko-KR" sz="1000" b="0" dirty="0">
                <a:latin typeface="현대하모니 L"/>
                <a:ea typeface="현대하모니 L"/>
              </a:rPr>
              <a:t>, 3) </a:t>
            </a:r>
            <a:r>
              <a:rPr lang="en-US" altLang="ko-KR" sz="1000" b="0" dirty="0" err="1">
                <a:latin typeface="현대하모니 L"/>
                <a:ea typeface="현대하모니 L"/>
              </a:rPr>
              <a:t>underfill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en-US" altLang="ko-KR" sz="1000" b="0" dirty="0" err="1">
                <a:latin typeface="현대하모니 L"/>
                <a:ea typeface="현대하모니 L"/>
              </a:rPr>
              <a:t>sidefill</a:t>
            </a:r>
            <a:r>
              <a:rPr lang="ko-KR" altLang="en-US" sz="1000" b="0" dirty="0">
                <a:latin typeface="현대하모니 L"/>
                <a:ea typeface="현대하모니 L"/>
              </a:rPr>
              <a:t>로 문구를 한정하지 않고 기계적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열적</a:t>
            </a:r>
            <a:r>
              <a:rPr lang="ko-KR" altLang="en-US" sz="1000" b="0" dirty="0">
                <a:latin typeface="현대하모니 L"/>
                <a:ea typeface="현대하모니 L"/>
              </a:rPr>
              <a:t> 충격 방지 대책 수립을 확인하기 위해 문구 수정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7. [10]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대전류</a:t>
            </a:r>
            <a:r>
              <a:rPr lang="ko-KR" altLang="en-US" sz="1000" b="0" dirty="0">
                <a:latin typeface="현대하모니 L"/>
                <a:ea typeface="현대하모니 L"/>
              </a:rPr>
              <a:t> 패턴</a:t>
            </a:r>
            <a:r>
              <a:rPr lang="en-US" altLang="ko-KR" sz="1000" b="0" dirty="0">
                <a:latin typeface="현대하모니 L"/>
                <a:ea typeface="현대하모니 L"/>
              </a:rPr>
              <a:t>, Via </a:t>
            </a:r>
            <a:r>
              <a:rPr lang="ko-KR" altLang="en-US" sz="1000" b="0" dirty="0">
                <a:latin typeface="현대하모니 L"/>
                <a:ea typeface="현대하모니 L"/>
              </a:rPr>
              <a:t>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</a:t>
            </a:r>
            <a:r>
              <a:rPr lang="ko-KR" altLang="en-US" sz="1000" b="0" dirty="0">
                <a:latin typeface="현대하모니 L"/>
                <a:ea typeface="현대하모니 L"/>
              </a:rPr>
              <a:t>전체적으로 내용 구체화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협력사</a:t>
            </a:r>
            <a:r>
              <a:rPr lang="ko-KR" altLang="en-US" sz="1000" b="0" dirty="0">
                <a:latin typeface="현대하모니 L"/>
                <a:ea typeface="현대하모니 L"/>
              </a:rPr>
              <a:t> 자체 기준 명확화 하는 방향으로 문구 수정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8. [11] PCB </a:t>
            </a:r>
            <a:r>
              <a:rPr lang="ko-KR" altLang="en-US" sz="1000" b="0" dirty="0">
                <a:latin typeface="현대하모니 L"/>
                <a:ea typeface="현대하모니 L"/>
              </a:rPr>
              <a:t>패턴 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3) dendrite </a:t>
            </a:r>
            <a:r>
              <a:rPr lang="ko-KR" altLang="en-US" sz="1000" b="0" dirty="0">
                <a:latin typeface="현대하모니 L"/>
                <a:ea typeface="현대하모니 L"/>
              </a:rPr>
              <a:t>문구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9. [17] [18] </a:t>
            </a:r>
            <a:r>
              <a:rPr lang="ko-KR" altLang="en-US" sz="1000" b="0" dirty="0">
                <a:latin typeface="현대하모니 L"/>
                <a:ea typeface="현대하모니 L"/>
              </a:rPr>
              <a:t>부품 최소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이격</a:t>
            </a:r>
            <a:r>
              <a:rPr lang="ko-KR" altLang="en-US" sz="1000" b="0" dirty="0">
                <a:latin typeface="현대하모니 L"/>
                <a:ea typeface="현대하모니 L"/>
              </a:rPr>
              <a:t> 거리 </a:t>
            </a:r>
            <a:r>
              <a:rPr lang="en-US" altLang="ko-KR" sz="1000" b="0" dirty="0">
                <a:latin typeface="현대하모니 L"/>
                <a:ea typeface="현대하모니 L"/>
              </a:rPr>
              <a:t>– [17] 1</a:t>
            </a:r>
            <a:r>
              <a:rPr lang="ko-KR" altLang="en-US" sz="1000" b="0" dirty="0">
                <a:latin typeface="현대하모니 L"/>
                <a:ea typeface="현대하모니 L"/>
              </a:rPr>
              <a:t>개 시트로 내용 통합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>
                <a:latin typeface="현대하모니 L"/>
                <a:ea typeface="현대하모니 L"/>
              </a:rPr>
              <a:t>부품 유형별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이격</a:t>
            </a:r>
            <a:r>
              <a:rPr lang="ko-KR" altLang="en-US" sz="1000" b="0" dirty="0">
                <a:latin typeface="현대하모니 L"/>
                <a:ea typeface="현대하모니 L"/>
              </a:rPr>
              <a:t> 거리 기준 제시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10. [19]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전해커패시터</a:t>
            </a:r>
            <a:r>
              <a:rPr lang="ko-KR" altLang="en-US" sz="1000" b="0" dirty="0">
                <a:latin typeface="현대하모니 L"/>
                <a:ea typeface="현대하모니 L"/>
              </a:rPr>
              <a:t> </a:t>
            </a:r>
            <a:r>
              <a:rPr lang="en-US" altLang="ko-KR" sz="1000" b="0" dirty="0">
                <a:latin typeface="현대하모니 L"/>
                <a:ea typeface="현대하모니 L"/>
              </a:rPr>
              <a:t>– 1) </a:t>
            </a:r>
            <a:r>
              <a:rPr lang="ko-KR" altLang="en-US" sz="1000" b="0" dirty="0">
                <a:latin typeface="현대하모니 L"/>
                <a:ea typeface="현대하모니 L"/>
              </a:rPr>
              <a:t>전류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리플</a:t>
            </a:r>
            <a:r>
              <a:rPr lang="ko-KR" altLang="en-US" sz="1000" b="0" dirty="0">
                <a:latin typeface="현대하모니 L"/>
                <a:ea typeface="현대하모니 L"/>
              </a:rPr>
              <a:t> 문구 추가</a:t>
            </a:r>
            <a:r>
              <a:rPr lang="en-US" altLang="ko-KR" sz="1000" b="0" dirty="0">
                <a:latin typeface="현대하모니 L"/>
                <a:ea typeface="현대하모니 L"/>
              </a:rPr>
              <a:t>, </a:t>
            </a:r>
            <a:r>
              <a:rPr lang="ko-KR" altLang="en-US" sz="1000" b="0" dirty="0">
                <a:latin typeface="현대하모니 L"/>
                <a:ea typeface="현대하모니 L"/>
              </a:rPr>
              <a:t>수계콘덴서 사용 여부 검토를 위한 </a:t>
            </a:r>
            <a:r>
              <a:rPr lang="en-US" altLang="ko-KR" sz="1000" b="0" dirty="0">
                <a:latin typeface="현대하모니 L"/>
                <a:ea typeface="현대하모니 L"/>
              </a:rPr>
              <a:t>4), 5)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11. [21]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전패커패시터</a:t>
            </a:r>
            <a:r>
              <a:rPr lang="ko-KR" altLang="en-US" sz="1000" b="0" dirty="0">
                <a:latin typeface="현대하모니 L"/>
                <a:ea typeface="현대하모니 L"/>
              </a:rPr>
              <a:t> 주변 패턴 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3)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 문구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12. [26] Chip </a:t>
            </a:r>
            <a:r>
              <a:rPr lang="ko-KR" altLang="en-US" sz="1000" b="0" dirty="0">
                <a:latin typeface="현대하모니 L"/>
                <a:ea typeface="현대하모니 L"/>
              </a:rPr>
              <a:t>부품의 </a:t>
            </a:r>
            <a:r>
              <a:rPr lang="en-US" altLang="ko-KR" sz="1000" b="0" dirty="0">
                <a:latin typeface="현대하모니 L"/>
                <a:ea typeface="현대하모니 L"/>
              </a:rPr>
              <a:t>Land </a:t>
            </a:r>
            <a:r>
              <a:rPr lang="ko-KR" altLang="en-US" sz="1000" b="0" dirty="0">
                <a:latin typeface="현대하모니 L"/>
                <a:ea typeface="현대하모니 L"/>
              </a:rPr>
              <a:t>패턴 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1)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패턴폭</a:t>
            </a:r>
            <a:r>
              <a:rPr lang="ko-KR" altLang="en-US" sz="1000" b="0" dirty="0">
                <a:latin typeface="현대하모니 L"/>
                <a:ea typeface="현대하모니 L"/>
              </a:rPr>
              <a:t> 차이를 </a:t>
            </a:r>
            <a:r>
              <a:rPr lang="en-US" altLang="ko-KR" sz="1000" b="0" dirty="0">
                <a:latin typeface="현대하모니 L"/>
                <a:ea typeface="현대하모니 L"/>
              </a:rPr>
              <a:t>2</a:t>
            </a:r>
            <a:r>
              <a:rPr lang="ko-KR" altLang="en-US" sz="1000" b="0" dirty="0">
                <a:latin typeface="현대하모니 L"/>
                <a:ea typeface="현대하모니 L"/>
              </a:rPr>
              <a:t>배 이내로 설계하도록 권장 기준 제시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13. [31] PTH(Via) – IPC </a:t>
            </a:r>
            <a:r>
              <a:rPr lang="ko-KR" altLang="en-US" sz="1000" b="0" dirty="0">
                <a:latin typeface="현대하모니 L"/>
                <a:ea typeface="현대하모니 L"/>
              </a:rPr>
              <a:t>규격과 용어 기준 통일</a:t>
            </a:r>
            <a:r>
              <a:rPr lang="en-US" altLang="ko-KR" sz="1000" b="0" dirty="0">
                <a:latin typeface="현대하모니 L"/>
                <a:ea typeface="현대하모니 L"/>
              </a:rPr>
              <a:t>, Filled via </a:t>
            </a:r>
            <a:r>
              <a:rPr lang="ko-KR" altLang="en-US" sz="1000" b="0" dirty="0">
                <a:latin typeface="현대하모니 L"/>
                <a:ea typeface="현대하모니 L"/>
              </a:rPr>
              <a:t>내부 관리 강화를 위해 </a:t>
            </a:r>
            <a:r>
              <a:rPr lang="en-US" altLang="ko-KR" sz="1000" b="0" dirty="0">
                <a:latin typeface="현대하모니 L"/>
                <a:ea typeface="현대하모니 L"/>
              </a:rPr>
              <a:t>2), 3) </a:t>
            </a:r>
            <a:r>
              <a:rPr lang="ko-KR" altLang="en-US" sz="1000" b="0" dirty="0">
                <a:latin typeface="현대하모니 L"/>
                <a:ea typeface="현대하모니 L"/>
              </a:rPr>
              <a:t>내용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14. [32] Land </a:t>
            </a:r>
            <a:r>
              <a:rPr lang="ko-KR" altLang="en-US" sz="1000" b="0" dirty="0">
                <a:latin typeface="현대하모니 L"/>
                <a:ea typeface="현대하모니 L"/>
              </a:rPr>
              <a:t>주변 </a:t>
            </a:r>
            <a:r>
              <a:rPr lang="en-US" altLang="ko-KR" sz="1000" b="0" dirty="0">
                <a:latin typeface="현대하모니 L"/>
                <a:ea typeface="현대하모니 L"/>
              </a:rPr>
              <a:t>Via </a:t>
            </a:r>
            <a:r>
              <a:rPr lang="ko-KR" altLang="en-US" sz="1000" b="0" dirty="0">
                <a:latin typeface="현대하모니 L"/>
                <a:ea typeface="현대하모니 L"/>
              </a:rPr>
              <a:t>설계 </a:t>
            </a:r>
            <a:r>
              <a:rPr lang="en-US" altLang="ko-KR" sz="1000" b="0" dirty="0">
                <a:latin typeface="현대하모니 L"/>
                <a:ea typeface="현대하모니 L"/>
              </a:rPr>
              <a:t>– 1) </a:t>
            </a:r>
            <a:r>
              <a:rPr lang="ko-KR" altLang="en-US" sz="1000" b="0" dirty="0">
                <a:latin typeface="현대하모니 L"/>
                <a:ea typeface="현대하모니 L"/>
              </a:rPr>
              <a:t>동일 신호의 경우 </a:t>
            </a:r>
            <a:r>
              <a:rPr lang="en-US" altLang="ko-KR" sz="1000" b="0" dirty="0">
                <a:latin typeface="현대하모니 L"/>
                <a:ea typeface="현대하모니 L"/>
              </a:rPr>
              <a:t>Land-via </a:t>
            </a:r>
            <a:r>
              <a:rPr lang="ko-KR" altLang="en-US" sz="1000" b="0" dirty="0" err="1">
                <a:latin typeface="현대하모니 L"/>
                <a:ea typeface="현대하모니 L"/>
              </a:rPr>
              <a:t>이격</a:t>
            </a:r>
            <a:r>
              <a:rPr lang="ko-KR" altLang="en-US" sz="1000" b="0" dirty="0">
                <a:latin typeface="현대하모니 L"/>
                <a:ea typeface="현대하모니 L"/>
              </a:rPr>
              <a:t> 거리 </a:t>
            </a:r>
            <a:r>
              <a:rPr lang="en-US" altLang="ko-KR" sz="1000" b="0" dirty="0">
                <a:latin typeface="현대하모니 L"/>
                <a:ea typeface="현대하모니 L"/>
              </a:rPr>
              <a:t>0.3mm</a:t>
            </a:r>
            <a:r>
              <a:rPr lang="ko-KR" altLang="en-US" sz="1000" b="0" dirty="0">
                <a:latin typeface="현대하모니 L"/>
                <a:ea typeface="현대하모니 L"/>
              </a:rPr>
              <a:t>로 완화하는 내용 수정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15. [38] Press-Fit – </a:t>
            </a:r>
            <a:r>
              <a:rPr lang="ko-KR" altLang="en-US" sz="1000" b="0" dirty="0">
                <a:latin typeface="현대하모니 L"/>
                <a:ea typeface="현대하모니 L"/>
              </a:rPr>
              <a:t>신규 시트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16. [49] Lead </a:t>
            </a:r>
            <a:r>
              <a:rPr lang="ko-KR" altLang="en-US" sz="1000" b="0" dirty="0">
                <a:latin typeface="현대하모니 L"/>
                <a:ea typeface="현대하모니 L"/>
              </a:rPr>
              <a:t>타입 부품 실장 </a:t>
            </a:r>
            <a:r>
              <a:rPr lang="en-US" altLang="ko-KR" sz="1000" b="0" dirty="0">
                <a:latin typeface="현대하모니 L"/>
                <a:ea typeface="현대하모니 L"/>
              </a:rPr>
              <a:t>– 4), 5)</a:t>
            </a:r>
            <a:r>
              <a:rPr lang="ko-KR" altLang="en-US" sz="1000" b="0" dirty="0">
                <a:latin typeface="현대하모니 L"/>
                <a:ea typeface="현대하모니 L"/>
              </a:rPr>
              <a:t>번 항목 추가</a:t>
            </a:r>
            <a:endParaRPr lang="en-US" altLang="ko-KR" sz="1000" b="0" dirty="0">
              <a:latin typeface="현대하모니 L"/>
              <a:ea typeface="현대하모니 L"/>
            </a:endParaRPr>
          </a:p>
          <a:p>
            <a:pPr>
              <a:spcAft>
                <a:spcPts val="600"/>
              </a:spcAft>
            </a:pPr>
            <a:r>
              <a:rPr lang="en-US" altLang="ko-KR" sz="1000" b="0" dirty="0">
                <a:latin typeface="현대하모니 L"/>
                <a:ea typeface="현대하모니 L"/>
              </a:rPr>
              <a:t>17. </a:t>
            </a:r>
            <a:r>
              <a:rPr lang="ko-KR" altLang="en-US" sz="1000" b="0" dirty="0">
                <a:latin typeface="현대하모니 L"/>
                <a:ea typeface="현대하모니 L"/>
              </a:rPr>
              <a:t>체크시트 항목 번호 및 순서 변경</a:t>
            </a:r>
            <a:endParaRPr lang="en-US" altLang="ko-KR" sz="1000" b="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142904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926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PCB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재료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552036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Rigid PCB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원판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FR-4 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원판을 적용하였는가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  <a:endParaRPr lang="en-US" altLang="ko-KR" sz="1000" strike="sngStrike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Datasheet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첨부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무연솔더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규제에 대응 가능한 원판을 사용하였는가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(MS 941-01 FR-4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Type B, Type C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적용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MS941-01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비교자료 첨부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유니트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용도 및 적용 위치를 고려하여 적절한 유리전이온도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Tg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사용하였는가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예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/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일반전장품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130℃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엔진룸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/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무연솔더용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141℃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특수발열부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170℃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Tg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:     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℃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CAF(Conductive Anodic Filament)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대응 가능한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사용하고 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CAF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Test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자료 첨부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5) 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CAF </a:t>
                      </a:r>
                      <a:r>
                        <a:rPr lang="ko-KR" altLang="en-US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가능성을 줄이기 위해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PTH(via)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및 내부 패턴 등 도체 간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최소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이격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거리 기준을 가지고 설계하였는가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- CAF Test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결과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(PTH wall to wall, Pattern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line to line, wall to line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간격 최소값 고려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보다 크게 설계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설계된 최소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거리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0"/>
                        </a:spcBef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Wall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to wall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간격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      mm</a:t>
                      </a:r>
                    </a:p>
                    <a:p>
                      <a:pPr latinLnBrk="1">
                        <a:spcBef>
                          <a:spcPts val="0"/>
                        </a:spcBef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Line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to line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간격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       mm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Wall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to line 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간격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       mm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PCB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원판명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원판 제조사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동박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두께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무연솔더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적용 여부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단면도첨부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(Stack up, Layer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두께 명기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8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※</a:t>
                      </a:r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800" dirty="0" err="1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Pb</a:t>
                      </a:r>
                      <a:r>
                        <a:rPr lang="en-US" altLang="ko-KR" sz="8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-Free </a:t>
                      </a:r>
                      <a:r>
                        <a:rPr lang="ko-KR" altLang="en-US" sz="8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적용 관련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(1) 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적용 시점 </a:t>
                      </a: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: 2016/01 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신규 양산 차종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(2) 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사용 금지 원판 </a:t>
                      </a: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: Type A (MS941-01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참조</a:t>
                      </a: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(3) 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적용 지역 </a:t>
                      </a:r>
                      <a:r>
                        <a:rPr lang="en-US" altLang="ko-KR" sz="800" dirty="0">
                          <a:latin typeface="현대하모니 L"/>
                          <a:ea typeface="현대하모니 L"/>
                        </a:rPr>
                        <a:t>:  EU </a:t>
                      </a:r>
                      <a:r>
                        <a:rPr lang="ko-KR" altLang="en-US" sz="800" dirty="0">
                          <a:latin typeface="현대하모니 L"/>
                          <a:ea typeface="현대하모니 L"/>
                        </a:rPr>
                        <a:t>및 한국 등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원판 신뢰성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2" name="직사각형 91"/>
          <p:cNvSpPr/>
          <p:nvPr/>
        </p:nvSpPr>
        <p:spPr>
          <a:xfrm>
            <a:off x="3944888" y="5271011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6897216" y="5271011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962" y="4075628"/>
            <a:ext cx="1152128" cy="208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3" y="4999263"/>
            <a:ext cx="1793688" cy="113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6496" y="4129477"/>
            <a:ext cx="1542410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b="0" dirty="0">
                <a:latin typeface="현대하모니 L"/>
                <a:ea typeface="현대하모니 L"/>
              </a:rPr>
              <a:t>▪ FR-4</a:t>
            </a:r>
          </a:p>
          <a:p>
            <a:r>
              <a:rPr lang="en-US" altLang="ko-KR" sz="1000" b="0" dirty="0">
                <a:latin typeface="현대하모니 L"/>
                <a:ea typeface="현대하모니 L"/>
              </a:rPr>
              <a:t>▪ </a:t>
            </a:r>
            <a:r>
              <a:rPr lang="en-US" altLang="ko-KR" sz="1000" b="0" dirty="0" err="1">
                <a:latin typeface="현대하모니 L"/>
                <a:ea typeface="현대하모니 L"/>
              </a:rPr>
              <a:t>Tg</a:t>
            </a:r>
            <a:r>
              <a:rPr lang="en-US" altLang="ko-KR" sz="1000" b="0" dirty="0">
                <a:latin typeface="현대하모니 L"/>
                <a:ea typeface="현대하모니 L"/>
              </a:rPr>
              <a:t> (TMA) : above 150</a:t>
            </a:r>
          </a:p>
          <a:p>
            <a:r>
              <a:rPr lang="en-US" altLang="ko-KR" sz="1000" b="0" dirty="0">
                <a:latin typeface="현대하모니 L"/>
                <a:ea typeface="현대하모니 L"/>
              </a:rPr>
              <a:t>▪ Anti-CAF</a:t>
            </a:r>
          </a:p>
          <a:p>
            <a:r>
              <a:rPr lang="en-US" altLang="ko-KR" sz="1000" b="0" dirty="0">
                <a:latin typeface="현대하모니 L"/>
                <a:ea typeface="현대하모니 L"/>
              </a:rPr>
              <a:t>▪ Low CTE</a:t>
            </a:r>
            <a:endParaRPr lang="ko-KR" altLang="en-US" sz="1000" b="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56892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18470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표면처리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(Finish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: ENIG, Immersion Tin, OSP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등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Land(Pad)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산화나 부식을 방지하기 위해 표면처리를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적용한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표면처리에 대한 적정 두께 기준을 가지고 관리하고 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(MS941-01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참조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MS941-01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명기되지 않는 표면처리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적용시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자동차용으로 적합한 두께 관리 기준을 적용하였는가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근거 첨부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솔더링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 영역에서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동노출을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최소화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적용된 표면처리 방법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표면 처리 관리 기준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분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석 결과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첨부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산화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2" name="직사각형 9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560512" y="3241551"/>
            <a:ext cx="3082277" cy="2851745"/>
            <a:chOff x="488504" y="3212976"/>
            <a:chExt cx="3082277" cy="2851745"/>
          </a:xfrm>
        </p:grpSpPr>
        <p:grpSp>
          <p:nvGrpSpPr>
            <p:cNvPr id="3" name="그룹 2"/>
            <p:cNvGrpSpPr/>
            <p:nvPr/>
          </p:nvGrpSpPr>
          <p:grpSpPr>
            <a:xfrm>
              <a:off x="2144688" y="3573016"/>
              <a:ext cx="1426093" cy="2264097"/>
              <a:chOff x="350448" y="4232721"/>
              <a:chExt cx="1426093" cy="2264097"/>
            </a:xfrm>
          </p:grpSpPr>
          <p:pic>
            <p:nvPicPr>
              <p:cNvPr id="16" name="Picture 160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697" t="7187" r="46739"/>
              <a:stretch/>
            </p:blipFill>
            <p:spPr bwMode="auto">
              <a:xfrm>
                <a:off x="386432" y="4232721"/>
                <a:ext cx="1390109" cy="1080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Line 163"/>
              <p:cNvSpPr>
                <a:spLocks noChangeShapeType="1"/>
              </p:cNvSpPr>
              <p:nvPr/>
            </p:nvSpPr>
            <p:spPr bwMode="auto">
              <a:xfrm flipV="1">
                <a:off x="597492" y="4856767"/>
                <a:ext cx="131783" cy="142875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black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8" name="Line 164"/>
              <p:cNvSpPr>
                <a:spLocks noChangeShapeType="1"/>
              </p:cNvSpPr>
              <p:nvPr/>
            </p:nvSpPr>
            <p:spPr bwMode="auto">
              <a:xfrm flipV="1">
                <a:off x="929333" y="4856767"/>
                <a:ext cx="131784" cy="142875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black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9" name="Line 165"/>
              <p:cNvSpPr>
                <a:spLocks noChangeShapeType="1"/>
              </p:cNvSpPr>
              <p:nvPr/>
            </p:nvSpPr>
            <p:spPr bwMode="auto">
              <a:xfrm flipV="1">
                <a:off x="1334769" y="4856767"/>
                <a:ext cx="131784" cy="142875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black"/>
                  </a:solidFill>
                  <a:latin typeface="현대하모니 L"/>
                  <a:ea typeface="현대하모니 L"/>
                </a:endParaRPr>
              </a:p>
            </p:txBody>
          </p:sp>
          <p:pic>
            <p:nvPicPr>
              <p:cNvPr id="20" name="Picture 2" descr="C:\Users\2652225\Desktop\15업무계획\01_체크시트\07_OSP\그림1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448" y="5374887"/>
                <a:ext cx="1157770" cy="11219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Line 163"/>
              <p:cNvSpPr>
                <a:spLocks noChangeShapeType="1"/>
              </p:cNvSpPr>
              <p:nvPr/>
            </p:nvSpPr>
            <p:spPr bwMode="auto">
              <a:xfrm flipH="1">
                <a:off x="729275" y="5379300"/>
                <a:ext cx="161214" cy="20038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black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2" name="Line 163"/>
              <p:cNvSpPr>
                <a:spLocks noChangeShapeType="1"/>
              </p:cNvSpPr>
              <p:nvPr/>
            </p:nvSpPr>
            <p:spPr bwMode="auto">
              <a:xfrm flipH="1">
                <a:off x="1347004" y="5379300"/>
                <a:ext cx="161214" cy="20038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 b="0">
                  <a:solidFill>
                    <a:prstClr val="black"/>
                  </a:solidFill>
                  <a:latin typeface="현대하모니 L"/>
                  <a:ea typeface="현대하모니 L"/>
                </a:endParaRP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426"/>
            <a:stretch/>
          </p:blipFill>
          <p:spPr bwMode="auto">
            <a:xfrm>
              <a:off x="488504" y="3573016"/>
              <a:ext cx="1456453" cy="1337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144688" y="5818500"/>
              <a:ext cx="13147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3) </a:t>
              </a:r>
              <a:r>
                <a:rPr lang="ko-KR" altLang="en-US" sz="1000" b="0" dirty="0" err="1">
                  <a:solidFill>
                    <a:srgbClr val="FF0000"/>
                  </a:solidFill>
                  <a:latin typeface="현대하모니 L"/>
                  <a:ea typeface="현대하모니 L"/>
                </a:rPr>
                <a:t>동노출</a:t>
              </a:r>
              <a:r>
                <a: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최소화 필요</a:t>
              </a:r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 flipV="1">
              <a:off x="704528" y="4467870"/>
              <a:ext cx="0" cy="659125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88504" y="5104234"/>
              <a:ext cx="6270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ENIG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0" name="Text Box 89"/>
            <p:cNvSpPr txBox="1">
              <a:spLocks noChangeArrowheads="1"/>
            </p:cNvSpPr>
            <p:nvPr/>
          </p:nvSpPr>
          <p:spPr bwMode="auto">
            <a:xfrm>
              <a:off x="2554421" y="3212976"/>
              <a:ext cx="646629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36" name="Text Box 89"/>
            <p:cNvSpPr txBox="1">
              <a:spLocks noChangeArrowheads="1"/>
            </p:cNvSpPr>
            <p:nvPr/>
          </p:nvSpPr>
          <p:spPr bwMode="auto">
            <a:xfrm>
              <a:off x="874706" y="3212976"/>
              <a:ext cx="641820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</p:grpSp>
      <p:sp>
        <p:nvSpPr>
          <p:cNvPr id="25" name="제목 1"/>
          <p:cNvSpPr>
            <a:spLocks/>
          </p:cNvSpPr>
          <p:nvPr/>
        </p:nvSpPr>
        <p:spPr bwMode="auto">
          <a:xfrm>
            <a:off x="273050" y="232847"/>
            <a:ext cx="11926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PCB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재료</a:t>
            </a:r>
            <a:endParaRPr lang="en-US" altLang="ko-KR" sz="2400" b="0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43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0948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PSR(Photo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Solder Resist)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 INK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Solder Mask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용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Ink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MS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941-01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기준을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MS941-01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비교자료 첨부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위에 도포된 잉크의 두께는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Spec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따라 관리 되고 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중앙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 ≥15㎛, Edge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(b) ≥10㎛,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그라운드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(c) ≥15㎛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Ink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Model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: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PSR Ink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단면 실측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두께 확인 자료 첨부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보호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절연성 확보를 통한 패턴 신뢰성 향상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559851" y="3861047"/>
            <a:ext cx="2952990" cy="2176914"/>
            <a:chOff x="417767" y="3413945"/>
            <a:chExt cx="3175703" cy="2491977"/>
          </a:xfrm>
        </p:grpSpPr>
        <p:sp>
          <p:nvSpPr>
            <p:cNvPr id="11" name="Text Box 103"/>
            <p:cNvSpPr txBox="1">
              <a:spLocks noChangeArrowheads="1"/>
            </p:cNvSpPr>
            <p:nvPr/>
          </p:nvSpPr>
          <p:spPr bwMode="auto">
            <a:xfrm>
              <a:off x="1702286" y="3413945"/>
              <a:ext cx="695397" cy="319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pic>
          <p:nvPicPr>
            <p:cNvPr id="12" name="Picture 10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31" t="12874" b="8070"/>
            <a:stretch/>
          </p:blipFill>
          <p:spPr bwMode="auto">
            <a:xfrm>
              <a:off x="527051" y="3749675"/>
              <a:ext cx="1473200" cy="1764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105"/>
            <p:cNvSpPr>
              <a:spLocks noChangeArrowheads="1"/>
            </p:cNvSpPr>
            <p:nvPr/>
          </p:nvSpPr>
          <p:spPr bwMode="auto">
            <a:xfrm>
              <a:off x="1587501" y="4155813"/>
              <a:ext cx="361950" cy="659364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55258" tIns="27629" rIns="55258" bIns="27629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/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4" name="Rectangle 106"/>
            <p:cNvSpPr>
              <a:spLocks noChangeArrowheads="1"/>
            </p:cNvSpPr>
            <p:nvPr/>
          </p:nvSpPr>
          <p:spPr bwMode="auto">
            <a:xfrm>
              <a:off x="1679576" y="5251290"/>
              <a:ext cx="288925" cy="240034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5258" tIns="27629" rIns="55258" bIns="27629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/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5" name="Text Box 107"/>
            <p:cNvSpPr txBox="1">
              <a:spLocks noChangeArrowheads="1"/>
            </p:cNvSpPr>
            <p:nvPr/>
          </p:nvSpPr>
          <p:spPr bwMode="auto">
            <a:xfrm>
              <a:off x="417767" y="5621569"/>
              <a:ext cx="1683192" cy="284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Ink</a:t>
              </a:r>
              <a:r>
                <a: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도포 불량 </a:t>
              </a:r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: </a:t>
              </a:r>
              <a:r>
                <a: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두께 </a:t>
              </a:r>
              <a:r>
                <a:rPr lang="ko-KR" altLang="en-US" sz="1000" b="0" dirty="0" err="1">
                  <a:solidFill>
                    <a:srgbClr val="FF0000"/>
                  </a:solidFill>
                  <a:latin typeface="현대하모니 L"/>
                  <a:ea typeface="현대하모니 L"/>
                </a:rPr>
                <a:t>불균일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6" name="Line 108"/>
            <p:cNvSpPr>
              <a:spLocks noChangeShapeType="1"/>
            </p:cNvSpPr>
            <p:nvPr/>
          </p:nvSpPr>
          <p:spPr bwMode="auto">
            <a:xfrm flipV="1">
              <a:off x="1359166" y="5514230"/>
              <a:ext cx="409311" cy="12531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55258" tIns="27629" rIns="55258" bIns="27629" anchor="ctr">
              <a:spAutoFit/>
            </a:bodyPr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7" name="Line 109"/>
            <p:cNvSpPr>
              <a:spLocks noChangeShapeType="1"/>
            </p:cNvSpPr>
            <p:nvPr/>
          </p:nvSpPr>
          <p:spPr bwMode="auto">
            <a:xfrm flipV="1">
              <a:off x="1306222" y="4911748"/>
              <a:ext cx="361932" cy="72779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55258" tIns="27629" rIns="55258" bIns="27629" anchor="ctr">
              <a:spAutoFit/>
            </a:bodyPr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pic>
          <p:nvPicPr>
            <p:cNvPr id="18" name="Picture 2" descr="C:\Users\2652225\Desktop\PCB_DRDRDR\My_DR\15_LFc_HCU_오트론\그림\리터치2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68"/>
            <a:stretch/>
          </p:blipFill>
          <p:spPr bwMode="auto">
            <a:xfrm rot="5400000" flipH="1" flipV="1">
              <a:off x="1934477" y="3855237"/>
              <a:ext cx="1797198" cy="152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 Box 107"/>
            <p:cNvSpPr txBox="1">
              <a:spLocks noChangeArrowheads="1"/>
            </p:cNvSpPr>
            <p:nvPr/>
          </p:nvSpPr>
          <p:spPr bwMode="auto">
            <a:xfrm>
              <a:off x="2290828" y="5621569"/>
              <a:ext cx="840205" cy="284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ko-KR" altLang="en-US" sz="1000" b="0" dirty="0" err="1">
                  <a:solidFill>
                    <a:srgbClr val="FF0000"/>
                  </a:solidFill>
                  <a:latin typeface="현대하모니 L"/>
                  <a:ea typeface="현대하모니 L"/>
                </a:rPr>
                <a:t>리터치</a:t>
              </a:r>
              <a:r>
                <a: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금지</a:t>
              </a: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2504729" y="4077072"/>
              <a:ext cx="864096" cy="284353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현대하모니 L"/>
                <a:ea typeface="현대하모니 L"/>
              </a:endParaRPr>
            </a:p>
          </p:txBody>
        </p:sp>
      </p:grpSp>
      <p:sp>
        <p:nvSpPr>
          <p:cNvPr id="44" name="제목 1"/>
          <p:cNvSpPr>
            <a:spLocks/>
          </p:cNvSpPr>
          <p:nvPr/>
        </p:nvSpPr>
        <p:spPr bwMode="auto">
          <a:xfrm>
            <a:off x="273050" y="232847"/>
            <a:ext cx="11926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PCB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재료</a:t>
            </a:r>
            <a:endParaRPr lang="en-US" altLang="ko-KR" sz="2400" b="0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632520" y="2852936"/>
            <a:ext cx="2726102" cy="935132"/>
            <a:chOff x="632520" y="2852936"/>
            <a:chExt cx="2726102" cy="935132"/>
          </a:xfrm>
        </p:grpSpPr>
        <p:sp>
          <p:nvSpPr>
            <p:cNvPr id="48" name="직사각형 47"/>
            <p:cNvSpPr>
              <a:spLocks noChangeArrowheads="1"/>
            </p:cNvSpPr>
            <p:nvPr/>
          </p:nvSpPr>
          <p:spPr bwMode="auto">
            <a:xfrm>
              <a:off x="632520" y="2852936"/>
              <a:ext cx="2726102" cy="9351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ko-KR" altLang="en-US" sz="1000" b="0">
                <a:solidFill>
                  <a:schemeClr val="lt1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49" name="Group 48"/>
            <p:cNvGrpSpPr>
              <a:grpSpLocks/>
            </p:cNvGrpSpPr>
            <p:nvPr/>
          </p:nvGrpSpPr>
          <p:grpSpPr bwMode="auto">
            <a:xfrm>
              <a:off x="874800" y="3105928"/>
              <a:ext cx="2279229" cy="595936"/>
              <a:chOff x="2576" y="3385"/>
              <a:chExt cx="1270" cy="318"/>
            </a:xfrm>
          </p:grpSpPr>
          <p:sp>
            <p:nvSpPr>
              <p:cNvPr id="58" name="Line 49"/>
              <p:cNvSpPr>
                <a:spLocks noChangeShapeType="1"/>
              </p:cNvSpPr>
              <p:nvPr/>
            </p:nvSpPr>
            <p:spPr bwMode="auto">
              <a:xfrm>
                <a:off x="3211" y="3385"/>
                <a:ext cx="0" cy="9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9" name="Oval 50"/>
              <p:cNvSpPr>
                <a:spLocks noChangeArrowheads="1"/>
              </p:cNvSpPr>
              <p:nvPr/>
            </p:nvSpPr>
            <p:spPr bwMode="auto">
              <a:xfrm>
                <a:off x="2894" y="3477"/>
                <a:ext cx="635" cy="226"/>
              </a:xfrm>
              <a:prstGeom prst="ellipse">
                <a:avLst/>
              </a:prstGeom>
              <a:solidFill>
                <a:srgbClr val="00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ko-KR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0" name="Rectangle 51"/>
              <p:cNvSpPr>
                <a:spLocks noChangeArrowheads="1"/>
              </p:cNvSpPr>
              <p:nvPr/>
            </p:nvSpPr>
            <p:spPr bwMode="auto">
              <a:xfrm>
                <a:off x="3058" y="3526"/>
                <a:ext cx="317" cy="64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ko-KR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1" name="Rectangle 52"/>
              <p:cNvSpPr>
                <a:spLocks noChangeArrowheads="1"/>
              </p:cNvSpPr>
              <p:nvPr/>
            </p:nvSpPr>
            <p:spPr bwMode="auto">
              <a:xfrm>
                <a:off x="2576" y="3585"/>
                <a:ext cx="1270" cy="118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ko-KR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2" name="Line 53"/>
              <p:cNvSpPr>
                <a:spLocks noChangeShapeType="1"/>
              </p:cNvSpPr>
              <p:nvPr/>
            </p:nvSpPr>
            <p:spPr bwMode="auto">
              <a:xfrm flipH="1" flipV="1">
                <a:off x="3209" y="3524"/>
                <a:ext cx="2" cy="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3" name="Line 54"/>
              <p:cNvSpPr>
                <a:spLocks noChangeShapeType="1"/>
              </p:cNvSpPr>
              <p:nvPr/>
            </p:nvSpPr>
            <p:spPr bwMode="auto">
              <a:xfrm>
                <a:off x="3166" y="3476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4" name="Line 55"/>
              <p:cNvSpPr>
                <a:spLocks noChangeShapeType="1"/>
              </p:cNvSpPr>
              <p:nvPr/>
            </p:nvSpPr>
            <p:spPr bwMode="auto">
              <a:xfrm>
                <a:off x="3166" y="3521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5" name="Line 56"/>
              <p:cNvSpPr>
                <a:spLocks noChangeShapeType="1"/>
              </p:cNvSpPr>
              <p:nvPr/>
            </p:nvSpPr>
            <p:spPr bwMode="auto">
              <a:xfrm rot="9000000">
                <a:off x="2991" y="3486"/>
                <a:ext cx="105" cy="1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6" name="Line 58"/>
              <p:cNvSpPr>
                <a:spLocks noChangeShapeType="1"/>
              </p:cNvSpPr>
              <p:nvPr/>
            </p:nvSpPr>
            <p:spPr bwMode="auto">
              <a:xfrm rot="9300000" flipH="1" flipV="1">
                <a:off x="3073" y="3521"/>
                <a:ext cx="2" cy="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7" name="Line 59"/>
              <p:cNvSpPr>
                <a:spLocks noChangeShapeType="1"/>
              </p:cNvSpPr>
              <p:nvPr/>
            </p:nvSpPr>
            <p:spPr bwMode="auto">
              <a:xfrm rot="9300000">
                <a:off x="3009" y="3400"/>
                <a:ext cx="0" cy="9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8" name="Rectangle 60"/>
              <p:cNvSpPr>
                <a:spLocks noChangeArrowheads="1"/>
              </p:cNvSpPr>
              <p:nvPr/>
            </p:nvSpPr>
            <p:spPr bwMode="auto">
              <a:xfrm>
                <a:off x="3483" y="3539"/>
                <a:ext cx="340" cy="46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ko-KR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69" name="Rectangle 61"/>
              <p:cNvSpPr>
                <a:spLocks noChangeArrowheads="1"/>
              </p:cNvSpPr>
              <p:nvPr/>
            </p:nvSpPr>
            <p:spPr bwMode="auto">
              <a:xfrm>
                <a:off x="2757" y="3542"/>
                <a:ext cx="182" cy="46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ko-KR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50" name="Rectangle 62"/>
            <p:cNvSpPr>
              <a:spLocks noChangeArrowheads="1"/>
            </p:cNvSpPr>
            <p:nvPr/>
          </p:nvSpPr>
          <p:spPr bwMode="auto">
            <a:xfrm>
              <a:off x="1739831" y="2873550"/>
              <a:ext cx="565321" cy="209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>
              <a:spAutoFit/>
            </a:bodyPr>
            <a:lstStyle/>
            <a:p>
              <a:pPr algn="ctr" defTabSz="958850" fontAlgn="ctr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33CC"/>
                  </a:solidFill>
                  <a:latin typeface="현대하모니 L"/>
                  <a:ea typeface="현대하모니 L"/>
                </a:rPr>
                <a:t>a≥15㎛</a:t>
              </a:r>
            </a:p>
          </p:txBody>
        </p:sp>
        <p:sp>
          <p:nvSpPr>
            <p:cNvPr id="51" name="Rectangle 63"/>
            <p:cNvSpPr>
              <a:spLocks noChangeArrowheads="1"/>
            </p:cNvSpPr>
            <p:nvPr/>
          </p:nvSpPr>
          <p:spPr bwMode="auto">
            <a:xfrm>
              <a:off x="1117081" y="2939141"/>
              <a:ext cx="570705" cy="209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>
              <a:spAutoFit/>
            </a:bodyPr>
            <a:lstStyle/>
            <a:p>
              <a:pPr algn="ctr" defTabSz="958850" fontAlgn="ctr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33CC"/>
                  </a:solidFill>
                  <a:latin typeface="현대하모니 L"/>
                  <a:ea typeface="현대하모니 L"/>
                </a:rPr>
                <a:t>b≥10㎛</a:t>
              </a:r>
            </a:p>
          </p:txBody>
        </p:sp>
        <p:sp>
          <p:nvSpPr>
            <p:cNvPr id="52" name="Rectangle 62"/>
            <p:cNvSpPr>
              <a:spLocks noChangeArrowheads="1"/>
            </p:cNvSpPr>
            <p:nvPr/>
          </p:nvSpPr>
          <p:spPr bwMode="auto">
            <a:xfrm>
              <a:off x="2642549" y="3002857"/>
              <a:ext cx="559937" cy="209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>
              <a:spAutoFit/>
            </a:bodyPr>
            <a:lstStyle/>
            <a:p>
              <a:pPr algn="ctr" defTabSz="958850" fontAlgn="ctr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33CC"/>
                  </a:solidFill>
                  <a:latin typeface="현대하모니 L"/>
                  <a:ea typeface="현대하모니 L"/>
                </a:rPr>
                <a:t>c≥15㎛</a:t>
              </a:r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2908160" y="3220242"/>
              <a:ext cx="0" cy="17053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 flipH="1" flipV="1">
              <a:off x="2904571" y="3480730"/>
              <a:ext cx="3589" cy="16491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2827400" y="3390777"/>
              <a:ext cx="16331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2827400" y="3475108"/>
              <a:ext cx="16331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 rot="9000000">
              <a:off x="1644138" y="3354452"/>
              <a:ext cx="188440" cy="3185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48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MCU (IC)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14955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[4]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MCU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/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IC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MCU / IC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패키지 크기의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80%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GND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되도록 패턴을 설계하였는가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사용하지 않는 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(N.C)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인 경우에도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사용하지 않는 입력 핀은 특성에 따라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Pull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up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또는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Pull down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처리를 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모든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MCU, IC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대하여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Gerber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사진 첨부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핀 쇼트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불량 방지 및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EMC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특성 강화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6" name="직사각형 75"/>
          <p:cNvSpPr/>
          <p:nvPr/>
        </p:nvSpPr>
        <p:spPr>
          <a:xfrm>
            <a:off x="4085628" y="6153299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7019114" y="6153300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482866" y="2852937"/>
            <a:ext cx="3301190" cy="3282810"/>
            <a:chOff x="482866" y="2852937"/>
            <a:chExt cx="3301190" cy="3282810"/>
          </a:xfrm>
        </p:grpSpPr>
        <p:pic>
          <p:nvPicPr>
            <p:cNvPr id="23" name="Picture 111" descr="gnd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106" y="3126383"/>
              <a:ext cx="1667209" cy="1450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그룹 6"/>
            <p:cNvGrpSpPr/>
            <p:nvPr/>
          </p:nvGrpSpPr>
          <p:grpSpPr>
            <a:xfrm>
              <a:off x="818931" y="4692828"/>
              <a:ext cx="1117182" cy="1165705"/>
              <a:chOff x="632520" y="4701540"/>
              <a:chExt cx="1097866" cy="1214921"/>
            </a:xfrm>
          </p:grpSpPr>
          <p:sp>
            <p:nvSpPr>
              <p:cNvPr id="34" name="Line 177"/>
              <p:cNvSpPr>
                <a:spLocks noChangeShapeType="1"/>
              </p:cNvSpPr>
              <p:nvPr/>
            </p:nvSpPr>
            <p:spPr bwMode="auto">
              <a:xfrm flipV="1">
                <a:off x="744563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5" name="Line 178"/>
              <p:cNvSpPr>
                <a:spLocks noChangeShapeType="1"/>
              </p:cNvSpPr>
              <p:nvPr/>
            </p:nvSpPr>
            <p:spPr bwMode="auto">
              <a:xfrm flipV="1">
                <a:off x="923511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6" name="Line 179"/>
              <p:cNvSpPr>
                <a:spLocks noChangeShapeType="1"/>
              </p:cNvSpPr>
              <p:nvPr/>
            </p:nvSpPr>
            <p:spPr bwMode="auto">
              <a:xfrm flipV="1">
                <a:off x="1094398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0" name="Line 183"/>
              <p:cNvSpPr>
                <a:spLocks noChangeShapeType="1"/>
              </p:cNvSpPr>
              <p:nvPr/>
            </p:nvSpPr>
            <p:spPr bwMode="auto">
              <a:xfrm flipV="1">
                <a:off x="1262926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1" name="Line 184"/>
              <p:cNvSpPr>
                <a:spLocks noChangeShapeType="1"/>
              </p:cNvSpPr>
              <p:nvPr/>
            </p:nvSpPr>
            <p:spPr bwMode="auto">
              <a:xfrm flipV="1">
                <a:off x="1425632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3" name="Line 186"/>
              <p:cNvSpPr>
                <a:spLocks noChangeShapeType="1"/>
              </p:cNvSpPr>
              <p:nvPr/>
            </p:nvSpPr>
            <p:spPr bwMode="auto">
              <a:xfrm flipV="1">
                <a:off x="1598129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0" name="Rectangle 173"/>
              <p:cNvSpPr>
                <a:spLocks noChangeArrowheads="1"/>
              </p:cNvSpPr>
              <p:nvPr/>
            </p:nvSpPr>
            <p:spPr bwMode="auto">
              <a:xfrm rot="16200000">
                <a:off x="655035" y="4951846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0" name="Rectangle 173"/>
              <p:cNvSpPr>
                <a:spLocks noChangeArrowheads="1"/>
              </p:cNvSpPr>
              <p:nvPr/>
            </p:nvSpPr>
            <p:spPr bwMode="auto">
              <a:xfrm rot="16200000">
                <a:off x="829380" y="4951869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1" name="Rectangle 173"/>
              <p:cNvSpPr>
                <a:spLocks noChangeArrowheads="1"/>
              </p:cNvSpPr>
              <p:nvPr/>
            </p:nvSpPr>
            <p:spPr bwMode="auto">
              <a:xfrm rot="16200000">
                <a:off x="1010569" y="495916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2" name="Rectangle 173"/>
              <p:cNvSpPr>
                <a:spLocks noChangeArrowheads="1"/>
              </p:cNvSpPr>
              <p:nvPr/>
            </p:nvSpPr>
            <p:spPr bwMode="auto">
              <a:xfrm rot="16200000">
                <a:off x="1184914" y="4959184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Rectangle 173"/>
              <p:cNvSpPr>
                <a:spLocks noChangeArrowheads="1"/>
              </p:cNvSpPr>
              <p:nvPr/>
            </p:nvSpPr>
            <p:spPr bwMode="auto">
              <a:xfrm rot="16200000">
                <a:off x="1340287" y="495916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4" name="Rectangle 173"/>
              <p:cNvSpPr>
                <a:spLocks noChangeArrowheads="1"/>
              </p:cNvSpPr>
              <p:nvPr/>
            </p:nvSpPr>
            <p:spPr bwMode="auto">
              <a:xfrm rot="16200000">
                <a:off x="1514632" y="4959184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5" name="Line 177"/>
              <p:cNvSpPr>
                <a:spLocks noChangeShapeType="1"/>
              </p:cNvSpPr>
              <p:nvPr/>
            </p:nvSpPr>
            <p:spPr bwMode="auto">
              <a:xfrm flipV="1">
                <a:off x="737003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6" name="Line 178"/>
              <p:cNvSpPr>
                <a:spLocks noChangeShapeType="1"/>
              </p:cNvSpPr>
              <p:nvPr/>
            </p:nvSpPr>
            <p:spPr bwMode="auto">
              <a:xfrm flipV="1">
                <a:off x="915951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7" name="Line 179"/>
              <p:cNvSpPr>
                <a:spLocks noChangeShapeType="1"/>
              </p:cNvSpPr>
              <p:nvPr/>
            </p:nvSpPr>
            <p:spPr bwMode="auto">
              <a:xfrm flipV="1">
                <a:off x="1086838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8" name="Line 183"/>
              <p:cNvSpPr>
                <a:spLocks noChangeShapeType="1"/>
              </p:cNvSpPr>
              <p:nvPr/>
            </p:nvSpPr>
            <p:spPr bwMode="auto">
              <a:xfrm flipV="1">
                <a:off x="1255366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9" name="Line 184"/>
              <p:cNvSpPr>
                <a:spLocks noChangeShapeType="1"/>
              </p:cNvSpPr>
              <p:nvPr/>
            </p:nvSpPr>
            <p:spPr bwMode="auto">
              <a:xfrm flipV="1">
                <a:off x="1418072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0" name="Line 186"/>
              <p:cNvSpPr>
                <a:spLocks noChangeShapeType="1"/>
              </p:cNvSpPr>
              <p:nvPr/>
            </p:nvSpPr>
            <p:spPr bwMode="auto">
              <a:xfrm flipV="1">
                <a:off x="1590569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1" name="Rectangle 173"/>
              <p:cNvSpPr>
                <a:spLocks noChangeArrowheads="1"/>
              </p:cNvSpPr>
              <p:nvPr/>
            </p:nvSpPr>
            <p:spPr bwMode="auto">
              <a:xfrm rot="16200000">
                <a:off x="650529" y="5599918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4" name="Rectangle 173"/>
              <p:cNvSpPr>
                <a:spLocks noChangeArrowheads="1"/>
              </p:cNvSpPr>
              <p:nvPr/>
            </p:nvSpPr>
            <p:spPr bwMode="auto">
              <a:xfrm rot="16200000">
                <a:off x="824874" y="559994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5" name="Rectangle 173"/>
              <p:cNvSpPr>
                <a:spLocks noChangeArrowheads="1"/>
              </p:cNvSpPr>
              <p:nvPr/>
            </p:nvSpPr>
            <p:spPr bwMode="auto">
              <a:xfrm rot="16200000">
                <a:off x="1006063" y="5607233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6" name="Rectangle 173"/>
              <p:cNvSpPr>
                <a:spLocks noChangeArrowheads="1"/>
              </p:cNvSpPr>
              <p:nvPr/>
            </p:nvSpPr>
            <p:spPr bwMode="auto">
              <a:xfrm rot="16200000">
                <a:off x="1180408" y="5607256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7" name="Rectangle 173"/>
              <p:cNvSpPr>
                <a:spLocks noChangeArrowheads="1"/>
              </p:cNvSpPr>
              <p:nvPr/>
            </p:nvSpPr>
            <p:spPr bwMode="auto">
              <a:xfrm rot="16200000">
                <a:off x="1335781" y="5607233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8" name="Rectangle 173"/>
              <p:cNvSpPr>
                <a:spLocks noChangeArrowheads="1"/>
              </p:cNvSpPr>
              <p:nvPr/>
            </p:nvSpPr>
            <p:spPr bwMode="auto">
              <a:xfrm rot="16200000">
                <a:off x="1510126" y="5607256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" name="직사각형 4"/>
              <p:cNvSpPr/>
              <p:nvPr/>
            </p:nvSpPr>
            <p:spPr>
              <a:xfrm>
                <a:off x="709035" y="5187998"/>
                <a:ext cx="931597" cy="256616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9" name="Line 186"/>
              <p:cNvSpPr>
                <a:spLocks noChangeShapeType="1"/>
              </p:cNvSpPr>
              <p:nvPr/>
            </p:nvSpPr>
            <p:spPr bwMode="auto">
              <a:xfrm flipV="1">
                <a:off x="1597884" y="5059483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4" name="Rectangle 187"/>
              <p:cNvSpPr>
                <a:spLocks noChangeArrowheads="1"/>
              </p:cNvSpPr>
              <p:nvPr/>
            </p:nvSpPr>
            <p:spPr bwMode="auto">
              <a:xfrm rot="5400000">
                <a:off x="692948" y="4776556"/>
                <a:ext cx="977010" cy="1097866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100" name="그룹 99"/>
            <p:cNvGrpSpPr/>
            <p:nvPr/>
          </p:nvGrpSpPr>
          <p:grpSpPr>
            <a:xfrm>
              <a:off x="2577529" y="4694420"/>
              <a:ext cx="1117182" cy="1165705"/>
              <a:chOff x="632520" y="4701540"/>
              <a:chExt cx="1097866" cy="1214921"/>
            </a:xfrm>
          </p:grpSpPr>
          <p:sp>
            <p:nvSpPr>
              <p:cNvPr id="101" name="Line 177"/>
              <p:cNvSpPr>
                <a:spLocks noChangeShapeType="1"/>
              </p:cNvSpPr>
              <p:nvPr/>
            </p:nvSpPr>
            <p:spPr bwMode="auto">
              <a:xfrm flipV="1">
                <a:off x="744563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2" name="Line 178"/>
              <p:cNvSpPr>
                <a:spLocks noChangeShapeType="1"/>
              </p:cNvSpPr>
              <p:nvPr/>
            </p:nvSpPr>
            <p:spPr bwMode="auto">
              <a:xfrm flipV="1">
                <a:off x="923511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3" name="Line 179"/>
              <p:cNvSpPr>
                <a:spLocks noChangeShapeType="1"/>
              </p:cNvSpPr>
              <p:nvPr/>
            </p:nvSpPr>
            <p:spPr bwMode="auto">
              <a:xfrm flipV="1">
                <a:off x="1094398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4" name="Line 183"/>
              <p:cNvSpPr>
                <a:spLocks noChangeShapeType="1"/>
              </p:cNvSpPr>
              <p:nvPr/>
            </p:nvSpPr>
            <p:spPr bwMode="auto">
              <a:xfrm flipV="1">
                <a:off x="1262926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5" name="Line 184"/>
              <p:cNvSpPr>
                <a:spLocks noChangeShapeType="1"/>
              </p:cNvSpPr>
              <p:nvPr/>
            </p:nvSpPr>
            <p:spPr bwMode="auto">
              <a:xfrm flipV="1">
                <a:off x="1425632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6" name="Line 186"/>
              <p:cNvSpPr>
                <a:spLocks noChangeShapeType="1"/>
              </p:cNvSpPr>
              <p:nvPr/>
            </p:nvSpPr>
            <p:spPr bwMode="auto">
              <a:xfrm flipV="1">
                <a:off x="1598129" y="4701540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7" name="Rectangle 173"/>
              <p:cNvSpPr>
                <a:spLocks noChangeArrowheads="1"/>
              </p:cNvSpPr>
              <p:nvPr/>
            </p:nvSpPr>
            <p:spPr bwMode="auto">
              <a:xfrm rot="16200000">
                <a:off x="655035" y="4951846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8" name="Rectangle 173"/>
              <p:cNvSpPr>
                <a:spLocks noChangeArrowheads="1"/>
              </p:cNvSpPr>
              <p:nvPr/>
            </p:nvSpPr>
            <p:spPr bwMode="auto">
              <a:xfrm rot="16200000">
                <a:off x="829380" y="4951869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4" name="Rectangle 173"/>
              <p:cNvSpPr>
                <a:spLocks noChangeArrowheads="1"/>
              </p:cNvSpPr>
              <p:nvPr/>
            </p:nvSpPr>
            <p:spPr bwMode="auto">
              <a:xfrm rot="16200000">
                <a:off x="1010569" y="495916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5" name="Rectangle 173"/>
              <p:cNvSpPr>
                <a:spLocks noChangeArrowheads="1"/>
              </p:cNvSpPr>
              <p:nvPr/>
            </p:nvSpPr>
            <p:spPr bwMode="auto">
              <a:xfrm rot="16200000">
                <a:off x="1184914" y="4959184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6" name="Rectangle 173"/>
              <p:cNvSpPr>
                <a:spLocks noChangeArrowheads="1"/>
              </p:cNvSpPr>
              <p:nvPr/>
            </p:nvSpPr>
            <p:spPr bwMode="auto">
              <a:xfrm rot="16200000">
                <a:off x="1340287" y="495916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7" name="Rectangle 173"/>
              <p:cNvSpPr>
                <a:spLocks noChangeArrowheads="1"/>
              </p:cNvSpPr>
              <p:nvPr/>
            </p:nvSpPr>
            <p:spPr bwMode="auto">
              <a:xfrm rot="16200000">
                <a:off x="1514632" y="4959184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8" name="Line 177"/>
              <p:cNvSpPr>
                <a:spLocks noChangeShapeType="1"/>
              </p:cNvSpPr>
              <p:nvPr/>
            </p:nvSpPr>
            <p:spPr bwMode="auto">
              <a:xfrm flipV="1">
                <a:off x="737003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9" name="Line 178"/>
              <p:cNvSpPr>
                <a:spLocks noChangeShapeType="1"/>
              </p:cNvSpPr>
              <p:nvPr/>
            </p:nvSpPr>
            <p:spPr bwMode="auto">
              <a:xfrm flipV="1">
                <a:off x="915951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0" name="Line 179"/>
              <p:cNvSpPr>
                <a:spLocks noChangeShapeType="1"/>
              </p:cNvSpPr>
              <p:nvPr/>
            </p:nvSpPr>
            <p:spPr bwMode="auto">
              <a:xfrm flipV="1">
                <a:off x="1086838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3" name="Line 186"/>
              <p:cNvSpPr>
                <a:spLocks noChangeShapeType="1"/>
              </p:cNvSpPr>
              <p:nvPr/>
            </p:nvSpPr>
            <p:spPr bwMode="auto">
              <a:xfrm flipV="1">
                <a:off x="1590569" y="5711311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4" name="Rectangle 173"/>
              <p:cNvSpPr>
                <a:spLocks noChangeArrowheads="1"/>
              </p:cNvSpPr>
              <p:nvPr/>
            </p:nvSpPr>
            <p:spPr bwMode="auto">
              <a:xfrm rot="16200000">
                <a:off x="650529" y="5599918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5" name="Rectangle 173"/>
              <p:cNvSpPr>
                <a:spLocks noChangeArrowheads="1"/>
              </p:cNvSpPr>
              <p:nvPr/>
            </p:nvSpPr>
            <p:spPr bwMode="auto">
              <a:xfrm rot="16200000">
                <a:off x="824874" y="5599941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6" name="Rectangle 173"/>
              <p:cNvSpPr>
                <a:spLocks noChangeArrowheads="1"/>
              </p:cNvSpPr>
              <p:nvPr/>
            </p:nvSpPr>
            <p:spPr bwMode="auto">
              <a:xfrm rot="16200000">
                <a:off x="1006063" y="5607233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7" name="Rectangle 173"/>
              <p:cNvSpPr>
                <a:spLocks noChangeArrowheads="1"/>
              </p:cNvSpPr>
              <p:nvPr/>
            </p:nvSpPr>
            <p:spPr bwMode="auto">
              <a:xfrm rot="16200000">
                <a:off x="1180408" y="5607256"/>
                <a:ext cx="180000" cy="72000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75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8" name="Rectangle 173"/>
              <p:cNvSpPr>
                <a:spLocks noChangeArrowheads="1"/>
              </p:cNvSpPr>
              <p:nvPr/>
            </p:nvSpPr>
            <p:spPr bwMode="auto">
              <a:xfrm rot="16200000">
                <a:off x="1335781" y="5607233"/>
                <a:ext cx="180000" cy="72000"/>
              </a:xfrm>
              <a:prstGeom prst="rect">
                <a:avLst/>
              </a:prstGeom>
              <a:noFill/>
              <a:ln w="22225">
                <a:solidFill>
                  <a:schemeClr val="bg1">
                    <a:lumMod val="75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9" name="Rectangle 173"/>
              <p:cNvSpPr>
                <a:spLocks noChangeArrowheads="1"/>
              </p:cNvSpPr>
              <p:nvPr/>
            </p:nvSpPr>
            <p:spPr bwMode="auto">
              <a:xfrm rot="16200000">
                <a:off x="1510126" y="5607256"/>
                <a:ext cx="180000" cy="7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22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40" name="직사각형 139"/>
              <p:cNvSpPr/>
              <p:nvPr/>
            </p:nvSpPr>
            <p:spPr>
              <a:xfrm>
                <a:off x="1394286" y="5187998"/>
                <a:ext cx="246345" cy="256616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41" name="Line 186"/>
              <p:cNvSpPr>
                <a:spLocks noChangeShapeType="1"/>
              </p:cNvSpPr>
              <p:nvPr/>
            </p:nvSpPr>
            <p:spPr bwMode="auto">
              <a:xfrm flipV="1">
                <a:off x="1597884" y="5059483"/>
                <a:ext cx="0" cy="205150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42" name="Rectangle 187"/>
              <p:cNvSpPr>
                <a:spLocks noChangeArrowheads="1"/>
              </p:cNvSpPr>
              <p:nvPr/>
            </p:nvSpPr>
            <p:spPr bwMode="auto">
              <a:xfrm rot="5400000">
                <a:off x="692948" y="4776556"/>
                <a:ext cx="977010" cy="1097866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47" name="Text Box 193"/>
            <p:cNvSpPr txBox="1">
              <a:spLocks noChangeArrowheads="1"/>
            </p:cNvSpPr>
            <p:nvPr/>
          </p:nvSpPr>
          <p:spPr bwMode="auto">
            <a:xfrm>
              <a:off x="629702" y="5926061"/>
              <a:ext cx="1874554" cy="20968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 </a:t>
              </a:r>
              <a:r>
                <a:rPr lang="ko-KR" altLang="en-US" sz="1000" b="0" dirty="0" err="1">
                  <a:solidFill>
                    <a:srgbClr val="0000FF"/>
                  </a:solidFill>
                  <a:latin typeface="현대하모니 L"/>
                  <a:ea typeface="현대하모니 L"/>
                </a:rPr>
                <a:t>미사용핀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(N.C)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Land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설계</a:t>
              </a:r>
            </a:p>
          </p:txBody>
        </p:sp>
        <p:sp>
          <p:nvSpPr>
            <p:cNvPr id="48" name="Line 194"/>
            <p:cNvSpPr>
              <a:spLocks noChangeShapeType="1"/>
            </p:cNvSpPr>
            <p:nvPr/>
          </p:nvSpPr>
          <p:spPr bwMode="auto">
            <a:xfrm flipV="1">
              <a:off x="1357640" y="5570008"/>
              <a:ext cx="116548" cy="37134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1" name="Line 194"/>
            <p:cNvSpPr>
              <a:spLocks noChangeShapeType="1"/>
            </p:cNvSpPr>
            <p:nvPr/>
          </p:nvSpPr>
          <p:spPr bwMode="auto">
            <a:xfrm flipV="1">
              <a:off x="1509261" y="5561625"/>
              <a:ext cx="115694" cy="37972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43" name="Text Box 193"/>
            <p:cNvSpPr txBox="1">
              <a:spLocks noChangeArrowheads="1"/>
            </p:cNvSpPr>
            <p:nvPr/>
          </p:nvSpPr>
          <p:spPr bwMode="auto">
            <a:xfrm>
              <a:off x="2801938" y="5909005"/>
              <a:ext cx="874715" cy="20968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Land </a:t>
              </a:r>
              <a:r>
                <a:rPr lang="ko-KR" altLang="en-US" sz="1000" b="0" dirty="0" err="1">
                  <a:solidFill>
                    <a:srgbClr val="FF0000"/>
                  </a:solidFill>
                  <a:latin typeface="현대하모니 L"/>
                  <a:ea typeface="현대하모니 L"/>
                </a:rPr>
                <a:t>미설계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44" name="Line 194"/>
            <p:cNvSpPr>
              <a:spLocks noChangeShapeType="1"/>
            </p:cNvSpPr>
            <p:nvPr/>
          </p:nvSpPr>
          <p:spPr bwMode="auto">
            <a:xfrm flipV="1">
              <a:off x="3116239" y="5552951"/>
              <a:ext cx="116548" cy="371343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45" name="Line 194"/>
            <p:cNvSpPr>
              <a:spLocks noChangeShapeType="1"/>
            </p:cNvSpPr>
            <p:nvPr/>
          </p:nvSpPr>
          <p:spPr bwMode="auto">
            <a:xfrm flipV="1">
              <a:off x="3267859" y="5544568"/>
              <a:ext cx="115694" cy="37972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75046" y="4923306"/>
              <a:ext cx="3994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0" dirty="0">
                  <a:latin typeface="현대하모니 L"/>
                  <a:ea typeface="현대하모니 L"/>
                </a:rPr>
                <a:t>GND</a:t>
              </a:r>
              <a:endParaRPr lang="ko-KR" altLang="en-US" sz="800" b="0" dirty="0" err="1">
                <a:latin typeface="현대하모니 L"/>
                <a:ea typeface="현대하모니 L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3384588" y="4922749"/>
              <a:ext cx="39946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0" dirty="0">
                  <a:latin typeface="현대하모니 L"/>
                  <a:ea typeface="현대하모니 L"/>
                </a:rPr>
                <a:t>GND</a:t>
              </a:r>
              <a:endParaRPr lang="ko-KR" altLang="en-US" sz="800" b="0" dirty="0" err="1">
                <a:latin typeface="현대하모니 L"/>
                <a:ea typeface="현대하모니 L"/>
              </a:endParaRPr>
            </a:p>
          </p:txBody>
        </p:sp>
        <p:sp>
          <p:nvSpPr>
            <p:cNvPr id="147" name="Text Box 92"/>
            <p:cNvSpPr txBox="1">
              <a:spLocks noChangeArrowheads="1"/>
            </p:cNvSpPr>
            <p:nvPr/>
          </p:nvSpPr>
          <p:spPr bwMode="auto">
            <a:xfrm>
              <a:off x="1083133" y="2852937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148" name="Text Box 93"/>
            <p:cNvSpPr txBox="1">
              <a:spLocks noChangeArrowheads="1"/>
            </p:cNvSpPr>
            <p:nvPr/>
          </p:nvSpPr>
          <p:spPr bwMode="auto">
            <a:xfrm>
              <a:off x="2764959" y="4233918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82866" y="3326795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086" y="3402321"/>
            <a:ext cx="1181484" cy="11749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780" y="3402321"/>
            <a:ext cx="1149142" cy="1180305"/>
          </a:xfrm>
          <a:prstGeom prst="rect">
            <a:avLst/>
          </a:prstGeom>
        </p:spPr>
      </p:pic>
      <p:sp>
        <p:nvSpPr>
          <p:cNvPr id="78" name="직사각형 77"/>
          <p:cNvSpPr/>
          <p:nvPr/>
        </p:nvSpPr>
        <p:spPr>
          <a:xfrm>
            <a:off x="4421859" y="4577294"/>
            <a:ext cx="48347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MCU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765185" y="4577295"/>
            <a:ext cx="4640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LDO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412578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93049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[5]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발진소자 주변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발진 관련 소자 주위에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Guard GND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Guard GND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MCU GND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직접 연결하였는가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Guard GND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발진소자의 동작과 무관한 소자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회로의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GND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분리되었는가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발진관련 소자는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MCU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최대한 가깝게 배치하였는가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발진관련 소자 사이로 다른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신호선이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지나지 않는가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내층 포함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6)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발진소자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MCU (IC),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등 발진 관련 부품은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동일면에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설계하였는가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7)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발진소자 제조사에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Matching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Test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의뢰하여 주파수 및 발진 </a:t>
                      </a:r>
                      <a:r>
                        <a:rPr lang="ko-KR" altLang="en-US" sz="10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여유도를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검증하고 반영하였는가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Matching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Test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결과 첨부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다수의 발진소자가 적용된 경우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모든 발진소자에 대하여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Gerber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사진 및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Matching Test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결과 첨부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방사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전도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노이즈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노이즈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커플링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차단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1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MCU (IC)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4016896" y="6262843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7040662" y="6262842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77" name="그룹 76"/>
          <p:cNvGrpSpPr/>
          <p:nvPr/>
        </p:nvGrpSpPr>
        <p:grpSpPr>
          <a:xfrm>
            <a:off x="466771" y="4221088"/>
            <a:ext cx="3197757" cy="1802216"/>
            <a:chOff x="466771" y="4221088"/>
            <a:chExt cx="3197757" cy="1802216"/>
          </a:xfrm>
        </p:grpSpPr>
        <p:pic>
          <p:nvPicPr>
            <p:cNvPr id="60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504728" y="4637298"/>
              <a:ext cx="1152128" cy="1343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2216696" y="4221088"/>
              <a:ext cx="14478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Guard GND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를 적용하여</a:t>
              </a:r>
              <a:endParaRPr lang="en-US" altLang="ko-KR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  <a:p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주변 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GND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와 분리</a:t>
              </a:r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>
              <a:off x="2792760" y="4581184"/>
              <a:ext cx="0" cy="504000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그룹 56"/>
            <p:cNvGrpSpPr/>
            <p:nvPr/>
          </p:nvGrpSpPr>
          <p:grpSpPr>
            <a:xfrm>
              <a:off x="466771" y="4293096"/>
              <a:ext cx="1605909" cy="1730208"/>
              <a:chOff x="-1815752" y="4363088"/>
              <a:chExt cx="1605909" cy="1730208"/>
            </a:xfrm>
          </p:grpSpPr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-1815752" y="4363088"/>
                <a:ext cx="1605909" cy="1730208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1" name="양쪽 모서리가 둥근 사각형 50"/>
              <p:cNvSpPr/>
              <p:nvPr/>
            </p:nvSpPr>
            <p:spPr>
              <a:xfrm>
                <a:off x="-1687320" y="4589611"/>
                <a:ext cx="1348537" cy="1173139"/>
              </a:xfrm>
              <a:prstGeom prst="round2SameRect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grpSp>
            <p:nvGrpSpPr>
              <p:cNvPr id="4" name="그룹 3"/>
              <p:cNvGrpSpPr/>
              <p:nvPr/>
            </p:nvGrpSpPr>
            <p:grpSpPr>
              <a:xfrm>
                <a:off x="-1671592" y="4720208"/>
                <a:ext cx="1296000" cy="1285816"/>
                <a:chOff x="766335" y="4471403"/>
                <a:chExt cx="1453257" cy="1417943"/>
              </a:xfrm>
            </p:grpSpPr>
            <p:sp>
              <p:nvSpPr>
                <p:cNvPr id="7" name="Rectangle 55"/>
                <p:cNvSpPr>
                  <a:spLocks noChangeArrowheads="1"/>
                </p:cNvSpPr>
                <p:nvPr/>
              </p:nvSpPr>
              <p:spPr bwMode="auto">
                <a:xfrm>
                  <a:off x="959101" y="4474150"/>
                  <a:ext cx="1067920" cy="892884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" name="Rectangle 56"/>
                <p:cNvSpPr>
                  <a:spLocks noChangeArrowheads="1"/>
                </p:cNvSpPr>
                <p:nvPr/>
              </p:nvSpPr>
              <p:spPr bwMode="auto">
                <a:xfrm>
                  <a:off x="1134494" y="4666464"/>
                  <a:ext cx="729863" cy="56320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" name="Rectangle 57"/>
                <p:cNvSpPr>
                  <a:spLocks noChangeArrowheads="1"/>
                </p:cNvSpPr>
                <p:nvPr/>
              </p:nvSpPr>
              <p:spPr bwMode="auto">
                <a:xfrm>
                  <a:off x="1134494" y="4571681"/>
                  <a:ext cx="169736" cy="1414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" name="Rectangle 58"/>
                <p:cNvSpPr>
                  <a:spLocks noChangeArrowheads="1"/>
                </p:cNvSpPr>
                <p:nvPr/>
              </p:nvSpPr>
              <p:spPr bwMode="auto">
                <a:xfrm>
                  <a:off x="1697450" y="4571681"/>
                  <a:ext cx="168321" cy="1414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1" name="AutoShape 59"/>
                <p:cNvSpPr>
                  <a:spLocks noChangeArrowheads="1"/>
                </p:cNvSpPr>
                <p:nvPr/>
              </p:nvSpPr>
              <p:spPr bwMode="auto">
                <a:xfrm>
                  <a:off x="1297157" y="4571681"/>
                  <a:ext cx="113157" cy="94784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2" name="AutoShape 60"/>
                <p:cNvSpPr>
                  <a:spLocks noChangeArrowheads="1"/>
                </p:cNvSpPr>
                <p:nvPr/>
              </p:nvSpPr>
              <p:spPr bwMode="auto">
                <a:xfrm flipH="1">
                  <a:off x="1584293" y="4571681"/>
                  <a:ext cx="118815" cy="94784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3" name="AutoShape 61"/>
                <p:cNvSpPr>
                  <a:spLocks noChangeArrowheads="1"/>
                </p:cNvSpPr>
                <p:nvPr/>
              </p:nvSpPr>
              <p:spPr bwMode="auto">
                <a:xfrm>
                  <a:off x="1004363" y="4948066"/>
                  <a:ext cx="281478" cy="281602"/>
                </a:xfrm>
                <a:prstGeom prst="rtTriangle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4" name="AutoShape 62"/>
                <p:cNvSpPr>
                  <a:spLocks noChangeArrowheads="1"/>
                </p:cNvSpPr>
                <p:nvPr/>
              </p:nvSpPr>
              <p:spPr bwMode="auto">
                <a:xfrm flipH="1">
                  <a:off x="1697450" y="4948066"/>
                  <a:ext cx="280064" cy="281602"/>
                </a:xfrm>
                <a:prstGeom prst="rtTriangle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5" name="AutoShape 63"/>
                <p:cNvSpPr>
                  <a:spLocks noChangeArrowheads="1"/>
                </p:cNvSpPr>
                <p:nvPr/>
              </p:nvSpPr>
              <p:spPr bwMode="auto">
                <a:xfrm>
                  <a:off x="901108" y="5003013"/>
                  <a:ext cx="393221" cy="376385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6" name="AutoShape 64"/>
                <p:cNvSpPr>
                  <a:spLocks noChangeArrowheads="1"/>
                </p:cNvSpPr>
                <p:nvPr/>
              </p:nvSpPr>
              <p:spPr bwMode="auto">
                <a:xfrm flipH="1">
                  <a:off x="1734226" y="4899987"/>
                  <a:ext cx="449800" cy="471169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7" name="Rectangle 65"/>
                <p:cNvSpPr>
                  <a:spLocks noChangeArrowheads="1"/>
                </p:cNvSpPr>
                <p:nvPr/>
              </p:nvSpPr>
              <p:spPr bwMode="auto">
                <a:xfrm>
                  <a:off x="1222191" y="5181590"/>
                  <a:ext cx="513450" cy="2829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8" name="Rectangle 66"/>
                <p:cNvSpPr>
                  <a:spLocks noChangeArrowheads="1"/>
                </p:cNvSpPr>
                <p:nvPr/>
              </p:nvSpPr>
              <p:spPr bwMode="auto">
                <a:xfrm>
                  <a:off x="1737055" y="5240657"/>
                  <a:ext cx="56579" cy="281602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9" name="Line 67"/>
                <p:cNvSpPr>
                  <a:spLocks noChangeShapeType="1"/>
                </p:cNvSpPr>
                <p:nvPr/>
              </p:nvSpPr>
              <p:spPr bwMode="auto">
                <a:xfrm>
                  <a:off x="1203803" y="5016750"/>
                  <a:ext cx="224899" cy="233524"/>
                </a:xfrm>
                <a:prstGeom prst="line">
                  <a:avLst/>
                </a:prstGeom>
                <a:noFill/>
                <a:ln w="76200">
                  <a:solidFill>
                    <a:srgbClr val="00CC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0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1411728" y="5224173"/>
                  <a:ext cx="0" cy="281602"/>
                </a:xfrm>
                <a:prstGeom prst="line">
                  <a:avLst/>
                </a:prstGeom>
                <a:noFill/>
                <a:ln w="76200">
                  <a:solidFill>
                    <a:srgbClr val="00CC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1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1584293" y="5229668"/>
                  <a:ext cx="0" cy="281602"/>
                </a:xfrm>
                <a:prstGeom prst="line">
                  <a:avLst/>
                </a:prstGeom>
                <a:noFill/>
                <a:ln w="76200">
                  <a:solidFill>
                    <a:srgbClr val="00CC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2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1584293" y="4987902"/>
                  <a:ext cx="227728" cy="256876"/>
                </a:xfrm>
                <a:prstGeom prst="line">
                  <a:avLst/>
                </a:prstGeom>
                <a:noFill/>
                <a:ln w="76200">
                  <a:solidFill>
                    <a:srgbClr val="00CC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3" name="AutoShape 71"/>
                <p:cNvSpPr>
                  <a:spLocks noChangeArrowheads="1"/>
                </p:cNvSpPr>
                <p:nvPr/>
              </p:nvSpPr>
              <p:spPr bwMode="auto">
                <a:xfrm flipV="1">
                  <a:off x="903937" y="4471403"/>
                  <a:ext cx="168321" cy="14148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4" name="AutoShape 72"/>
                <p:cNvSpPr>
                  <a:spLocks noChangeArrowheads="1"/>
                </p:cNvSpPr>
                <p:nvPr/>
              </p:nvSpPr>
              <p:spPr bwMode="auto">
                <a:xfrm flipH="1" flipV="1">
                  <a:off x="1920935" y="4471403"/>
                  <a:ext cx="168321" cy="141488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5" name="Rectangle 73"/>
                <p:cNvSpPr>
                  <a:spLocks noChangeArrowheads="1"/>
                </p:cNvSpPr>
                <p:nvPr/>
              </p:nvSpPr>
              <p:spPr bwMode="auto">
                <a:xfrm>
                  <a:off x="1408900" y="4612891"/>
                  <a:ext cx="169736" cy="469794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grpSp>
              <p:nvGrpSpPr>
                <p:cNvPr id="26" name="Group 74"/>
                <p:cNvGrpSpPr>
                  <a:grpSpLocks/>
                </p:cNvGrpSpPr>
                <p:nvPr/>
              </p:nvGrpSpPr>
              <p:grpSpPr bwMode="auto">
                <a:xfrm>
                  <a:off x="1069429" y="4601902"/>
                  <a:ext cx="843019" cy="423090"/>
                  <a:chOff x="3050" y="3702"/>
                  <a:chExt cx="681" cy="408"/>
                </a:xfrm>
              </p:grpSpPr>
              <p:sp>
                <p:nvSpPr>
                  <p:cNvPr id="44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573" y="3702"/>
                    <a:ext cx="91" cy="408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algn="ctr">
                    <a:solidFill>
                      <a:srgbClr val="5F5F5F"/>
                    </a:solidFill>
                    <a:miter lim="800000"/>
                    <a:headEnd/>
                    <a:tailEnd/>
                  </a:ln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5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347" y="3702"/>
                    <a:ext cx="91" cy="408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algn="ctr">
                    <a:solidFill>
                      <a:srgbClr val="5F5F5F"/>
                    </a:solidFill>
                    <a:miter lim="800000"/>
                    <a:headEnd/>
                    <a:tailEnd/>
                  </a:ln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6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3702"/>
                    <a:ext cx="91" cy="408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algn="ctr">
                    <a:solidFill>
                      <a:srgbClr val="5F5F5F"/>
                    </a:solidFill>
                    <a:miter lim="800000"/>
                    <a:headEnd/>
                    <a:tailEnd/>
                  </a:ln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7" name="AutoShape 78"/>
                  <p:cNvSpPr>
                    <a:spLocks noChangeArrowheads="1"/>
                  </p:cNvSpPr>
                  <p:nvPr/>
                </p:nvSpPr>
                <p:spPr bwMode="auto">
                  <a:xfrm>
                    <a:off x="3050" y="3793"/>
                    <a:ext cx="681" cy="227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9900"/>
                  </a:solidFill>
                  <a:ln w="12700" algn="ctr">
                    <a:solidFill>
                      <a:srgbClr val="5F5F5F"/>
                    </a:solidFill>
                    <a:round/>
                    <a:headEnd/>
                    <a:tailEnd/>
                  </a:ln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8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8" y="3815"/>
                    <a:ext cx="45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55258" tIns="27629" rIns="55258" bIns="27629">
                    <a:spAutoFit/>
                  </a:bodyPr>
                  <a:lstStyle>
                    <a:lvl1pPr defTabSz="958850" eaLnBrk="0" hangingPunct="0"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1pPr>
                    <a:lvl2pPr marL="742950" indent="-285750" defTabSz="958850" eaLnBrk="0" hangingPunct="0"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2pPr>
                    <a:lvl3pPr marL="1143000" indent="-228600" defTabSz="958850" eaLnBrk="0" hangingPunct="0"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3pPr>
                    <a:lvl4pPr marL="1600200" indent="-228600" defTabSz="958850" eaLnBrk="0" hangingPunct="0"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4pPr>
                    <a:lvl5pPr marL="2057400" indent="-228600" defTabSz="958850" eaLnBrk="0" hangingPunct="0"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5pPr>
                    <a:lvl6pPr marL="2514600" indent="-228600" defTabSz="95885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6pPr>
                    <a:lvl7pPr marL="2971800" indent="-228600" defTabSz="95885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7pPr>
                    <a:lvl8pPr marL="3429000" indent="-228600" defTabSz="95885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8pPr>
                    <a:lvl9pPr marL="3886200" indent="-228600" defTabSz="95885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9pPr>
                  </a:lstStyle>
                  <a:p>
                    <a:pPr algn="ctr" eaLnBrk="1" fontAlgn="ctr" hangingPunct="1">
                      <a:spcBef>
                        <a:spcPct val="50000"/>
                      </a:spcBef>
                    </a:pPr>
                    <a:endParaRPr lang="ko-KR" altLang="ko-KR" sz="1400" b="0">
                      <a:solidFill>
                        <a:srgbClr val="5F5F5F"/>
                      </a:solidFill>
                      <a:latin typeface="현대하모니 L"/>
                      <a:ea typeface="현대하모니 L"/>
                    </a:endParaRPr>
                  </a:p>
                </p:txBody>
              </p:sp>
            </p:grpSp>
            <p:sp>
              <p:nvSpPr>
                <p:cNvPr id="27" name="Rectangle 80"/>
                <p:cNvSpPr>
                  <a:spLocks noChangeArrowheads="1"/>
                </p:cNvSpPr>
                <p:nvPr/>
              </p:nvSpPr>
              <p:spPr bwMode="auto">
                <a:xfrm rot="16200000">
                  <a:off x="1328406" y="5485892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8" name="Rectangle 81"/>
                <p:cNvSpPr>
                  <a:spLocks noChangeArrowheads="1"/>
                </p:cNvSpPr>
                <p:nvPr/>
              </p:nvSpPr>
              <p:spPr bwMode="auto">
                <a:xfrm rot="16200000">
                  <a:off x="1114822" y="5481772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29" name="Rectangle 82"/>
                <p:cNvSpPr>
                  <a:spLocks noChangeArrowheads="1"/>
                </p:cNvSpPr>
                <p:nvPr/>
              </p:nvSpPr>
              <p:spPr bwMode="auto">
                <a:xfrm rot="16200000">
                  <a:off x="1690508" y="5485892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0" name="Rectangle 83"/>
                <p:cNvSpPr>
                  <a:spLocks noChangeArrowheads="1"/>
                </p:cNvSpPr>
                <p:nvPr/>
              </p:nvSpPr>
              <p:spPr bwMode="auto">
                <a:xfrm rot="16200000">
                  <a:off x="935185" y="5484519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1" name="Rectangle 84"/>
                <p:cNvSpPr>
                  <a:spLocks noChangeArrowheads="1"/>
                </p:cNvSpPr>
                <p:nvPr/>
              </p:nvSpPr>
              <p:spPr bwMode="auto">
                <a:xfrm rot="16200000">
                  <a:off x="786667" y="5485892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2" name="Rectangle 85"/>
                <p:cNvSpPr>
                  <a:spLocks noChangeArrowheads="1"/>
                </p:cNvSpPr>
                <p:nvPr/>
              </p:nvSpPr>
              <p:spPr bwMode="auto">
                <a:xfrm rot="16200000">
                  <a:off x="2011592" y="5490014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3" name="Rectangle 86"/>
                <p:cNvSpPr>
                  <a:spLocks noChangeArrowheads="1"/>
                </p:cNvSpPr>
                <p:nvPr/>
              </p:nvSpPr>
              <p:spPr bwMode="auto">
                <a:xfrm rot="16200000">
                  <a:off x="1865902" y="5491387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grpSp>
              <p:nvGrpSpPr>
                <p:cNvPr id="34" name="Group 87"/>
                <p:cNvGrpSpPr>
                  <a:grpSpLocks/>
                </p:cNvGrpSpPr>
                <p:nvPr/>
              </p:nvGrpSpPr>
              <p:grpSpPr bwMode="auto">
                <a:xfrm>
                  <a:off x="1158540" y="5181590"/>
                  <a:ext cx="272991" cy="140114"/>
                  <a:chOff x="2622" y="3718"/>
                  <a:chExt cx="634" cy="318"/>
                </a:xfrm>
              </p:grpSpPr>
              <p:sp>
                <p:nvSpPr>
                  <p:cNvPr id="41" name="Rectangle 88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80" y="3560"/>
                    <a:ext cx="318" cy="634"/>
                  </a:xfrm>
                  <a:prstGeom prst="rect">
                    <a:avLst/>
                  </a:prstGeom>
                  <a:noFill/>
                  <a:ln w="28575" algn="ctr">
                    <a:solidFill>
                      <a:srgbClr val="5F5F5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2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2660" y="3757"/>
                    <a:ext cx="208" cy="250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3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029" y="3757"/>
                    <a:ext cx="208" cy="250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</p:grpSp>
            <p:sp>
              <p:nvSpPr>
                <p:cNvPr id="35" name="Rectangle 91"/>
                <p:cNvSpPr>
                  <a:spLocks noChangeArrowheads="1"/>
                </p:cNvSpPr>
                <p:nvPr/>
              </p:nvSpPr>
              <p:spPr bwMode="auto">
                <a:xfrm rot="16200000">
                  <a:off x="1508042" y="5490014"/>
                  <a:ext cx="155754" cy="6407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grpSp>
              <p:nvGrpSpPr>
                <p:cNvPr id="36" name="Group 92"/>
                <p:cNvGrpSpPr>
                  <a:grpSpLocks/>
                </p:cNvGrpSpPr>
                <p:nvPr/>
              </p:nvGrpSpPr>
              <p:grpSpPr bwMode="auto">
                <a:xfrm>
                  <a:off x="1543274" y="5181590"/>
                  <a:ext cx="272991" cy="140114"/>
                  <a:chOff x="2622" y="3718"/>
                  <a:chExt cx="634" cy="318"/>
                </a:xfrm>
              </p:grpSpPr>
              <p:sp>
                <p:nvSpPr>
                  <p:cNvPr id="38" name="Rectangle 93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780" y="3560"/>
                    <a:ext cx="318" cy="634"/>
                  </a:xfrm>
                  <a:prstGeom prst="rect">
                    <a:avLst/>
                  </a:prstGeom>
                  <a:noFill/>
                  <a:ln w="28575" algn="ctr">
                    <a:solidFill>
                      <a:srgbClr val="5F5F5F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9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2660" y="3757"/>
                    <a:ext cx="208" cy="250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0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3029" y="3757"/>
                    <a:ext cx="208" cy="250"/>
                  </a:xfrm>
                  <a:prstGeom prst="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b="0">
                      <a:latin typeface="현대하모니 L"/>
                      <a:ea typeface="현대하모니 L"/>
                    </a:endParaRPr>
                  </a:p>
                </p:txBody>
              </p:sp>
            </p:grpSp>
            <p:sp>
              <p:nvSpPr>
                <p:cNvPr id="58" name="TextBox 57"/>
                <p:cNvSpPr txBox="1"/>
                <p:nvPr/>
              </p:nvSpPr>
              <p:spPr>
                <a:xfrm>
                  <a:off x="1245096" y="4726205"/>
                  <a:ext cx="609716" cy="2375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b="0">
                      <a:latin typeface="현대하모니 L"/>
                      <a:ea typeface="현대하모니 L"/>
                    </a:rPr>
                    <a:t>발진소자</a:t>
                  </a:r>
                  <a:endParaRPr lang="ko-KR" altLang="en-US" sz="8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4" name="Rectangle 66"/>
                <p:cNvSpPr>
                  <a:spLocks noChangeArrowheads="1"/>
                </p:cNvSpPr>
                <p:nvPr/>
              </p:nvSpPr>
              <p:spPr bwMode="auto">
                <a:xfrm>
                  <a:off x="1741448" y="5590490"/>
                  <a:ext cx="56579" cy="281602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7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061729" y="5658113"/>
                  <a:ext cx="794928" cy="231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55258" tIns="27629" rIns="55258" bIns="27629">
                  <a:spAutoFit/>
                </a:bodyPr>
                <a:lstStyle>
                  <a:lvl1pPr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fontAlgn="ctr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5F5F5F"/>
                      </a:solidFill>
                      <a:latin typeface="현대하모니 L"/>
                      <a:ea typeface="현대하모니 L"/>
                    </a:rPr>
                    <a:t>MCU (IC)</a:t>
                  </a:r>
                </a:p>
              </p:txBody>
            </p:sp>
            <p:sp>
              <p:nvSpPr>
                <p:cNvPr id="56" name="직사각형 55"/>
                <p:cNvSpPr/>
                <p:nvPr/>
              </p:nvSpPr>
              <p:spPr>
                <a:xfrm>
                  <a:off x="766335" y="5585662"/>
                  <a:ext cx="1453257" cy="271522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</p:grpSp>
        </p:grpSp>
        <p:cxnSp>
          <p:nvCxnSpPr>
            <p:cNvPr id="72" name="직선 연결선 71"/>
            <p:cNvCxnSpPr/>
            <p:nvPr/>
          </p:nvCxnSpPr>
          <p:spPr>
            <a:xfrm flipH="1">
              <a:off x="2449070" y="4581128"/>
              <a:ext cx="0" cy="28800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/>
            <p:nvPr/>
          </p:nvCxnSpPr>
          <p:spPr>
            <a:xfrm flipH="1" flipV="1">
              <a:off x="1668460" y="4867344"/>
              <a:ext cx="780612" cy="1816"/>
            </a:xfrm>
            <a:prstGeom prst="straightConnector1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445" y="4945258"/>
            <a:ext cx="954344" cy="1034264"/>
          </a:xfrm>
          <a:prstGeom prst="rect">
            <a:avLst/>
          </a:prstGeom>
        </p:spPr>
      </p:pic>
      <p:sp>
        <p:nvSpPr>
          <p:cNvPr id="63" name="직사각형 62"/>
          <p:cNvSpPr/>
          <p:nvPr/>
        </p:nvSpPr>
        <p:spPr>
          <a:xfrm>
            <a:off x="5000748" y="5984956"/>
            <a:ext cx="58021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KX53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351781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MCU (IC)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90795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 err="1">
                          <a:latin typeface="현대하모니 L"/>
                          <a:ea typeface="현대하모니 L"/>
                        </a:rPr>
                        <a:t>디커플링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 err="1">
                          <a:latin typeface="현대하모니 L"/>
                          <a:ea typeface="현대하모니 L"/>
                        </a:rPr>
                        <a:t>커패시터</a:t>
                      </a:r>
                      <a:endParaRPr lang="ko-KR" altLang="en-US" sz="1200" b="1" strike="sngStrike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각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MCU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IC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전원 핀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별도의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디커플링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커패시터를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배치하였는가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전원 공급 핀이 복수일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각각의 핀에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디커플링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배치하였는가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디커플링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배치 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path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충분히 짧게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권장값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5mm)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디커플링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아래 권장안과 같은 전류 경로로 패턴을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커패시터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IC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전원핀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적용된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MCU, IC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각각에 대한 검토 자료 첨부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부품의 전원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GND,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디커플링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커패시터가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확인 가능하도록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Gerber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사진 첨부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핀 쇼트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불량 방지 및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EMC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특성 강화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4436418" y="4831261"/>
            <a:ext cx="5106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MCU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44488" y="3215142"/>
            <a:ext cx="3384376" cy="2906089"/>
            <a:chOff x="344488" y="3215142"/>
            <a:chExt cx="3384376" cy="2906089"/>
          </a:xfrm>
        </p:grpSpPr>
        <p:sp>
          <p:nvSpPr>
            <p:cNvPr id="161" name="Text Box 92"/>
            <p:cNvSpPr txBox="1">
              <a:spLocks noChangeArrowheads="1"/>
            </p:cNvSpPr>
            <p:nvPr/>
          </p:nvSpPr>
          <p:spPr bwMode="auto">
            <a:xfrm>
              <a:off x="895554" y="3215142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162" name="Text Box 93"/>
            <p:cNvSpPr txBox="1">
              <a:spLocks noChangeArrowheads="1"/>
            </p:cNvSpPr>
            <p:nvPr/>
          </p:nvSpPr>
          <p:spPr bwMode="auto">
            <a:xfrm>
              <a:off x="2547401" y="3215142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163738" y="4825087"/>
              <a:ext cx="1296144" cy="1296144"/>
              <a:chOff x="2163738" y="4869160"/>
              <a:chExt cx="1296144" cy="1296144"/>
            </a:xfrm>
          </p:grpSpPr>
          <p:grpSp>
            <p:nvGrpSpPr>
              <p:cNvPr id="175" name="그룹 14"/>
              <p:cNvGrpSpPr>
                <a:grpSpLocks/>
              </p:cNvGrpSpPr>
              <p:nvPr/>
            </p:nvGrpSpPr>
            <p:grpSpPr bwMode="auto">
              <a:xfrm>
                <a:off x="2163738" y="4869160"/>
                <a:ext cx="1296144" cy="1080120"/>
                <a:chOff x="3933879" y="2793056"/>
                <a:chExt cx="2171455" cy="1865571"/>
              </a:xfrm>
            </p:grpSpPr>
            <p:pic>
              <p:nvPicPr>
                <p:cNvPr id="176" name="그림 12"/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18" t="21130" r="6606"/>
                <a:stretch/>
              </p:blipFill>
              <p:spPr bwMode="auto">
                <a:xfrm rot="16200000">
                  <a:off x="4086821" y="2640114"/>
                  <a:ext cx="1865571" cy="21714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7" name="직사각형 176"/>
                <p:cNvSpPr/>
                <p:nvPr/>
              </p:nvSpPr>
              <p:spPr bwMode="auto">
                <a:xfrm>
                  <a:off x="4088650" y="3213020"/>
                  <a:ext cx="1079694" cy="1008084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50000"/>
                  </a:schemeClr>
                </a:solidFill>
                <a:ln w="19050" algn="ctr">
                  <a:solidFill>
                    <a:srgbClr val="FFFF00"/>
                  </a:solidFill>
                  <a:round/>
                  <a:headEnd/>
                  <a:tailEnd/>
                </a:ln>
              </p:spPr>
              <p:txBody>
                <a:bodyPr wrap="none" lIns="90000" tIns="46800" rIns="90000" bIns="46800" anchor="ctr"/>
                <a:lstStyle/>
                <a:p>
                  <a:pPr algn="ctr">
                    <a:defRPr/>
                  </a:pPr>
                  <a:endParaRPr lang="ko-KR" altLang="en-US" b="0">
                    <a:solidFill>
                      <a:srgbClr val="000000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  <p:cxnSp>
            <p:nvCxnSpPr>
              <p:cNvPr id="9" name="직선 화살표 연결선 8"/>
              <p:cNvCxnSpPr/>
              <p:nvPr/>
            </p:nvCxnSpPr>
            <p:spPr>
              <a:xfrm flipV="1">
                <a:off x="2896881" y="5827209"/>
                <a:ext cx="235116" cy="190099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722874" y="5919083"/>
                <a:ext cx="4299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VCC</a:t>
                </a:r>
                <a:endParaRPr lang="ko-KR" altLang="en-US" sz="1000" b="0" dirty="0" err="1">
                  <a:latin typeface="현대하모니 L"/>
                  <a:ea typeface="현대하모니 L"/>
                </a:endParaRPr>
              </a:p>
            </p:txBody>
          </p:sp>
          <p:sp>
            <p:nvSpPr>
              <p:cNvPr id="178" name="TextBox 177"/>
              <p:cNvSpPr txBox="1"/>
              <p:nvPr/>
            </p:nvSpPr>
            <p:spPr>
              <a:xfrm>
                <a:off x="2360712" y="5199003"/>
                <a:ext cx="4732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MCU</a:t>
                </a:r>
                <a:endParaRPr lang="ko-KR" altLang="en-US" sz="1000" b="0" dirty="0" err="1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416496" y="4797152"/>
              <a:ext cx="1452631" cy="1152882"/>
              <a:chOff x="576159" y="4913233"/>
              <a:chExt cx="1452631" cy="1152882"/>
            </a:xfrm>
          </p:grpSpPr>
          <p:pic>
            <p:nvPicPr>
              <p:cNvPr id="6147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6159" y="4913233"/>
                <a:ext cx="1452631" cy="11528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0" name="직선 화살표 연결선 179"/>
              <p:cNvCxnSpPr/>
              <p:nvPr/>
            </p:nvCxnSpPr>
            <p:spPr>
              <a:xfrm flipH="1" flipV="1">
                <a:off x="589772" y="5776004"/>
                <a:ext cx="115118" cy="142858"/>
              </a:xfrm>
              <a:prstGeom prst="straightConnector1">
                <a:avLst/>
              </a:prstGeom>
              <a:ln w="12700">
                <a:solidFill>
                  <a:srgbClr val="FF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TextBox 180"/>
              <p:cNvSpPr txBox="1"/>
              <p:nvPr/>
            </p:nvSpPr>
            <p:spPr>
              <a:xfrm>
                <a:off x="634642" y="5805264"/>
                <a:ext cx="449162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FF00"/>
                    </a:solidFill>
                    <a:latin typeface="현대하모니 L"/>
                    <a:ea typeface="현대하모니 L"/>
                  </a:rPr>
                  <a:t>VDD</a:t>
                </a:r>
                <a:endParaRPr lang="ko-KR" altLang="en-US" sz="1000" b="0" dirty="0" err="1">
                  <a:solidFill>
                    <a:srgbClr val="FFFF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707929" y="5540577"/>
                <a:ext cx="74412" cy="246221"/>
              </a:xfrm>
              <a:prstGeom prst="rect">
                <a:avLst/>
              </a:prstGeom>
              <a:noFill/>
              <a:ln w="9525">
                <a:solidFill>
                  <a:srgbClr val="7030A0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83" name="TextBox 182"/>
              <p:cNvSpPr txBox="1"/>
              <p:nvPr/>
            </p:nvSpPr>
            <p:spPr>
              <a:xfrm>
                <a:off x="935182" y="5452539"/>
                <a:ext cx="41870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FF00"/>
                    </a:solidFill>
                    <a:latin typeface="현대하모니 L"/>
                    <a:ea typeface="현대하모니 L"/>
                  </a:rPr>
                  <a:t>VSS</a:t>
                </a:r>
                <a:endParaRPr lang="ko-KR" altLang="en-US" sz="1000" b="0" dirty="0" err="1">
                  <a:solidFill>
                    <a:srgbClr val="FFFF00"/>
                  </a:solidFill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90" name="TextBox 189"/>
            <p:cNvSpPr txBox="1"/>
            <p:nvPr/>
          </p:nvSpPr>
          <p:spPr>
            <a:xfrm>
              <a:off x="458694" y="5256198"/>
              <a:ext cx="3946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FF00"/>
                  </a:solidFill>
                  <a:latin typeface="현대하모니 L"/>
                  <a:ea typeface="현대하모니 L"/>
                </a:rPr>
                <a:t>cap</a:t>
              </a:r>
              <a:endParaRPr lang="ko-KR" altLang="en-US" sz="1000" b="0" dirty="0" err="1">
                <a:solidFill>
                  <a:srgbClr val="FFFF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4249" name="Picture 15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488" y="3429000"/>
              <a:ext cx="1579457" cy="1164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50" name="Picture 15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2505" y="3451675"/>
              <a:ext cx="1534351" cy="1129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타원 3"/>
            <p:cNvSpPr/>
            <p:nvPr/>
          </p:nvSpPr>
          <p:spPr>
            <a:xfrm>
              <a:off x="2072680" y="3429000"/>
              <a:ext cx="648742" cy="636101"/>
            </a:xfrm>
            <a:prstGeom prst="ellipse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4488" y="3429000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144688" y="3470811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3080122" y="3429000"/>
              <a:ext cx="648742" cy="636101"/>
            </a:xfrm>
            <a:prstGeom prst="ellipse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286" y="3933057"/>
            <a:ext cx="1206746" cy="89820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7056" y="3933057"/>
            <a:ext cx="1217556" cy="890139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>
            <a:off x="5818614" y="4821560"/>
            <a:ext cx="4689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LDO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1595" y="5178404"/>
            <a:ext cx="1209437" cy="1021557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4364410" y="6206967"/>
            <a:ext cx="6546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CAN</a:t>
            </a:r>
            <a:r>
              <a:rPr lang="en-US" altLang="ko-KR" sz="1000" dirty="0" smtClean="0">
                <a:latin typeface="현대하모니 L"/>
                <a:ea typeface="현대하모니 L"/>
              </a:rPr>
              <a:t> IC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457056" y="6199961"/>
            <a:ext cx="11187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MOTOR DRIVER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7056" y="5180864"/>
            <a:ext cx="1192110" cy="105014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736976" y="4342841"/>
            <a:ext cx="576064" cy="4252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468935" y="5187428"/>
            <a:ext cx="576064" cy="4252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618462" y="3917577"/>
            <a:ext cx="1056150" cy="4252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467848" y="5187427"/>
            <a:ext cx="1101482" cy="6548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5408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MCU (IC)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8004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[7]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MCU Reset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단 설계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MCU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Reset pin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pull-up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저항과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연결할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MCU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가깝게 배치하였는가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MCU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Reset pin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pull-up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저항과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연결할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패턴의 길이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최대한 짧게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 ※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권장값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 : 10㎜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이내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1.9mm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MCU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오동작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방지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(Latch up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416496" y="3429000"/>
            <a:ext cx="3181859" cy="1609960"/>
            <a:chOff x="416496" y="4044950"/>
            <a:chExt cx="3181859" cy="1609960"/>
          </a:xfrm>
        </p:grpSpPr>
        <p:grpSp>
          <p:nvGrpSpPr>
            <p:cNvPr id="63" name="Group 64"/>
            <p:cNvGrpSpPr>
              <a:grpSpLocks/>
            </p:cNvGrpSpPr>
            <p:nvPr/>
          </p:nvGrpSpPr>
          <p:grpSpPr bwMode="auto">
            <a:xfrm>
              <a:off x="416496" y="4261088"/>
              <a:ext cx="1174840" cy="1003596"/>
              <a:chOff x="217" y="2701"/>
              <a:chExt cx="816" cy="729"/>
            </a:xfrm>
          </p:grpSpPr>
          <p:pic>
            <p:nvPicPr>
              <p:cNvPr id="94" name="Picture 6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77" r="4857"/>
              <a:stretch>
                <a:fillRect/>
              </a:stretch>
            </p:blipFill>
            <p:spPr bwMode="auto">
              <a:xfrm>
                <a:off x="217" y="2701"/>
                <a:ext cx="816" cy="7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Rectangle 66"/>
              <p:cNvSpPr>
                <a:spLocks noChangeArrowheads="1"/>
              </p:cNvSpPr>
              <p:nvPr/>
            </p:nvSpPr>
            <p:spPr bwMode="auto">
              <a:xfrm>
                <a:off x="423" y="3016"/>
                <a:ext cx="408" cy="181"/>
              </a:xfrm>
              <a:prstGeom prst="rect">
                <a:avLst/>
              </a:prstGeom>
              <a:solidFill>
                <a:schemeClr val="bg1"/>
              </a:solidFill>
              <a:ln w="1270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rPr>
                  <a:t>Regulator</a:t>
                </a:r>
              </a:p>
            </p:txBody>
          </p:sp>
        </p:grpSp>
        <p:sp>
          <p:nvSpPr>
            <p:cNvPr id="64" name="Line 67"/>
            <p:cNvSpPr>
              <a:spLocks noChangeShapeType="1"/>
            </p:cNvSpPr>
            <p:nvPr/>
          </p:nvSpPr>
          <p:spPr bwMode="auto">
            <a:xfrm flipH="1">
              <a:off x="1443041" y="5015506"/>
              <a:ext cx="1045262" cy="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5" name="Line 68"/>
            <p:cNvSpPr>
              <a:spLocks noChangeShapeType="1"/>
            </p:cNvSpPr>
            <p:nvPr/>
          </p:nvSpPr>
          <p:spPr bwMode="auto">
            <a:xfrm flipV="1">
              <a:off x="1638848" y="4328545"/>
              <a:ext cx="0" cy="249178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6" name="Text Box 69"/>
            <p:cNvSpPr txBox="1">
              <a:spLocks noChangeArrowheads="1"/>
            </p:cNvSpPr>
            <p:nvPr/>
          </p:nvSpPr>
          <p:spPr bwMode="auto">
            <a:xfrm>
              <a:off x="1443041" y="4141317"/>
              <a:ext cx="390174" cy="209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 err="1">
                  <a:solidFill>
                    <a:srgbClr val="000000"/>
                  </a:solidFill>
                  <a:latin typeface="현대하모니 L"/>
                  <a:ea typeface="현대하모니 L"/>
                </a:rPr>
                <a:t>Vcc</a:t>
              </a:r>
              <a:endParaRPr lang="en-US" altLang="ko-KR" sz="1000" b="0" dirty="0">
                <a:solidFill>
                  <a:srgbClr val="00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7" name="Line 70"/>
            <p:cNvSpPr>
              <a:spLocks noChangeShapeType="1"/>
            </p:cNvSpPr>
            <p:nvPr/>
          </p:nvSpPr>
          <p:spPr bwMode="auto">
            <a:xfrm>
              <a:off x="2096690" y="4293096"/>
              <a:ext cx="0" cy="25330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8" name="Line 71"/>
            <p:cNvSpPr>
              <a:spLocks noChangeShapeType="1"/>
            </p:cNvSpPr>
            <p:nvPr/>
          </p:nvSpPr>
          <p:spPr bwMode="auto">
            <a:xfrm>
              <a:off x="2413436" y="4294473"/>
              <a:ext cx="0" cy="25330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9" name="Line 72"/>
            <p:cNvSpPr>
              <a:spLocks noChangeShapeType="1"/>
            </p:cNvSpPr>
            <p:nvPr/>
          </p:nvSpPr>
          <p:spPr bwMode="auto">
            <a:xfrm>
              <a:off x="2096690" y="4418374"/>
              <a:ext cx="32826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2083733" y="4149080"/>
              <a:ext cx="342662" cy="209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1444481" y="4703001"/>
              <a:ext cx="587420" cy="178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800" b="0" dirty="0">
                  <a:solidFill>
                    <a:srgbClr val="5F5F5F"/>
                  </a:solidFill>
                  <a:latin typeface="현대하모니 L"/>
                  <a:ea typeface="현대하모니 L"/>
                </a:rPr>
                <a:t>P-up</a:t>
              </a:r>
              <a:r>
                <a:rPr lang="ko-KR" altLang="en-US" sz="800" b="0" dirty="0">
                  <a:solidFill>
                    <a:srgbClr val="5F5F5F"/>
                  </a:solidFill>
                  <a:latin typeface="현대하모니 L"/>
                  <a:ea typeface="현대하모니 L"/>
                </a:rPr>
                <a:t>저항</a:t>
              </a:r>
            </a:p>
          </p:txBody>
        </p:sp>
        <p:sp>
          <p:nvSpPr>
            <p:cNvPr id="72" name="Line 75"/>
            <p:cNvSpPr>
              <a:spLocks noChangeShapeType="1"/>
            </p:cNvSpPr>
            <p:nvPr/>
          </p:nvSpPr>
          <p:spPr bwMode="auto">
            <a:xfrm flipH="1">
              <a:off x="1443041" y="4577723"/>
              <a:ext cx="980473" cy="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80" name="Line 76"/>
            <p:cNvSpPr>
              <a:spLocks noChangeShapeType="1"/>
            </p:cNvSpPr>
            <p:nvPr/>
          </p:nvSpPr>
          <p:spPr bwMode="auto">
            <a:xfrm flipH="1">
              <a:off x="2096690" y="4577723"/>
              <a:ext cx="0" cy="437783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grpSp>
          <p:nvGrpSpPr>
            <p:cNvPr id="81" name="Group 77"/>
            <p:cNvGrpSpPr>
              <a:grpSpLocks/>
            </p:cNvGrpSpPr>
            <p:nvPr/>
          </p:nvGrpSpPr>
          <p:grpSpPr bwMode="auto">
            <a:xfrm>
              <a:off x="2031901" y="4678221"/>
              <a:ext cx="129578" cy="249178"/>
              <a:chOff x="521" y="3294"/>
              <a:chExt cx="182" cy="363"/>
            </a:xfrm>
          </p:grpSpPr>
          <p:sp>
            <p:nvSpPr>
              <p:cNvPr id="90" name="Rectangle 78"/>
              <p:cNvSpPr>
                <a:spLocks noChangeArrowheads="1"/>
              </p:cNvSpPr>
              <p:nvPr/>
            </p:nvSpPr>
            <p:spPr bwMode="auto">
              <a:xfrm>
                <a:off x="521" y="3294"/>
                <a:ext cx="182" cy="363"/>
              </a:xfrm>
              <a:prstGeom prst="rect">
                <a:avLst/>
              </a:prstGeom>
              <a:solidFill>
                <a:srgbClr val="80808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1" name="Rectangle 79"/>
              <p:cNvSpPr>
                <a:spLocks noChangeArrowheads="1"/>
              </p:cNvSpPr>
              <p:nvPr/>
            </p:nvSpPr>
            <p:spPr bwMode="auto">
              <a:xfrm>
                <a:off x="521" y="3385"/>
                <a:ext cx="182" cy="181"/>
              </a:xfrm>
              <a:prstGeom prst="rect">
                <a:avLst/>
              </a:prstGeom>
              <a:solidFill>
                <a:srgbClr val="C0C0C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82" name="Oval 80"/>
            <p:cNvSpPr>
              <a:spLocks noChangeArrowheads="1"/>
            </p:cNvSpPr>
            <p:nvPr/>
          </p:nvSpPr>
          <p:spPr bwMode="auto">
            <a:xfrm>
              <a:off x="1607174" y="4540553"/>
              <a:ext cx="64789" cy="61950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auto">
            <a:xfrm>
              <a:off x="2063576" y="4990726"/>
              <a:ext cx="64789" cy="61950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auto">
            <a:xfrm>
              <a:off x="2062136" y="4540553"/>
              <a:ext cx="64789" cy="61950"/>
            </a:xfrm>
            <a:prstGeom prst="ellipse">
              <a:avLst/>
            </a:prstGeom>
            <a:solidFill>
              <a:srgbClr val="00000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grpSp>
          <p:nvGrpSpPr>
            <p:cNvPr id="85" name="Group 83"/>
            <p:cNvGrpSpPr>
              <a:grpSpLocks/>
            </p:cNvGrpSpPr>
            <p:nvPr/>
          </p:nvGrpSpPr>
          <p:grpSpPr bwMode="auto">
            <a:xfrm>
              <a:off x="2423515" y="4044950"/>
              <a:ext cx="1174840" cy="1185317"/>
              <a:chOff x="1554" y="2614"/>
              <a:chExt cx="816" cy="861"/>
            </a:xfrm>
          </p:grpSpPr>
          <p:pic>
            <p:nvPicPr>
              <p:cNvPr id="86" name="Picture 84" descr="gnd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776" t="9949" r="25087" b="32870"/>
              <a:stretch>
                <a:fillRect/>
              </a:stretch>
            </p:blipFill>
            <p:spPr bwMode="auto">
              <a:xfrm>
                <a:off x="1554" y="2614"/>
                <a:ext cx="816" cy="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" name="Text Box 85"/>
              <p:cNvSpPr txBox="1">
                <a:spLocks noChangeArrowheads="1"/>
              </p:cNvSpPr>
              <p:nvPr/>
            </p:nvSpPr>
            <p:spPr bwMode="auto">
              <a:xfrm>
                <a:off x="1710" y="2842"/>
                <a:ext cx="395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chemeClr val="bg1"/>
                    </a:solidFill>
                    <a:latin typeface="현대하모니 L"/>
                    <a:ea typeface="현대하모니 L"/>
                  </a:rPr>
                  <a:t>MCU</a:t>
                </a:r>
              </a:p>
            </p:txBody>
          </p:sp>
          <p:sp>
            <p:nvSpPr>
              <p:cNvPr id="88" name="Rectangle 86"/>
              <p:cNvSpPr>
                <a:spLocks noChangeArrowheads="1"/>
              </p:cNvSpPr>
              <p:nvPr/>
            </p:nvSpPr>
            <p:spPr bwMode="auto">
              <a:xfrm>
                <a:off x="1623" y="3022"/>
                <a:ext cx="689" cy="392"/>
              </a:xfrm>
              <a:prstGeom prst="rect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9" name="Text Box 87"/>
              <p:cNvSpPr txBox="1">
                <a:spLocks noChangeArrowheads="1"/>
              </p:cNvSpPr>
              <p:nvPr/>
            </p:nvSpPr>
            <p:spPr bwMode="auto">
              <a:xfrm>
                <a:off x="1600" y="3228"/>
                <a:ext cx="534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chemeClr val="bg1"/>
                    </a:solidFill>
                    <a:latin typeface="현대하모니 L"/>
                    <a:ea typeface="현대하모니 L"/>
                  </a:rPr>
                  <a:t>Reset pin</a:t>
                </a:r>
              </a:p>
            </p:txBody>
          </p:sp>
        </p:grpSp>
        <p:sp>
          <p:nvSpPr>
            <p:cNvPr id="34" name="Line 76"/>
            <p:cNvSpPr>
              <a:spLocks noChangeShapeType="1"/>
            </p:cNvSpPr>
            <p:nvPr/>
          </p:nvSpPr>
          <p:spPr bwMode="auto">
            <a:xfrm flipH="1">
              <a:off x="2097063" y="5051275"/>
              <a:ext cx="0" cy="43200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35" name="Line 67"/>
            <p:cNvSpPr>
              <a:spLocks noChangeShapeType="1"/>
            </p:cNvSpPr>
            <p:nvPr/>
          </p:nvSpPr>
          <p:spPr bwMode="auto">
            <a:xfrm flipH="1">
              <a:off x="1928664" y="5488657"/>
              <a:ext cx="382343" cy="0"/>
            </a:xfrm>
            <a:prstGeom prst="line">
              <a:avLst/>
            </a:prstGeom>
            <a:noFill/>
            <a:ln w="190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1856656" y="5445224"/>
              <a:ext cx="514906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00"/>
                  </a:solidFill>
                  <a:latin typeface="현대하모니 L"/>
                  <a:ea typeface="현대하모니 L"/>
                </a:rPr>
                <a:t>GND</a:t>
              </a:r>
            </a:p>
          </p:txBody>
        </p:sp>
        <p:grpSp>
          <p:nvGrpSpPr>
            <p:cNvPr id="37" name="Group 77"/>
            <p:cNvGrpSpPr>
              <a:grpSpLocks/>
            </p:cNvGrpSpPr>
            <p:nvPr/>
          </p:nvGrpSpPr>
          <p:grpSpPr bwMode="auto">
            <a:xfrm>
              <a:off x="2029247" y="5138142"/>
              <a:ext cx="129578" cy="249178"/>
              <a:chOff x="521" y="3294"/>
              <a:chExt cx="182" cy="363"/>
            </a:xfrm>
          </p:grpSpPr>
          <p:sp>
            <p:nvSpPr>
              <p:cNvPr id="38" name="Rectangle 78"/>
              <p:cNvSpPr>
                <a:spLocks noChangeArrowheads="1"/>
              </p:cNvSpPr>
              <p:nvPr/>
            </p:nvSpPr>
            <p:spPr bwMode="auto">
              <a:xfrm>
                <a:off x="521" y="3294"/>
                <a:ext cx="182" cy="363"/>
              </a:xfrm>
              <a:prstGeom prst="rect">
                <a:avLst/>
              </a:prstGeom>
              <a:solidFill>
                <a:srgbClr val="80808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9" name="Rectangle 79"/>
              <p:cNvSpPr>
                <a:spLocks noChangeArrowheads="1"/>
              </p:cNvSpPr>
              <p:nvPr/>
            </p:nvSpPr>
            <p:spPr bwMode="auto">
              <a:xfrm>
                <a:off x="521" y="3385"/>
                <a:ext cx="182" cy="181"/>
              </a:xfrm>
              <a:prstGeom prst="rect">
                <a:avLst/>
              </a:prstGeom>
              <a:solidFill>
                <a:srgbClr val="C0C0C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3" name="직사각형 2"/>
            <p:cNvSpPr/>
            <p:nvPr/>
          </p:nvSpPr>
          <p:spPr>
            <a:xfrm>
              <a:off x="1928664" y="4621014"/>
              <a:ext cx="468000" cy="828000"/>
            </a:xfrm>
            <a:prstGeom prst="rect">
              <a:avLst/>
            </a:prstGeom>
            <a:ln w="12700">
              <a:solidFill>
                <a:srgbClr val="0000FF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42" name="Text Box 74"/>
            <p:cNvSpPr txBox="1">
              <a:spLocks noChangeArrowheads="1"/>
            </p:cNvSpPr>
            <p:nvPr/>
          </p:nvSpPr>
          <p:spPr bwMode="auto">
            <a:xfrm>
              <a:off x="2000672" y="5194248"/>
              <a:ext cx="587420" cy="178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800" b="0" dirty="0">
                  <a:solidFill>
                    <a:srgbClr val="5F5F5F"/>
                  </a:solidFill>
                  <a:latin typeface="현대하모니 L"/>
                  <a:ea typeface="현대하모니 L"/>
                </a:rPr>
                <a:t>cap</a:t>
              </a:r>
              <a:endParaRPr lang="ko-KR" altLang="en-US" sz="800" b="0" dirty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384" y="2861574"/>
            <a:ext cx="2193428" cy="1312411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4520952" y="3603072"/>
            <a:ext cx="792088" cy="5487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423" y="4483533"/>
            <a:ext cx="1324849" cy="9208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0422" y="5496487"/>
            <a:ext cx="1322617" cy="948983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4174710" y="4151167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Reset </a:t>
            </a:r>
            <a:r>
              <a:rPr lang="ko-KR" altLang="en-US" sz="1000" dirty="0" err="1" smtClean="0">
                <a:latin typeface="현대하모니 L"/>
                <a:ea typeface="현대하모니 L"/>
              </a:rPr>
              <a:t>풀업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저항</a:t>
            </a:r>
            <a:r>
              <a:rPr lang="en-US" altLang="ko-KR" sz="1000" dirty="0">
                <a:latin typeface="현대하모니 L"/>
                <a:ea typeface="현대하모니 L"/>
              </a:rPr>
              <a:t> </a:t>
            </a:r>
            <a:r>
              <a:rPr lang="en-US" altLang="ko-KR" sz="1000" dirty="0" smtClean="0">
                <a:latin typeface="현대하모니 L"/>
                <a:ea typeface="현대하모니 L"/>
              </a:rPr>
              <a:t>/ </a:t>
            </a:r>
            <a:r>
              <a:rPr lang="ko-KR" altLang="en-US" sz="1000" dirty="0" err="1" smtClean="0">
                <a:latin typeface="현대하모니 L"/>
                <a:ea typeface="현대하모니 L"/>
              </a:rPr>
              <a:t>커패시터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</a:t>
            </a:r>
            <a:r>
              <a:rPr lang="en-US" altLang="ko-KR" sz="1000" dirty="0" smtClean="0">
                <a:latin typeface="현대하모니 L"/>
                <a:ea typeface="현대하모니 L"/>
              </a:rPr>
              <a:t>/ MCU </a:t>
            </a:r>
            <a:r>
              <a:rPr lang="ko-KR" altLang="en-US" sz="1000" dirty="0" smtClean="0">
                <a:latin typeface="현대하모니 L"/>
                <a:ea typeface="현대하모니 L"/>
              </a:rPr>
              <a:t>거리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295495" y="4794671"/>
            <a:ext cx="153963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dirty="0" err="1" smtClean="0">
                <a:latin typeface="현대하모니 L"/>
                <a:ea typeface="현대하모니 L"/>
              </a:rPr>
              <a:t>풀업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저항 </a:t>
            </a:r>
            <a:r>
              <a:rPr lang="en-US" altLang="ko-KR" sz="1000" dirty="0" smtClean="0">
                <a:latin typeface="현대하모니 L"/>
                <a:ea typeface="현대하모니 L"/>
              </a:rPr>
              <a:t>/ </a:t>
            </a:r>
            <a:r>
              <a:rPr lang="ko-KR" altLang="en-US" sz="1000" dirty="0" err="1" smtClean="0">
                <a:latin typeface="현대하모니 L"/>
                <a:ea typeface="현대하모니 L"/>
              </a:rPr>
              <a:t>커패시터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거리</a:t>
            </a:r>
            <a:endParaRPr lang="en-US" altLang="ko-KR" sz="1000" dirty="0" smtClean="0">
              <a:latin typeface="현대하모니 L"/>
              <a:ea typeface="현대하모니 L"/>
            </a:endParaRPr>
          </a:p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31.7mm – 29.8mm = 1.9mm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1293569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MCU (IC)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99499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[8]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BGA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등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솔더볼을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적용하는 패키지의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Land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및 배치</a:t>
                      </a:r>
                      <a:endParaRPr lang="ko-KR" altLang="en-US" sz="1200" b="1" strike="sngStrike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Via Land(Pad)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위치는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BGA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중앙에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(d1=d2=d3=d4)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Land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형태는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BGA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적용 부품 제조사가 추천하는 방식을 확인하고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제조사 추천이 없는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NSMD(Non Solder Mask Defined) Land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방식 적용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Package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동일한 방식으로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- BGA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NSMD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NSMD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BGA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SMD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SMD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로 설계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BGA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부품이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실장된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Layer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반대편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영역 및 경계면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(b)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전자소자가 배치되지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- BGA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부품에 적용되는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부품의 경우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(a)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영역 배치 허용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(b)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경계면 배치 금지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- BGA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제조사에서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미러링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배치가 요구되는 경우 배치 허용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배치 근거 및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솔더링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문제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검사 등에 대한 대책 첨부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BGA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신뢰성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685592" y="4149080"/>
            <a:ext cx="2899256" cy="1921962"/>
            <a:chOff x="424146" y="3875678"/>
            <a:chExt cx="3304718" cy="2232248"/>
          </a:xfrm>
        </p:grpSpPr>
        <p:grpSp>
          <p:nvGrpSpPr>
            <p:cNvPr id="11" name="그룹 10"/>
            <p:cNvGrpSpPr/>
            <p:nvPr/>
          </p:nvGrpSpPr>
          <p:grpSpPr>
            <a:xfrm>
              <a:off x="424146" y="3875678"/>
              <a:ext cx="3304718" cy="2232248"/>
              <a:chOff x="272480" y="3861048"/>
              <a:chExt cx="3304718" cy="2232248"/>
            </a:xfrm>
          </p:grpSpPr>
          <p:pic>
            <p:nvPicPr>
              <p:cNvPr id="34" name="Picture 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47" r="3847"/>
              <a:stretch>
                <a:fillRect/>
              </a:stretch>
            </p:blipFill>
            <p:spPr bwMode="auto">
              <a:xfrm>
                <a:off x="2128769" y="3933056"/>
                <a:ext cx="1312063" cy="908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그림 17" descr="그림2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0169"/>
              <a:stretch>
                <a:fillRect/>
              </a:stretch>
            </p:blipFill>
            <p:spPr bwMode="auto">
              <a:xfrm>
                <a:off x="344489" y="5085296"/>
                <a:ext cx="1551907" cy="10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" name="Picture 60" descr="C:\Documents and Settings\HKMC\바탕 화면\chip1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78" r="35245"/>
              <a:stretch>
                <a:fillRect/>
              </a:stretch>
            </p:blipFill>
            <p:spPr bwMode="auto">
              <a:xfrm>
                <a:off x="2144689" y="5085296"/>
                <a:ext cx="1432509" cy="100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Picture 2" descr="C:\Documents and Settings\HKMC\바탕 화면\13업무계획\03_체크시트\그림1.jp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4528" y="4077168"/>
                <a:ext cx="914341" cy="86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272480" y="4077168"/>
                <a:ext cx="343877" cy="2859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 err="1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923025" y="4005065"/>
                <a:ext cx="343877" cy="464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2)</a:t>
                </a:r>
              </a:p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3)</a:t>
                </a:r>
                <a:endParaRPr lang="ko-KR" altLang="en-US" sz="1000" b="0" dirty="0" err="1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8" name="Text Box 82"/>
              <p:cNvSpPr txBox="1">
                <a:spLocks noChangeArrowheads="1"/>
              </p:cNvSpPr>
              <p:nvPr/>
            </p:nvSpPr>
            <p:spPr bwMode="auto">
              <a:xfrm>
                <a:off x="2493865" y="4791294"/>
                <a:ext cx="738886" cy="324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  <p:sp>
            <p:nvSpPr>
              <p:cNvPr id="39" name="Text Box 115"/>
              <p:cNvSpPr txBox="1">
                <a:spLocks noChangeArrowheads="1"/>
              </p:cNvSpPr>
              <p:nvPr/>
            </p:nvSpPr>
            <p:spPr bwMode="auto">
              <a:xfrm>
                <a:off x="775627" y="5031912"/>
                <a:ext cx="733406" cy="324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&lt; OK &gt;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4489" y="4365200"/>
                <a:ext cx="422445" cy="2859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Via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8" name="직선 화살표 연결선 7"/>
              <p:cNvCxnSpPr/>
              <p:nvPr/>
            </p:nvCxnSpPr>
            <p:spPr>
              <a:xfrm>
                <a:off x="642045" y="4490166"/>
                <a:ext cx="41591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482738" y="3861048"/>
                <a:ext cx="875586" cy="2859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BGA Land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080330" y="5501665"/>
              <a:ext cx="343877" cy="285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919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MCU (IC)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964882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[9]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BGA</a:t>
                      </a:r>
                      <a:endParaRPr lang="ko-KR" altLang="en-US" sz="1200" b="1" strike="sngStrike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Via hole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Filled via (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IPC-4761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기준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Type 6b)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방식으로 처리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Via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충진된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Resin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 요철이 발생되지 않도록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Underfill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또는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Sidefill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등과 같은 기계적 또는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열충격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방지 대책을 적용하였는가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(CTE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매칭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고려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BGA</a:t>
                      </a:r>
                      <a:r>
                        <a:rPr lang="en-US" altLang="ko-KR" sz="1000" strike="noStrike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이물질이나 스크래치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표면처리 불량이 없는가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Underfill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/ 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Sidefill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수지 재료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en-US" altLang="ko-KR" sz="1000" dirty="0" err="1">
                          <a:latin typeface="현대하모니 L"/>
                          <a:ea typeface="현대하모니 L"/>
                        </a:rPr>
                        <a:t>Underfill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/ </a:t>
                      </a:r>
                      <a:r>
                        <a:rPr lang="en-US" altLang="ko-KR" sz="1000" dirty="0" err="1">
                          <a:latin typeface="현대하모니 L"/>
                          <a:ea typeface="현대하모니 L"/>
                        </a:rPr>
                        <a:t>Sidefill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등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적용시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내용 첨부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BGA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신뢰성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44488" y="3861168"/>
            <a:ext cx="3240360" cy="1512048"/>
            <a:chOff x="344488" y="3861168"/>
            <a:chExt cx="3240360" cy="1512048"/>
          </a:xfrm>
        </p:grpSpPr>
        <p:sp>
          <p:nvSpPr>
            <p:cNvPr id="38" name="Text Box 82"/>
            <p:cNvSpPr txBox="1">
              <a:spLocks noChangeArrowheads="1"/>
            </p:cNvSpPr>
            <p:nvPr/>
          </p:nvSpPr>
          <p:spPr bwMode="auto">
            <a:xfrm>
              <a:off x="2311660" y="3861168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39" name="Text Box 115"/>
            <p:cNvSpPr txBox="1">
              <a:spLocks noChangeArrowheads="1"/>
            </p:cNvSpPr>
            <p:nvPr/>
          </p:nvSpPr>
          <p:spPr bwMode="auto">
            <a:xfrm>
              <a:off x="665094" y="3862705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15" name="Picture 2" descr="F:\BGA pad1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20" t="37280" r="31932"/>
            <a:stretch/>
          </p:blipFill>
          <p:spPr bwMode="auto">
            <a:xfrm>
              <a:off x="400817" y="4293216"/>
              <a:ext cx="1144305" cy="10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그룹 3"/>
            <p:cNvGrpSpPr/>
            <p:nvPr/>
          </p:nvGrpSpPr>
          <p:grpSpPr>
            <a:xfrm>
              <a:off x="1856848" y="4293216"/>
              <a:ext cx="1728000" cy="1080000"/>
              <a:chOff x="851037" y="3357563"/>
              <a:chExt cx="2089485" cy="1357312"/>
            </a:xfrm>
          </p:grpSpPr>
          <p:pic>
            <p:nvPicPr>
              <p:cNvPr id="16" name="Picture 16" descr="Figure 7. Poorly tented, not filled vias adjacent to BGA pads.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694"/>
              <a:stretch>
                <a:fillRect/>
              </a:stretch>
            </p:blipFill>
            <p:spPr bwMode="auto">
              <a:xfrm>
                <a:off x="851037" y="3357563"/>
                <a:ext cx="2089485" cy="1357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Line 43"/>
              <p:cNvSpPr>
                <a:spLocks noChangeShapeType="1"/>
              </p:cNvSpPr>
              <p:nvPr/>
            </p:nvSpPr>
            <p:spPr bwMode="auto">
              <a:xfrm flipV="1">
                <a:off x="990759" y="3571878"/>
                <a:ext cx="404879" cy="730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8" name="Line 43"/>
              <p:cNvSpPr>
                <a:spLocks noChangeShapeType="1"/>
              </p:cNvSpPr>
              <p:nvPr/>
            </p:nvSpPr>
            <p:spPr bwMode="auto">
              <a:xfrm flipV="1">
                <a:off x="2167286" y="4000503"/>
                <a:ext cx="404877" cy="7302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44488" y="4077072"/>
              <a:ext cx="470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2)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173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422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[10]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대전류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패턴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, Via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설계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패턴에 흐를 수 있는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최대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전류량을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고려하여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 폭을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 중 가장 좁은 부분 기준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- B+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GND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쇼트시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전류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모터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Stall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Inrush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부하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전류량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Current Limit, PTC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등의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Worst case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고려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패턴과 연결되는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Wiring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Fuse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 연결된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B+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GND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쇼트시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과전류에 의해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Fuse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끊어질때까지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커넥터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스위치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등에 문제가 없도록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- Fuse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용량의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135%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전류가 흘러도 문제 없도록 설계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- Driver IC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나 회로에 전류제한 기능이 있을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Max.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Current Limit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값을 고려하여 </a:t>
                      </a:r>
                      <a:r>
                        <a:rPr lang="ko-KR" altLang="en-US" sz="10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패턴폭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설계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PTH(Via)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설계시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최대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전류량을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고려하여 홀 직경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홀 개수를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대전류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패턴 설계에 대한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자체 기준을 가지고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두께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    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㎛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상승 허용 온도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ΔT)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  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℃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대전류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패턴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설계 근거 및 주요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대전류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패턴의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홀 직경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개수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※ 1) 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신뢰성 확보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   2)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B+, GND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쇼트시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보호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32520" y="4020304"/>
            <a:ext cx="2752614" cy="1872208"/>
            <a:chOff x="380390" y="3265706"/>
            <a:chExt cx="3555500" cy="2563538"/>
          </a:xfrm>
        </p:grpSpPr>
        <p:sp>
          <p:nvSpPr>
            <p:cNvPr id="138" name="Text Box 82"/>
            <p:cNvSpPr txBox="1">
              <a:spLocks noChangeArrowheads="1"/>
            </p:cNvSpPr>
            <p:nvPr/>
          </p:nvSpPr>
          <p:spPr bwMode="auto">
            <a:xfrm>
              <a:off x="2928204" y="3265706"/>
              <a:ext cx="837309" cy="382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pic>
          <p:nvPicPr>
            <p:cNvPr id="139" name="Picture 8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4098" y="3685654"/>
              <a:ext cx="1271792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0" name="Picture 13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45"/>
            <a:stretch/>
          </p:blipFill>
          <p:spPr bwMode="auto">
            <a:xfrm>
              <a:off x="380390" y="3701434"/>
              <a:ext cx="1764298" cy="108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1" name="Text Box 115"/>
            <p:cNvSpPr txBox="1">
              <a:spLocks noChangeArrowheads="1"/>
            </p:cNvSpPr>
            <p:nvPr/>
          </p:nvSpPr>
          <p:spPr bwMode="auto">
            <a:xfrm>
              <a:off x="931297" y="3267244"/>
              <a:ext cx="831097" cy="382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142" name="Picture 1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99" y="4880407"/>
              <a:ext cx="1764000" cy="948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타원 5"/>
            <p:cNvSpPr/>
            <p:nvPr/>
          </p:nvSpPr>
          <p:spPr>
            <a:xfrm>
              <a:off x="2988482" y="4262204"/>
              <a:ext cx="818023" cy="474084"/>
            </a:xfrm>
            <a:prstGeom prst="ellipse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50427"/>
              </p:ext>
            </p:extLst>
          </p:nvPr>
        </p:nvGraphicFramePr>
        <p:xfrm>
          <a:off x="4089400" y="550703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워크시트" showAsIcon="1" r:id="rId6" imgW="914400" imgH="771480" progId="Excel.Sheet.12">
                  <p:embed/>
                </p:oleObj>
              </mc:Choice>
              <mc:Fallback>
                <p:oleObj name="워크시트" showAsIcon="1" r:id="rId6" imgW="914400" imgH="771480" progId="Excel.Sheet.12">
                  <p:embed/>
                  <p:pic>
                    <p:nvPicPr>
                      <p:cNvPr id="0" name="개체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5507038"/>
                        <a:ext cx="9144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647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383874"/>
              </p:ext>
            </p:extLst>
          </p:nvPr>
        </p:nvGraphicFramePr>
        <p:xfrm>
          <a:off x="272838" y="566478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패턴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(Trace)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PCB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경계면과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패턴과의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0.5mm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 인가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0.6mm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동박이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노출 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PCB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단면부에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dendrite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delamination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 발생하지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패턴을 직각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(90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으로 설계하지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절단시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패턴 손상 방지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4721114" y="3857364"/>
            <a:ext cx="10759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Trace PCB </a:t>
            </a:r>
            <a:r>
              <a:rPr lang="ko-KR" altLang="en-US" sz="1000" dirty="0" smtClean="0">
                <a:latin typeface="현대하모니 L"/>
                <a:ea typeface="현대하모니 L"/>
              </a:rPr>
              <a:t>패턴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88640" y="3429000"/>
            <a:ext cx="2824200" cy="2512417"/>
            <a:chOff x="616632" y="3789040"/>
            <a:chExt cx="2680184" cy="2296393"/>
          </a:xfrm>
        </p:grpSpPr>
        <p:grpSp>
          <p:nvGrpSpPr>
            <p:cNvPr id="5" name="그룹 4"/>
            <p:cNvGrpSpPr/>
            <p:nvPr/>
          </p:nvGrpSpPr>
          <p:grpSpPr>
            <a:xfrm>
              <a:off x="616632" y="3789040"/>
              <a:ext cx="2680184" cy="2296393"/>
              <a:chOff x="391339" y="3233033"/>
              <a:chExt cx="3337525" cy="2788255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391339" y="3233033"/>
                <a:ext cx="3337525" cy="2788255"/>
                <a:chOff x="273050" y="3195754"/>
                <a:chExt cx="3337525" cy="2788255"/>
              </a:xfrm>
            </p:grpSpPr>
            <p:grpSp>
              <p:nvGrpSpPr>
                <p:cNvPr id="4" name="그룹 3"/>
                <p:cNvGrpSpPr/>
                <p:nvPr/>
              </p:nvGrpSpPr>
              <p:grpSpPr>
                <a:xfrm>
                  <a:off x="339549" y="3195754"/>
                  <a:ext cx="2021163" cy="1601398"/>
                  <a:chOff x="344488" y="3271550"/>
                  <a:chExt cx="3315231" cy="2371439"/>
                </a:xfrm>
              </p:grpSpPr>
              <p:pic>
                <p:nvPicPr>
                  <p:cNvPr id="22" name="Picture 1" descr="C:\Documents and Settings\HKMC\바탕 화면\PCB_DRDRDR\PCB_그림\스캔0016.jpg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877" t="62791" r="39618"/>
                  <a:stretch>
                    <a:fillRect/>
                  </a:stretch>
                </p:blipFill>
                <p:spPr bwMode="auto">
                  <a:xfrm>
                    <a:off x="344488" y="3571301"/>
                    <a:ext cx="3315231" cy="20716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3" name="그룹 16"/>
                  <p:cNvGrpSpPr>
                    <a:grpSpLocks/>
                  </p:cNvGrpSpPr>
                  <p:nvPr/>
                </p:nvGrpSpPr>
                <p:grpSpPr bwMode="auto">
                  <a:xfrm>
                    <a:off x="444517" y="3271550"/>
                    <a:ext cx="840351" cy="728377"/>
                    <a:chOff x="451612" y="4200815"/>
                    <a:chExt cx="840219" cy="728383"/>
                  </a:xfrm>
                </p:grpSpPr>
                <p:sp>
                  <p:nvSpPr>
                    <p:cNvPr id="24" name="Text Box 5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8757" y="4200815"/>
                      <a:ext cx="473074" cy="35765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2225" algn="ctr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 marL="457200" indent="-4572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</a:pP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d</a:t>
                      </a:r>
                    </a:p>
                  </p:txBody>
                </p:sp>
                <p:cxnSp>
                  <p:nvCxnSpPr>
                    <p:cNvPr id="25" name="직선 연결선 24"/>
                    <p:cNvCxnSpPr/>
                    <p:nvPr/>
                  </p:nvCxnSpPr>
                  <p:spPr>
                    <a:xfrm>
                      <a:off x="451612" y="4572008"/>
                      <a:ext cx="571502" cy="1587"/>
                    </a:xfrm>
                    <a:prstGeom prst="line">
                      <a:avLst/>
                    </a:prstGeom>
                    <a:ln w="9525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직선 연결선 25"/>
                    <p:cNvCxnSpPr/>
                    <p:nvPr/>
                  </p:nvCxnSpPr>
                  <p:spPr>
                    <a:xfrm>
                      <a:off x="451612" y="4687896"/>
                      <a:ext cx="571502" cy="1588"/>
                    </a:xfrm>
                    <a:prstGeom prst="line">
                      <a:avLst/>
                    </a:prstGeom>
                    <a:ln w="9525">
                      <a:solidFill>
                        <a:srgbClr val="0000FF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직선 화살표 연결선 26"/>
                    <p:cNvCxnSpPr/>
                    <p:nvPr/>
                  </p:nvCxnSpPr>
                  <p:spPr>
                    <a:xfrm rot="5400000" flipH="1" flipV="1">
                      <a:off x="631000" y="4821247"/>
                      <a:ext cx="214314" cy="1587"/>
                    </a:xfrm>
                    <a:prstGeom prst="straightConnector1">
                      <a:avLst/>
                    </a:prstGeom>
                    <a:ln w="9525">
                      <a:solidFill>
                        <a:srgbClr val="0000FF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직선 화살표 연결선 27"/>
                    <p:cNvCxnSpPr/>
                    <p:nvPr/>
                  </p:nvCxnSpPr>
                  <p:spPr>
                    <a:xfrm rot="5400000">
                      <a:off x="631000" y="4465644"/>
                      <a:ext cx="214314" cy="1587"/>
                    </a:xfrm>
                    <a:prstGeom prst="straightConnector1">
                      <a:avLst/>
                    </a:prstGeom>
                    <a:ln w="9525">
                      <a:solidFill>
                        <a:srgbClr val="0000FF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" name="그룹 22"/>
                  <p:cNvGrpSpPr>
                    <a:grpSpLocks/>
                  </p:cNvGrpSpPr>
                  <p:nvPr/>
                </p:nvGrpSpPr>
                <p:grpSpPr bwMode="auto">
                  <a:xfrm>
                    <a:off x="2873783" y="4482526"/>
                    <a:ext cx="571597" cy="863786"/>
                    <a:chOff x="2880504" y="5500702"/>
                    <a:chExt cx="571507" cy="863786"/>
                  </a:xfrm>
                </p:grpSpPr>
                <p:sp>
                  <p:nvSpPr>
                    <p:cNvPr id="30" name="Line 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48811" y="5500702"/>
                      <a:ext cx="0" cy="4905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endParaRPr lang="ko-KR" altLang="en-US" sz="1000" b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1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9742" y="5500702"/>
                      <a:ext cx="0" cy="49053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endParaRPr lang="ko-KR" altLang="en-US" sz="1000" b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2" name="Line 5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239286" y="5707077"/>
                      <a:ext cx="212725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endParaRPr lang="ko-KR" altLang="en-US" sz="1000" b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3" name="Line 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504" y="5707077"/>
                      <a:ext cx="21431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FF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endParaRPr lang="ko-KR" altLang="en-US" sz="1000" b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4" name="Text Box 5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68542" y="6006835"/>
                      <a:ext cx="473075" cy="35765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2225" algn="ctr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 marL="457200" indent="-4572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742950" indent="-28575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1430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6002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057400" indent="-228600" eaLnBrk="0" hangingPunct="0"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</a:pP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d</a:t>
                      </a:r>
                    </a:p>
                  </p:txBody>
                </p:sp>
              </p:grpSp>
            </p:grpSp>
            <p:pic>
              <p:nvPicPr>
                <p:cNvPr id="96" name="图片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60712" y="3356992"/>
                  <a:ext cx="1249863" cy="1234508"/>
                </a:xfrm>
                <a:prstGeom prst="rect">
                  <a:avLst/>
                </a:prstGeom>
              </p:spPr>
            </p:pic>
            <p:pic>
              <p:nvPicPr>
                <p:cNvPr id="33831" name="Picture 39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7587" y="5013176"/>
                  <a:ext cx="2905253" cy="9708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2" name="타원 11"/>
                <p:cNvSpPr/>
                <p:nvPr/>
              </p:nvSpPr>
              <p:spPr>
                <a:xfrm>
                  <a:off x="2576736" y="4869160"/>
                  <a:ext cx="504056" cy="504056"/>
                </a:xfrm>
                <a:prstGeom prst="ellipse">
                  <a:avLst/>
                </a:prstGeom>
                <a:ln w="19050">
                  <a:solidFill>
                    <a:srgbClr val="EE0000"/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2360889" y="4759873"/>
                  <a:ext cx="353084" cy="2756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FF0000"/>
                      </a:solidFill>
                      <a:latin typeface="현대하모니 L"/>
                      <a:ea typeface="현대하모니 L"/>
                    </a:rPr>
                    <a:t>4)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273050" y="3195754"/>
                  <a:ext cx="356520" cy="2732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1)</a:t>
                  </a:r>
                  <a:endParaRPr lang="ko-KR" altLang="en-US" sz="1000" b="0" dirty="0" err="1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  <p:sp>
            <p:nvSpPr>
              <p:cNvPr id="36" name="Text Box 82"/>
              <p:cNvSpPr txBox="1">
                <a:spLocks noChangeArrowheads="1"/>
              </p:cNvSpPr>
              <p:nvPr/>
            </p:nvSpPr>
            <p:spPr bwMode="auto">
              <a:xfrm>
                <a:off x="3041749" y="4797152"/>
                <a:ext cx="428858" cy="275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NG</a:t>
                </a: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2398812" y="3943174"/>
              <a:ext cx="596638" cy="2250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FF00"/>
                  </a:solidFill>
                  <a:latin typeface="현대하모니 L"/>
                  <a:ea typeface="현대하모니 L"/>
                </a:rPr>
                <a:t>0.5 mm</a:t>
              </a:r>
              <a:endParaRPr lang="ko-KR" altLang="en-US" sz="1000" b="0" dirty="0">
                <a:solidFill>
                  <a:srgbClr val="FFFF00"/>
                </a:solidFill>
                <a:latin typeface="현대하모니 L"/>
                <a:ea typeface="현대하모니 L"/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648" y="3223313"/>
            <a:ext cx="2631530" cy="60421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9356" y="4271135"/>
            <a:ext cx="2016642" cy="1628928"/>
          </a:xfrm>
          <a:prstGeom prst="rect">
            <a:avLst/>
          </a:prstGeom>
        </p:spPr>
      </p:pic>
      <p:sp>
        <p:nvSpPr>
          <p:cNvPr id="39" name="직사각형 38"/>
          <p:cNvSpPr/>
          <p:nvPr/>
        </p:nvSpPr>
        <p:spPr>
          <a:xfrm>
            <a:off x="4479155" y="5900063"/>
            <a:ext cx="174405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PCB </a:t>
            </a:r>
            <a:r>
              <a:rPr lang="ko-KR" altLang="en-US" sz="1000" dirty="0" err="1" smtClean="0">
                <a:latin typeface="현대하모니 L"/>
                <a:ea typeface="현대하모니 L"/>
              </a:rPr>
              <a:t>경계면과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패턴 거리</a:t>
            </a:r>
            <a:r>
              <a:rPr lang="en-US" altLang="ko-KR" sz="1000" dirty="0" smtClean="0">
                <a:latin typeface="현대하모니 L"/>
                <a:ea typeface="현대하모니 L"/>
              </a:rPr>
              <a:t>(d)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337647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576790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[12]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CAN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통신 패턴 설계 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(L-CAN, H-CAN, CAN-FD) 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CAN High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CAN Low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패턴 폭은 동일하게 설계되었는가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0.25</a:t>
                      </a:r>
                      <a:r>
                        <a:rPr lang="ko-KR" altLang="en-US" sz="1000" baseline="0" dirty="0" smtClean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현대하모니 L"/>
                          <a:ea typeface="현대하모니 L"/>
                        </a:rPr>
                        <a:t>~ 0.3mm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CAN High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CAN Low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패턴의 간격은 동일하게 유지하고 있는가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CAN High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CAN Low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두 패턴의 길이는 동일하게 설계되었는가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대칭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패턴의 경로를 변경할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45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도 패턴으로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CAN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신호는 커넥터에 평행하게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상하 배치 금지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6)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고속 신호가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CAN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신호 근처에 배치되지 않도록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7) analog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신호가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CAN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신호 근처에 배치되지 않도록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CAN IC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통신 안정화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402432" y="4157932"/>
            <a:ext cx="3264539" cy="1863356"/>
            <a:chOff x="402432" y="4229940"/>
            <a:chExt cx="3264539" cy="1863356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1082" y="4526702"/>
              <a:ext cx="1130706" cy="765667"/>
            </a:xfrm>
            <a:prstGeom prst="rect">
              <a:avLst/>
            </a:prstGeom>
          </p:spPr>
        </p:pic>
        <p:pic>
          <p:nvPicPr>
            <p:cNvPr id="25" name="Picture 2" descr="C:\Users\2652225\Desktop\14업무계획\01_체크시트\디퍼런셜신호_설계기준\FF1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58" b="27180"/>
            <a:stretch/>
          </p:blipFill>
          <p:spPr bwMode="auto">
            <a:xfrm rot="16200000">
              <a:off x="1769042" y="5144844"/>
              <a:ext cx="786136" cy="1110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직사각형 25"/>
            <p:cNvSpPr/>
            <p:nvPr/>
          </p:nvSpPr>
          <p:spPr>
            <a:xfrm>
              <a:off x="1524514" y="4544836"/>
              <a:ext cx="30489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2)</a:t>
              </a:r>
              <a:endParaRPr kumimoji="1"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505464" y="5353946"/>
              <a:ext cx="30489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kumimoji="1"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432" y="4747465"/>
              <a:ext cx="906063" cy="894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51" y="5663525"/>
              <a:ext cx="833711" cy="429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직사각형 30"/>
            <p:cNvSpPr/>
            <p:nvPr/>
          </p:nvSpPr>
          <p:spPr>
            <a:xfrm>
              <a:off x="711205" y="4509120"/>
              <a:ext cx="52129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커넥터</a:t>
              </a:r>
            </a:p>
          </p:txBody>
        </p:sp>
        <p:pic>
          <p:nvPicPr>
            <p:cNvPr id="32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9866" y="4725526"/>
              <a:ext cx="867105" cy="948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직사각형 32"/>
            <p:cNvSpPr/>
            <p:nvPr/>
          </p:nvSpPr>
          <p:spPr>
            <a:xfrm>
              <a:off x="2742644" y="4509120"/>
              <a:ext cx="30489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5)</a:t>
              </a:r>
              <a:endParaRPr kumimoji="1"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720752" y="5674317"/>
              <a:ext cx="886781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</a:t>
              </a:r>
              <a:r>
                <a:rPr kumimoji="1" lang="ko-KR" altLang="en-US" sz="8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상하 배치 금지</a:t>
              </a:r>
              <a:r>
                <a:rPr kumimoji="1" lang="en-US" altLang="ko-KR" sz="8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&gt;</a:t>
              </a:r>
              <a:endParaRPr kumimoji="1" lang="ko-KR" altLang="en-US" sz="8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6" name="Text Box 115"/>
            <p:cNvSpPr txBox="1">
              <a:spLocks noChangeArrowheads="1"/>
            </p:cNvSpPr>
            <p:nvPr/>
          </p:nvSpPr>
          <p:spPr bwMode="auto">
            <a:xfrm>
              <a:off x="593086" y="4229940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37" name="Text Box 116"/>
            <p:cNvSpPr txBox="1">
              <a:spLocks noChangeArrowheads="1"/>
            </p:cNvSpPr>
            <p:nvPr/>
          </p:nvSpPr>
          <p:spPr bwMode="auto">
            <a:xfrm>
              <a:off x="2383668" y="4229940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3872880" y="5955989"/>
            <a:ext cx="118986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CAN_L / CAN_H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343" y="4582226"/>
            <a:ext cx="736108" cy="130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79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470275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CAN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통신 패턴 설계 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(L-CAN, H-CAN, CAN-FD) 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관련한 모든 신호선 및 소자는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동일한 면에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CAN High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CAN Low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패턴이 교차하지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CAN IC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Choke coil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간의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(d1)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가능한 짧게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5.2mm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Choke coil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과 커넥터 간의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(d2)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가능한 짧게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12.86mm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MCU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CAN IC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간의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(d3)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가능한 짧게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위의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3)~5)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항이 상충될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우선 순위는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d1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은 가장 짧게 하고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d2,d3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순으로 할 것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16.8mm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6) CAN High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CAN Low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신호선의 간격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(d4)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은 가능한 가깝게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2mm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규격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설계사양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평가사양서 등에 패턴 길이가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정의된 경우 규격을 만족하도록 설계하고 내용 첨부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CAN IC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통신 안정화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416496" y="4437112"/>
            <a:ext cx="3152116" cy="1614373"/>
            <a:chOff x="416496" y="4437112"/>
            <a:chExt cx="3152116" cy="1614373"/>
          </a:xfrm>
        </p:grpSpPr>
        <p:pic>
          <p:nvPicPr>
            <p:cNvPr id="22" name="Picture 2" descr="C:\Users\2652225\Desktop\16_업무계획\01_체크시트\01_connector 주변소자배치(작성중)\HCAN1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496" y="4437112"/>
              <a:ext cx="3152116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208584" y="5805264"/>
              <a:ext cx="133402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현대하모니 L"/>
                  <a:ea typeface="현대하모니 L"/>
                </a:rPr>
                <a:t>&lt; Low Speed CAN &gt;</a:t>
              </a: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26828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60769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[14]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CAN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통신 부품 배치 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(L-CAN, H-CAN, CAN-FD)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CAN IC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커넥터에서 가능한 가깝게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CAN IC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커넥터 사이에 다른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IC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배치하지 않았는가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Capacitor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Clamping Device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커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넥터에 가능한 가깝게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위의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Choke Coil, Clamping Device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삭제할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이와 관련한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EMC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및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ESD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시험을 충분히 실시하여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동작에 문제가 없음을 검증하였는가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불필요한 종단 저항을 추가하지 않았는가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별도 요구사항이 있는 경우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IC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 근접하게 배치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6)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종단 저항을 적용하는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Low Speed CAN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HKMC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에서 규정한 값을 적용하였는가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종단저항값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        Ω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CAN IC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통신 안정화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504743" y="4293096"/>
            <a:ext cx="3152113" cy="1542365"/>
            <a:chOff x="504743" y="4293096"/>
            <a:chExt cx="3152113" cy="1542365"/>
          </a:xfrm>
        </p:grpSpPr>
        <p:pic>
          <p:nvPicPr>
            <p:cNvPr id="8" name="Picture 3" descr="C:\Users\2652225\Desktop\16_업무계획\01_체크시트\01_connector 주변소자배치(작성중)\HCAN2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743" y="4293096"/>
              <a:ext cx="3152113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1280592" y="5589240"/>
              <a:ext cx="135966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현대하모니 L"/>
                  <a:ea typeface="현대하모니 L"/>
                </a:rPr>
                <a:t>&lt; High Speed CAN &gt;</a:t>
              </a: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964029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패턴 설계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344791"/>
              </p:ext>
            </p:extLst>
          </p:nvPr>
        </p:nvGraphicFramePr>
        <p:xfrm>
          <a:off x="273050" y="828344"/>
          <a:ext cx="9360112" cy="5686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495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[15]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분리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45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PCB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분리는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Auto-Routing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공정으로 처리를 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Main PCB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Dummy 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분리를 위한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Router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bit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 직경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W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 중심선 편차는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0.1mm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이하인가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9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Dummy 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분리 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Main 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손상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27" name="그룹 26"/>
          <p:cNvGrpSpPr/>
          <p:nvPr/>
        </p:nvGrpSpPr>
        <p:grpSpPr>
          <a:xfrm>
            <a:off x="338188" y="2564904"/>
            <a:ext cx="3534748" cy="3542620"/>
            <a:chOff x="338188" y="2564904"/>
            <a:chExt cx="3534748" cy="3542620"/>
          </a:xfrm>
        </p:grpSpPr>
        <p:sp>
          <p:nvSpPr>
            <p:cNvPr id="3" name="직사각형 2"/>
            <p:cNvSpPr/>
            <p:nvPr/>
          </p:nvSpPr>
          <p:spPr>
            <a:xfrm>
              <a:off x="338188" y="2564904"/>
              <a:ext cx="2748823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※ Auto-Routing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적용 권장</a:t>
              </a:r>
            </a:p>
          </p:txBody>
        </p:sp>
        <p:grpSp>
          <p:nvGrpSpPr>
            <p:cNvPr id="26" name="그룹 25"/>
            <p:cNvGrpSpPr/>
            <p:nvPr/>
          </p:nvGrpSpPr>
          <p:grpSpPr>
            <a:xfrm>
              <a:off x="416496" y="2852936"/>
              <a:ext cx="3204304" cy="2916312"/>
              <a:chOff x="416496" y="2708920"/>
              <a:chExt cx="3204304" cy="2916312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560800" y="2739389"/>
                <a:ext cx="3060000" cy="2772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560800" y="3495389"/>
                <a:ext cx="1800000" cy="2016000"/>
              </a:xfrm>
              <a:prstGeom prst="rect">
                <a:avLst/>
              </a:prstGeom>
              <a:solidFill>
                <a:srgbClr val="00B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11" name="Text Box 65"/>
              <p:cNvSpPr txBox="1">
                <a:spLocks noChangeArrowheads="1"/>
              </p:cNvSpPr>
              <p:nvPr/>
            </p:nvSpPr>
            <p:spPr bwMode="auto">
              <a:xfrm>
                <a:off x="1089845" y="2708920"/>
                <a:ext cx="91082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latin typeface="현대하모니 L"/>
                    <a:ea typeface="현대하모니 L"/>
                  </a:rPr>
                  <a:t>Dummy PCB</a:t>
                </a:r>
              </a:p>
            </p:txBody>
          </p:sp>
          <p:sp>
            <p:nvSpPr>
              <p:cNvPr id="112" name="Text Box 66"/>
              <p:cNvSpPr txBox="1">
                <a:spLocks noChangeArrowheads="1"/>
              </p:cNvSpPr>
              <p:nvPr/>
            </p:nvSpPr>
            <p:spPr bwMode="auto">
              <a:xfrm>
                <a:off x="1181344" y="3645024"/>
                <a:ext cx="74732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latin typeface="현대하모니 L"/>
                    <a:ea typeface="현대하모니 L"/>
                  </a:rPr>
                  <a:t>Main PCB</a:t>
                </a:r>
              </a:p>
            </p:txBody>
          </p:sp>
          <p:sp>
            <p:nvSpPr>
              <p:cNvPr id="17" name="모서리가 둥근 직사각형 16"/>
              <p:cNvSpPr/>
              <p:nvPr/>
            </p:nvSpPr>
            <p:spPr>
              <a:xfrm>
                <a:off x="416496" y="2955141"/>
                <a:ext cx="540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2" name="모서리가 둥근 직사각형 61"/>
              <p:cNvSpPr/>
              <p:nvPr/>
            </p:nvSpPr>
            <p:spPr>
              <a:xfrm>
                <a:off x="2180632" y="2955141"/>
                <a:ext cx="129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2648712" y="3027149"/>
                <a:ext cx="252000" cy="90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4" name="모서리가 둥근 직사각형 63"/>
              <p:cNvSpPr/>
              <p:nvPr/>
            </p:nvSpPr>
            <p:spPr>
              <a:xfrm>
                <a:off x="2648712" y="5085232"/>
                <a:ext cx="252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1064512" y="3126346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280552" y="3126346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1712600" y="312633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9" name="타원 68"/>
              <p:cNvSpPr/>
              <p:nvPr/>
            </p:nvSpPr>
            <p:spPr>
              <a:xfrm>
                <a:off x="1496560" y="312633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1" name="타원 70"/>
              <p:cNvSpPr/>
              <p:nvPr/>
            </p:nvSpPr>
            <p:spPr>
              <a:xfrm>
                <a:off x="1928624" y="312633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2" name="모서리가 둥근 직사각형 71"/>
              <p:cNvSpPr/>
              <p:nvPr/>
            </p:nvSpPr>
            <p:spPr>
              <a:xfrm>
                <a:off x="740472" y="2955189"/>
                <a:ext cx="252000" cy="43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3" name="모서리가 둥근 직사각형 72"/>
              <p:cNvSpPr/>
              <p:nvPr/>
            </p:nvSpPr>
            <p:spPr>
              <a:xfrm>
                <a:off x="2180632" y="2955141"/>
                <a:ext cx="252000" cy="43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4" name="모서리가 둥근 직사각형 73"/>
              <p:cNvSpPr/>
              <p:nvPr/>
            </p:nvSpPr>
            <p:spPr>
              <a:xfrm>
                <a:off x="2468712" y="3675221"/>
                <a:ext cx="432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5" name="모서리가 둥근 직사각형 74"/>
              <p:cNvSpPr/>
              <p:nvPr/>
            </p:nvSpPr>
            <p:spPr>
              <a:xfrm>
                <a:off x="2468664" y="5085184"/>
                <a:ext cx="432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7" name="타원 76"/>
              <p:cNvSpPr/>
              <p:nvPr/>
            </p:nvSpPr>
            <p:spPr>
              <a:xfrm>
                <a:off x="2555302" y="396908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2555302" y="4185104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9" name="타원 78"/>
              <p:cNvSpPr/>
              <p:nvPr/>
            </p:nvSpPr>
            <p:spPr>
              <a:xfrm>
                <a:off x="2555302" y="4401128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80" name="타원 79"/>
              <p:cNvSpPr/>
              <p:nvPr/>
            </p:nvSpPr>
            <p:spPr>
              <a:xfrm>
                <a:off x="2555302" y="4617152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>
              <a:xfrm>
                <a:off x="2555302" y="4833176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cxnSp>
            <p:nvCxnSpPr>
              <p:cNvPr id="21" name="직선 연결선 20"/>
              <p:cNvCxnSpPr/>
              <p:nvPr/>
            </p:nvCxnSpPr>
            <p:spPr>
              <a:xfrm>
                <a:off x="821484" y="3200978"/>
                <a:ext cx="1530152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타원 90"/>
              <p:cNvSpPr/>
              <p:nvPr/>
            </p:nvSpPr>
            <p:spPr>
              <a:xfrm>
                <a:off x="2648712" y="3356992"/>
                <a:ext cx="252000" cy="252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2323188" y="3212976"/>
                <a:ext cx="1153588" cy="2030672"/>
                <a:chOff x="2101542" y="3590806"/>
                <a:chExt cx="1153588" cy="2030672"/>
              </a:xfrm>
            </p:grpSpPr>
            <p:sp>
              <p:nvSpPr>
                <p:cNvPr id="108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2791259" y="3590806"/>
                  <a:ext cx="463871" cy="2096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5258" tIns="27629" rIns="55258" bIns="27629">
                  <a:spAutoFit/>
                </a:bodyPr>
                <a:lstStyle>
                  <a:lvl1pPr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fontAlgn="ctr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∮D</a:t>
                  </a:r>
                </a:p>
              </p:txBody>
            </p:sp>
            <p:sp>
              <p:nvSpPr>
                <p:cNvPr id="107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2211074" y="3734822"/>
                  <a:ext cx="231935" cy="2096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5258" tIns="27629" rIns="55258" bIns="27629">
                  <a:spAutoFit/>
                </a:bodyPr>
                <a:lstStyle>
                  <a:lvl1pPr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defTabSz="9588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defTabSz="9588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fontAlgn="ctr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W</a:t>
                  </a:r>
                </a:p>
              </p:txBody>
            </p:sp>
            <p:cxnSp>
              <p:nvCxnSpPr>
                <p:cNvPr id="8" name="직선 연결선 7"/>
                <p:cNvCxnSpPr/>
                <p:nvPr/>
              </p:nvCxnSpPr>
              <p:spPr>
                <a:xfrm>
                  <a:off x="2553584" y="3749478"/>
                  <a:ext cx="0" cy="187200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/>
                <p:cNvCxnSpPr/>
                <p:nvPr/>
              </p:nvCxnSpPr>
              <p:spPr>
                <a:xfrm>
                  <a:off x="2427771" y="3735019"/>
                  <a:ext cx="0" cy="187200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/>
                <p:cNvCxnSpPr/>
                <p:nvPr/>
              </p:nvCxnSpPr>
              <p:spPr>
                <a:xfrm>
                  <a:off x="2684959" y="3734822"/>
                  <a:ext cx="0" cy="187200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화살표 연결선 9"/>
                <p:cNvCxnSpPr/>
                <p:nvPr/>
              </p:nvCxnSpPr>
              <p:spPr>
                <a:xfrm>
                  <a:off x="2101542" y="3982273"/>
                  <a:ext cx="313488" cy="0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/>
                <p:cNvCxnSpPr/>
                <p:nvPr/>
              </p:nvCxnSpPr>
              <p:spPr>
                <a:xfrm>
                  <a:off x="2678589" y="3982273"/>
                  <a:ext cx="313488" cy="0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2559549" y="3722364"/>
                  <a:ext cx="357118" cy="132615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  <p:cxnSp>
            <p:nvCxnSpPr>
              <p:cNvPr id="93" name="직선 화살표 연결선 92"/>
              <p:cNvCxnSpPr/>
              <p:nvPr/>
            </p:nvCxnSpPr>
            <p:spPr>
              <a:xfrm>
                <a:off x="2216696" y="4494490"/>
                <a:ext cx="313488" cy="0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1424608" y="4365104"/>
                <a:ext cx="856325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0" dirty="0">
                    <a:latin typeface="현대하모니 L"/>
                    <a:ea typeface="현대하모니 L"/>
                  </a:rPr>
                  <a:t>Missing hole</a:t>
                </a:r>
                <a:endParaRPr lang="ko-KR" altLang="en-US" sz="900" b="0" dirty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568624" y="5661248"/>
              <a:ext cx="2304312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예</a:t>
              </a: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) Router Bit </a:t>
              </a:r>
              <a:r>
                <a: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직경</a:t>
              </a: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D = 2.0 ± 0.05mm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    Missing hole </a:t>
              </a:r>
              <a:r>
                <a: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직경 </a:t>
              </a: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= 0.5mm</a:t>
              </a:r>
              <a:endParaRPr lang="ko-KR" altLang="en-US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943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</a:t>
            </a:r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12866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외곽선 주변 부품 배치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(V-Cut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및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재봉선에서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20mm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이내에 부품을 배치하는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경우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칩 부품의 길이 방향을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V-Cut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및 재봉선과 평행이 되도록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V-Cut/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재봉선과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칩부품의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이격거리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(A)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다음의 조건을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  ※ FR-4 : A ≥ 3mm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분리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시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부품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크랙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4" name="Group 117"/>
          <p:cNvGrpSpPr>
            <a:grpSpLocks/>
          </p:cNvGrpSpPr>
          <p:nvPr/>
        </p:nvGrpSpPr>
        <p:grpSpPr bwMode="auto">
          <a:xfrm>
            <a:off x="577944" y="3530600"/>
            <a:ext cx="2884950" cy="2203450"/>
            <a:chOff x="336" y="2115"/>
            <a:chExt cx="1678" cy="1388"/>
          </a:xfrm>
        </p:grpSpPr>
        <p:sp>
          <p:nvSpPr>
            <p:cNvPr id="45" name="Rectangle 85"/>
            <p:cNvSpPr>
              <a:spLocks noChangeArrowheads="1"/>
            </p:cNvSpPr>
            <p:nvPr/>
          </p:nvSpPr>
          <p:spPr bwMode="auto">
            <a:xfrm>
              <a:off x="353" y="2188"/>
              <a:ext cx="1633" cy="1315"/>
            </a:xfrm>
            <a:prstGeom prst="rect">
              <a:avLst/>
            </a:prstGeom>
            <a:solidFill>
              <a:srgbClr val="66FFFF">
                <a:alpha val="6509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46" name="AutoShape 86"/>
            <p:cNvSpPr>
              <a:spLocks noChangeArrowheads="1"/>
            </p:cNvSpPr>
            <p:nvPr/>
          </p:nvSpPr>
          <p:spPr bwMode="auto">
            <a:xfrm rot="5400000">
              <a:off x="1071" y="2222"/>
              <a:ext cx="207" cy="78"/>
            </a:xfrm>
            <a:prstGeom prst="flowChartTerminator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7" name="Oval 87"/>
            <p:cNvSpPr>
              <a:spLocks noChangeArrowheads="1"/>
            </p:cNvSpPr>
            <p:nvPr/>
          </p:nvSpPr>
          <p:spPr bwMode="auto">
            <a:xfrm>
              <a:off x="1136" y="2427"/>
              <a:ext cx="78" cy="83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8" name="Oval 88"/>
            <p:cNvSpPr>
              <a:spLocks noChangeArrowheads="1"/>
            </p:cNvSpPr>
            <p:nvPr/>
          </p:nvSpPr>
          <p:spPr bwMode="auto">
            <a:xfrm>
              <a:off x="1136" y="2572"/>
              <a:ext cx="78" cy="83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ko-KR" altLang="ko-KR" sz="1000" b="0">
                <a:latin typeface="현대하모니 L"/>
                <a:ea typeface="현대하모니 L"/>
              </a:endParaRPr>
            </a:p>
          </p:txBody>
        </p:sp>
        <p:sp>
          <p:nvSpPr>
            <p:cNvPr id="49" name="Oval 89"/>
            <p:cNvSpPr>
              <a:spLocks noChangeArrowheads="1"/>
            </p:cNvSpPr>
            <p:nvPr/>
          </p:nvSpPr>
          <p:spPr bwMode="auto">
            <a:xfrm>
              <a:off x="1136" y="2717"/>
              <a:ext cx="78" cy="83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0" name="Oval 90"/>
            <p:cNvSpPr>
              <a:spLocks noChangeArrowheads="1"/>
            </p:cNvSpPr>
            <p:nvPr/>
          </p:nvSpPr>
          <p:spPr bwMode="auto">
            <a:xfrm>
              <a:off x="1136" y="2862"/>
              <a:ext cx="78" cy="8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1" name="AutoShape 91"/>
            <p:cNvSpPr>
              <a:spLocks noChangeArrowheads="1"/>
            </p:cNvSpPr>
            <p:nvPr/>
          </p:nvSpPr>
          <p:spPr bwMode="auto">
            <a:xfrm rot="5400000">
              <a:off x="1061" y="3083"/>
              <a:ext cx="228" cy="78"/>
            </a:xfrm>
            <a:prstGeom prst="flowChartTerminator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3" name="Line 92"/>
            <p:cNvSpPr>
              <a:spLocks noChangeShapeType="1"/>
            </p:cNvSpPr>
            <p:nvPr/>
          </p:nvSpPr>
          <p:spPr bwMode="auto">
            <a:xfrm flipH="1">
              <a:off x="336" y="2198"/>
              <a:ext cx="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5" name="Line 93"/>
            <p:cNvSpPr>
              <a:spLocks noChangeShapeType="1"/>
            </p:cNvSpPr>
            <p:nvPr/>
          </p:nvSpPr>
          <p:spPr bwMode="auto">
            <a:xfrm flipH="1">
              <a:off x="1214" y="2198"/>
              <a:ext cx="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6" name="Rectangle 94"/>
            <p:cNvSpPr>
              <a:spLocks noChangeArrowheads="1"/>
            </p:cNvSpPr>
            <p:nvPr/>
          </p:nvSpPr>
          <p:spPr bwMode="auto">
            <a:xfrm>
              <a:off x="1118" y="2115"/>
              <a:ext cx="129" cy="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grpSp>
          <p:nvGrpSpPr>
            <p:cNvPr id="57" name="Group 95"/>
            <p:cNvGrpSpPr>
              <a:grpSpLocks/>
            </p:cNvGrpSpPr>
            <p:nvPr/>
          </p:nvGrpSpPr>
          <p:grpSpPr bwMode="auto">
            <a:xfrm>
              <a:off x="1506" y="2509"/>
              <a:ext cx="79" cy="167"/>
              <a:chOff x="521" y="3294"/>
              <a:chExt cx="182" cy="363"/>
            </a:xfrm>
          </p:grpSpPr>
          <p:sp>
            <p:nvSpPr>
              <p:cNvPr id="77" name="Rectangle 96"/>
              <p:cNvSpPr>
                <a:spLocks noChangeArrowheads="1"/>
              </p:cNvSpPr>
              <p:nvPr/>
            </p:nvSpPr>
            <p:spPr bwMode="auto">
              <a:xfrm>
                <a:off x="521" y="3294"/>
                <a:ext cx="182" cy="363"/>
              </a:xfrm>
              <a:prstGeom prst="rect">
                <a:avLst/>
              </a:prstGeom>
              <a:solidFill>
                <a:srgbClr val="80808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8" name="Rectangle 97"/>
              <p:cNvSpPr>
                <a:spLocks noChangeArrowheads="1"/>
              </p:cNvSpPr>
              <p:nvPr/>
            </p:nvSpPr>
            <p:spPr bwMode="auto">
              <a:xfrm>
                <a:off x="521" y="3385"/>
                <a:ext cx="182" cy="181"/>
              </a:xfrm>
              <a:prstGeom prst="rect">
                <a:avLst/>
              </a:prstGeom>
              <a:solidFill>
                <a:srgbClr val="C0C0C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58" name="Group 98"/>
            <p:cNvGrpSpPr>
              <a:grpSpLocks/>
            </p:cNvGrpSpPr>
            <p:nvPr/>
          </p:nvGrpSpPr>
          <p:grpSpPr bwMode="auto">
            <a:xfrm rot="5400000">
              <a:off x="704" y="2536"/>
              <a:ext cx="83" cy="156"/>
              <a:chOff x="521" y="3294"/>
              <a:chExt cx="182" cy="363"/>
            </a:xfrm>
          </p:grpSpPr>
          <p:sp>
            <p:nvSpPr>
              <p:cNvPr id="75" name="Rectangle 99"/>
              <p:cNvSpPr>
                <a:spLocks noChangeArrowheads="1"/>
              </p:cNvSpPr>
              <p:nvPr/>
            </p:nvSpPr>
            <p:spPr bwMode="auto">
              <a:xfrm>
                <a:off x="521" y="3294"/>
                <a:ext cx="182" cy="363"/>
              </a:xfrm>
              <a:prstGeom prst="rect">
                <a:avLst/>
              </a:prstGeom>
              <a:solidFill>
                <a:srgbClr val="80808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6" name="Rectangle 100"/>
              <p:cNvSpPr>
                <a:spLocks noChangeArrowheads="1"/>
              </p:cNvSpPr>
              <p:nvPr/>
            </p:nvSpPr>
            <p:spPr bwMode="auto">
              <a:xfrm>
                <a:off x="521" y="3385"/>
                <a:ext cx="182" cy="181"/>
              </a:xfrm>
              <a:prstGeom prst="rect">
                <a:avLst/>
              </a:prstGeom>
              <a:solidFill>
                <a:srgbClr val="C0C0C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59" name="Group 101"/>
            <p:cNvGrpSpPr>
              <a:grpSpLocks/>
            </p:cNvGrpSpPr>
            <p:nvPr/>
          </p:nvGrpSpPr>
          <p:grpSpPr bwMode="auto">
            <a:xfrm rot="5400000">
              <a:off x="548" y="2680"/>
              <a:ext cx="83" cy="157"/>
              <a:chOff x="521" y="3294"/>
              <a:chExt cx="182" cy="363"/>
            </a:xfrm>
          </p:grpSpPr>
          <p:sp>
            <p:nvSpPr>
              <p:cNvPr id="73" name="Rectangle 102"/>
              <p:cNvSpPr>
                <a:spLocks noChangeArrowheads="1"/>
              </p:cNvSpPr>
              <p:nvPr/>
            </p:nvSpPr>
            <p:spPr bwMode="auto">
              <a:xfrm>
                <a:off x="521" y="3294"/>
                <a:ext cx="182" cy="363"/>
              </a:xfrm>
              <a:prstGeom prst="rect">
                <a:avLst/>
              </a:prstGeom>
              <a:solidFill>
                <a:srgbClr val="80808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4" name="Rectangle 103"/>
              <p:cNvSpPr>
                <a:spLocks noChangeArrowheads="1"/>
              </p:cNvSpPr>
              <p:nvPr/>
            </p:nvSpPr>
            <p:spPr bwMode="auto">
              <a:xfrm>
                <a:off x="521" y="3385"/>
                <a:ext cx="182" cy="181"/>
              </a:xfrm>
              <a:prstGeom prst="rect">
                <a:avLst/>
              </a:prstGeom>
              <a:solidFill>
                <a:srgbClr val="C0C0C0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60" name="Line 104"/>
            <p:cNvSpPr>
              <a:spLocks noChangeShapeType="1"/>
            </p:cNvSpPr>
            <p:nvPr/>
          </p:nvSpPr>
          <p:spPr bwMode="auto">
            <a:xfrm>
              <a:off x="1506" y="2696"/>
              <a:ext cx="0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1" name="Line 105"/>
            <p:cNvSpPr>
              <a:spLocks noChangeShapeType="1"/>
            </p:cNvSpPr>
            <p:nvPr/>
          </p:nvSpPr>
          <p:spPr bwMode="auto">
            <a:xfrm>
              <a:off x="1760" y="2233"/>
              <a:ext cx="0" cy="110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2" name="Line 106"/>
            <p:cNvSpPr>
              <a:spLocks noChangeShapeType="1"/>
            </p:cNvSpPr>
            <p:nvPr/>
          </p:nvSpPr>
          <p:spPr bwMode="auto">
            <a:xfrm>
              <a:off x="590" y="2233"/>
              <a:ext cx="0" cy="110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3" name="Line 107"/>
            <p:cNvSpPr>
              <a:spLocks noChangeShapeType="1"/>
            </p:cNvSpPr>
            <p:nvPr/>
          </p:nvSpPr>
          <p:spPr bwMode="auto">
            <a:xfrm>
              <a:off x="1175" y="2157"/>
              <a:ext cx="0" cy="118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4" name="Line 108"/>
            <p:cNvSpPr>
              <a:spLocks noChangeShapeType="1"/>
            </p:cNvSpPr>
            <p:nvPr/>
          </p:nvSpPr>
          <p:spPr bwMode="auto">
            <a:xfrm>
              <a:off x="590" y="3298"/>
              <a:ext cx="58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5" name="Line 109"/>
            <p:cNvSpPr>
              <a:spLocks noChangeShapeType="1"/>
            </p:cNvSpPr>
            <p:nvPr/>
          </p:nvSpPr>
          <p:spPr bwMode="auto">
            <a:xfrm>
              <a:off x="1175" y="3298"/>
              <a:ext cx="58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6" name="Line 110"/>
            <p:cNvSpPr>
              <a:spLocks noChangeShapeType="1"/>
            </p:cNvSpPr>
            <p:nvPr/>
          </p:nvSpPr>
          <p:spPr bwMode="auto">
            <a:xfrm>
              <a:off x="1209" y="2892"/>
              <a:ext cx="293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67" name="Text Box 111"/>
            <p:cNvSpPr txBox="1">
              <a:spLocks noChangeArrowheads="1"/>
            </p:cNvSpPr>
            <p:nvPr/>
          </p:nvSpPr>
          <p:spPr bwMode="auto">
            <a:xfrm>
              <a:off x="720" y="3162"/>
              <a:ext cx="59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 dirty="0">
                  <a:latin typeface="현대하모니 L"/>
                  <a:ea typeface="현대하모니 L"/>
                </a:rPr>
                <a:t>20mm</a:t>
              </a:r>
            </a:p>
          </p:txBody>
        </p:sp>
        <p:sp>
          <p:nvSpPr>
            <p:cNvPr id="68" name="Text Box 112"/>
            <p:cNvSpPr txBox="1">
              <a:spLocks noChangeArrowheads="1"/>
            </p:cNvSpPr>
            <p:nvPr/>
          </p:nvSpPr>
          <p:spPr bwMode="auto">
            <a:xfrm>
              <a:off x="1334" y="3158"/>
              <a:ext cx="59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>
                  <a:latin typeface="현대하모니 L"/>
                  <a:ea typeface="현대하모니 L"/>
                </a:rPr>
                <a:t>20mm</a:t>
              </a:r>
            </a:p>
          </p:txBody>
        </p:sp>
        <p:sp>
          <p:nvSpPr>
            <p:cNvPr id="69" name="Text Box 113"/>
            <p:cNvSpPr txBox="1">
              <a:spLocks noChangeArrowheads="1"/>
            </p:cNvSpPr>
            <p:nvPr/>
          </p:nvSpPr>
          <p:spPr bwMode="auto">
            <a:xfrm>
              <a:off x="1276" y="2895"/>
              <a:ext cx="18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 dirty="0">
                  <a:latin typeface="현대하모니 L"/>
                  <a:ea typeface="현대하모니 L"/>
                </a:rPr>
                <a:t>A</a:t>
              </a:r>
            </a:p>
          </p:txBody>
        </p:sp>
        <p:sp>
          <p:nvSpPr>
            <p:cNvPr id="70" name="Text Box 114"/>
            <p:cNvSpPr txBox="1">
              <a:spLocks noChangeArrowheads="1"/>
            </p:cNvSpPr>
            <p:nvPr/>
          </p:nvSpPr>
          <p:spPr bwMode="auto">
            <a:xfrm>
              <a:off x="384" y="2524"/>
              <a:ext cx="33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FF0000"/>
                  </a:solidFill>
                  <a:latin typeface="현대하모니 L"/>
                  <a:ea typeface="현대하모니 L"/>
                </a:rPr>
                <a:t>NG</a:t>
              </a:r>
            </a:p>
          </p:txBody>
        </p:sp>
        <p:sp>
          <p:nvSpPr>
            <p:cNvPr id="71" name="Text Box 115"/>
            <p:cNvSpPr txBox="1">
              <a:spLocks noChangeArrowheads="1"/>
            </p:cNvSpPr>
            <p:nvPr/>
          </p:nvSpPr>
          <p:spPr bwMode="auto">
            <a:xfrm>
              <a:off x="1457" y="2304"/>
              <a:ext cx="28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OK</a:t>
              </a:r>
            </a:p>
          </p:txBody>
        </p:sp>
        <p:sp>
          <p:nvSpPr>
            <p:cNvPr id="72" name="Text Box 116"/>
            <p:cNvSpPr txBox="1">
              <a:spLocks noChangeArrowheads="1"/>
            </p:cNvSpPr>
            <p:nvPr/>
          </p:nvSpPr>
          <p:spPr bwMode="auto">
            <a:xfrm>
              <a:off x="624" y="2332"/>
              <a:ext cx="43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FF0000"/>
                  </a:solidFill>
                  <a:latin typeface="현대하모니 L"/>
                  <a:ea typeface="현대하모니 L"/>
                </a:rPr>
                <a:t>NG</a:t>
              </a:r>
            </a:p>
          </p:txBody>
        </p:sp>
      </p:grpSp>
      <p:sp>
        <p:nvSpPr>
          <p:cNvPr id="42" name="직사각형 4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13360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</a:t>
            </a:r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 </a:t>
            </a:r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13037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[17]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부품 최소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거리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부품을 배치할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최소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거리는 아래 권장 조건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(Component spacing)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을 만족하는가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실장 장비의 정밀도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크기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패키지 종류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솔더링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등에 따라 부품간 최소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거리를 설정할 것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거리 기준은 부품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랜드와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패키지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Outline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중 더 큰 것을 기준으로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자체 기준을 적용하는 경우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자체 기준 첨부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* 사용 부품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Group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BGA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IC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SMD Conn : SMD Connector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PTH Conn : PTH Connector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SD Chip : Standard Chip(2012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Chip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의미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OT Chip : Other Chip(3216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이상의 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Chip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의미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OT PTH : Other PTH(Axial, Radial</a:t>
                      </a:r>
                      <a:r>
                        <a:rPr lang="ko-KR" altLang="en-US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</a:t>
                      </a: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부품간 간섭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쇼트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775283" y="5210564"/>
            <a:ext cx="2449525" cy="954740"/>
            <a:chOff x="560512" y="5126994"/>
            <a:chExt cx="2952708" cy="1056946"/>
          </a:xfrm>
        </p:grpSpPr>
        <p:grpSp>
          <p:nvGrpSpPr>
            <p:cNvPr id="6" name="그룹 5"/>
            <p:cNvGrpSpPr/>
            <p:nvPr/>
          </p:nvGrpSpPr>
          <p:grpSpPr>
            <a:xfrm>
              <a:off x="560512" y="5126996"/>
              <a:ext cx="1285817" cy="1031918"/>
              <a:chOff x="1473915" y="5013176"/>
              <a:chExt cx="1246837" cy="1106350"/>
            </a:xfrm>
          </p:grpSpPr>
          <p:pic>
            <p:nvPicPr>
              <p:cNvPr id="29744" name="Picture 48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79" t="1154"/>
              <a:stretch/>
            </p:blipFill>
            <p:spPr bwMode="auto">
              <a:xfrm>
                <a:off x="1473915" y="5013176"/>
                <a:ext cx="1246837" cy="1019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" name="타원 2"/>
              <p:cNvSpPr/>
              <p:nvPr/>
            </p:nvSpPr>
            <p:spPr>
              <a:xfrm>
                <a:off x="1926047" y="5600242"/>
                <a:ext cx="386651" cy="360040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2230040" y="5822547"/>
                <a:ext cx="392022" cy="2969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NG</a:t>
                </a:r>
                <a:endParaRPr lang="ko-KR" altLang="en-US" sz="12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1956413" y="5126994"/>
              <a:ext cx="1556807" cy="1056946"/>
              <a:chOff x="1966740" y="5126994"/>
              <a:chExt cx="1556807" cy="1056946"/>
            </a:xfrm>
          </p:grpSpPr>
          <p:pic>
            <p:nvPicPr>
              <p:cNvPr id="129" name="Picture 45" descr="D:\1. 디자인리뷰\0. 차종별 DR 현황\YG\2. RCL\INSIDE\4. 보고서 자료\PCB\수정본\IO7A0428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6740" y="5126994"/>
                <a:ext cx="1556807" cy="950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" name="타원 129"/>
              <p:cNvSpPr/>
              <p:nvPr/>
            </p:nvSpPr>
            <p:spPr>
              <a:xfrm>
                <a:off x="2504728" y="5699592"/>
                <a:ext cx="398739" cy="335817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2818225" y="5906941"/>
                <a:ext cx="40427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NG</a:t>
                </a:r>
                <a:endParaRPr lang="ko-KR" altLang="en-US" sz="12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</p:grpSp>
      </p:grpSp>
      <p:sp>
        <p:nvSpPr>
          <p:cNvPr id="124" name="직사각형 12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267152" y="2924944"/>
            <a:ext cx="3603872" cy="2159660"/>
            <a:chOff x="267152" y="2924944"/>
            <a:chExt cx="3603872" cy="2159660"/>
          </a:xfrm>
        </p:grpSpPr>
        <p:sp>
          <p:nvSpPr>
            <p:cNvPr id="137" name="TextBox 136"/>
            <p:cNvSpPr txBox="1"/>
            <p:nvPr/>
          </p:nvSpPr>
          <p:spPr>
            <a:xfrm>
              <a:off x="267152" y="4869160"/>
              <a:ext cx="360387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800" b="0" dirty="0">
                  <a:latin typeface="현대하모니 L"/>
                  <a:ea typeface="현대하모니 L"/>
                </a:rPr>
                <a:t>※ Reverse Placement Spacing : Wave </a:t>
              </a:r>
              <a:r>
                <a:rPr lang="ko-KR" altLang="en-US" sz="800" b="0" dirty="0" err="1">
                  <a:latin typeface="현대하모니 L"/>
                  <a:ea typeface="현대하모니 L"/>
                </a:rPr>
                <a:t>솔더링</a:t>
              </a:r>
              <a:r>
                <a:rPr lang="ko-KR" altLang="en-US" sz="800" b="0" dirty="0">
                  <a:latin typeface="현대하모니 L"/>
                  <a:ea typeface="현대하모니 L"/>
                </a:rPr>
                <a:t> </a:t>
              </a:r>
              <a:r>
                <a:rPr lang="en-US" altLang="ko-KR" sz="800" b="0" dirty="0">
                  <a:latin typeface="현대하모니 L"/>
                  <a:ea typeface="현대하모니 L"/>
                </a:rPr>
                <a:t>5mm, </a:t>
              </a:r>
              <a:r>
                <a:rPr lang="ko-KR" altLang="en-US" sz="800" b="0" dirty="0" err="1">
                  <a:latin typeface="현대하모니 L"/>
                  <a:ea typeface="현대하모니 L"/>
                </a:rPr>
                <a:t>반자동</a:t>
              </a:r>
              <a:r>
                <a:rPr lang="ko-KR" altLang="en-US" sz="800" b="0" dirty="0">
                  <a:latin typeface="현대하모니 L"/>
                  <a:ea typeface="현대하모니 L"/>
                </a:rPr>
                <a:t> </a:t>
              </a:r>
              <a:r>
                <a:rPr lang="ko-KR" altLang="en-US" sz="800" b="0" dirty="0" err="1">
                  <a:latin typeface="현대하모니 L"/>
                  <a:ea typeface="현대하모니 L"/>
                </a:rPr>
                <a:t>솔더링</a:t>
              </a:r>
              <a:r>
                <a:rPr lang="ko-KR" altLang="en-US" sz="800" b="0" dirty="0">
                  <a:latin typeface="현대하모니 L"/>
                  <a:ea typeface="현대하모니 L"/>
                </a:rPr>
                <a:t> </a:t>
              </a:r>
              <a:r>
                <a:rPr lang="en-US" altLang="ko-KR" sz="800" b="0" dirty="0">
                  <a:latin typeface="현대하모니 L"/>
                  <a:ea typeface="현대하모니 L"/>
                </a:rPr>
                <a:t>: 3mm</a:t>
              </a:r>
              <a:endParaRPr lang="ko-KR" altLang="en-US" sz="800" b="0" dirty="0">
                <a:latin typeface="현대하모니 L"/>
                <a:ea typeface="현대하모니 L"/>
              </a:endParaRPr>
            </a:p>
          </p:txBody>
        </p:sp>
        <p:pic>
          <p:nvPicPr>
            <p:cNvPr id="135" name="그림 1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22" y="4077072"/>
              <a:ext cx="3322850" cy="864096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72480" y="3883908"/>
              <a:ext cx="129715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800" b="0" dirty="0">
                  <a:latin typeface="현대하모니 L"/>
                  <a:ea typeface="현대하모니 L"/>
                </a:rPr>
                <a:t>※ Component Spacing</a:t>
              </a:r>
              <a:endParaRPr lang="ko-KR" altLang="en-US" sz="800" b="0" dirty="0">
                <a:latin typeface="현대하모니 L"/>
                <a:ea typeface="현대하모니 L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560512" y="2924944"/>
              <a:ext cx="3072926" cy="913244"/>
              <a:chOff x="560512" y="2924944"/>
              <a:chExt cx="3072926" cy="913244"/>
            </a:xfrm>
          </p:grpSpPr>
          <p:pic>
            <p:nvPicPr>
              <p:cNvPr id="136" name="그림 13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0512" y="2924944"/>
                <a:ext cx="3072926" cy="873054"/>
              </a:xfrm>
              <a:prstGeom prst="rect">
                <a:avLst/>
              </a:prstGeom>
            </p:spPr>
          </p:pic>
          <p:sp>
            <p:nvSpPr>
              <p:cNvPr id="11" name="타원 10"/>
              <p:cNvSpPr/>
              <p:nvPr/>
            </p:nvSpPr>
            <p:spPr>
              <a:xfrm>
                <a:off x="621031" y="3613206"/>
                <a:ext cx="1335381" cy="22498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9741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6232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[18]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ESD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제거용 부품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모든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I.O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포트에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ESD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제거용 부품을 배치하였는가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(GND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포트 제외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ESD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제거용 부품은 커넥터에 최대한 가깝게 배치하였는가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ESD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제거용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부품은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외부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노이즈가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최대한 흡수되도록 권장안과 같이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ESD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제거용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부품은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차체 그라운드에 연결하여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유니트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내로 유입되는 것을 방지 하도록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커넥터와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ESD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제거용 부품 거리 확인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ESD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의한 부품 파손 및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유니트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오동작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764298" y="3284984"/>
            <a:ext cx="2391048" cy="1351389"/>
            <a:chOff x="344488" y="3653876"/>
            <a:chExt cx="3247335" cy="230307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488" y="3933056"/>
              <a:ext cx="1564697" cy="2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398" y="3976946"/>
              <a:ext cx="1565425" cy="19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Text Box 115"/>
            <p:cNvSpPr txBox="1">
              <a:spLocks noChangeArrowheads="1"/>
            </p:cNvSpPr>
            <p:nvPr/>
          </p:nvSpPr>
          <p:spPr bwMode="auto">
            <a:xfrm>
              <a:off x="705406" y="3653876"/>
              <a:ext cx="873848" cy="47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91" name="Text Box 116"/>
            <p:cNvSpPr txBox="1">
              <a:spLocks noChangeArrowheads="1"/>
            </p:cNvSpPr>
            <p:nvPr/>
          </p:nvSpPr>
          <p:spPr bwMode="auto">
            <a:xfrm>
              <a:off x="2305039" y="3653876"/>
              <a:ext cx="880378" cy="47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76536" y="4725144"/>
            <a:ext cx="2448272" cy="1224136"/>
            <a:chOff x="800734" y="3789040"/>
            <a:chExt cx="3864234" cy="2306563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734" y="3789040"/>
              <a:ext cx="3864234" cy="2306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직사각형 25"/>
            <p:cNvSpPr/>
            <p:nvPr/>
          </p:nvSpPr>
          <p:spPr>
            <a:xfrm>
              <a:off x="1285678" y="5229224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597884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926329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238641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52456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872083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178583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497017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812025" y="5229200"/>
              <a:ext cx="88973" cy="21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20" y="5919083"/>
            <a:ext cx="309634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※ </a:t>
            </a:r>
            <a:r>
              <a:rPr lang="ko-KR" altLang="en-US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커넥터와 </a:t>
            </a:r>
            <a:r>
              <a:rPr lang="en-US" altLang="ko-KR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ESD </a:t>
            </a:r>
            <a:r>
              <a:rPr lang="ko-KR" altLang="en-US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제거용 부품 간격 </a:t>
            </a:r>
            <a:r>
              <a:rPr lang="en-US" altLang="ko-KR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A</a:t>
            </a:r>
            <a:r>
              <a:rPr lang="ko-KR" altLang="en-US" sz="800" b="0" dirty="0">
                <a:solidFill>
                  <a:srgbClr val="0000FF"/>
                </a:solidFill>
                <a:latin typeface="현대하모니 L"/>
                <a:ea typeface="현대하모니 L"/>
              </a:rPr>
              <a:t>는 최대한 가깝게 설계</a:t>
            </a:r>
          </a:p>
        </p:txBody>
      </p:sp>
    </p:spTree>
    <p:extLst>
      <p:ext uri="{BB962C8B-B14F-4D97-AF65-F5344CB8AC3E}">
        <p14:creationId xmlns:p14="http://schemas.microsoft.com/office/powerpoint/2010/main" val="100617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555181"/>
              </p:ext>
            </p:extLst>
          </p:nvPr>
        </p:nvGraphicFramePr>
        <p:xfrm>
          <a:off x="273050" y="908720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[19]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(Electrolytic Capacitors)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자동차내 제어기 위치에 따른 최대 온도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전류리플을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고려하여 전해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선정하였는가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AEC-Q200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자동차의 수명을 고려하여 부품을 선정하였는가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설계팀에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요구 수명 확인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일반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전장품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10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mile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PT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전장품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: 15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30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Wingdings" panose="05000000000000000000" pitchFamily="2" charset="2"/>
                        </a:rPr>
                        <a:t>km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이상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열을 발생시키는 소자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(Regulator/Driver IC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이격하여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배치하였는가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자동차 환경에 적합한 전해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적용하였는가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E.G+Water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30%,50%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이상인 용매를 적용하는 수계콘덴서의 경우 자동차 환경에 대한 보증이 충분하지 않음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제어기의 안전 부품 등급을 고려하여 선정하였는가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등급 확인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제조사와 협의하여 부품 선정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내구 신뢰성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0" name="그룹 19"/>
          <p:cNvGrpSpPr/>
          <p:nvPr/>
        </p:nvGrpSpPr>
        <p:grpSpPr>
          <a:xfrm>
            <a:off x="992560" y="4221088"/>
            <a:ext cx="1872208" cy="1887600"/>
            <a:chOff x="1052682" y="3517900"/>
            <a:chExt cx="2418150" cy="2647950"/>
          </a:xfrm>
        </p:grpSpPr>
        <p:grpSp>
          <p:nvGrpSpPr>
            <p:cNvPr id="24" name="Group 76"/>
            <p:cNvGrpSpPr>
              <a:grpSpLocks/>
            </p:cNvGrpSpPr>
            <p:nvPr/>
          </p:nvGrpSpPr>
          <p:grpSpPr bwMode="auto">
            <a:xfrm>
              <a:off x="1052682" y="3868738"/>
              <a:ext cx="2418150" cy="2297112"/>
              <a:chOff x="692" y="2296"/>
              <a:chExt cx="1179" cy="1179"/>
            </a:xfrm>
          </p:grpSpPr>
          <p:pic>
            <p:nvPicPr>
              <p:cNvPr id="27" name="Picture 77" descr="DSC00926(멜코1)"/>
              <p:cNvPicPr preferRelativeResize="0"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475" t="2901" r="19550" b="15677"/>
              <a:stretch>
                <a:fillRect/>
              </a:stretch>
            </p:blipFill>
            <p:spPr bwMode="auto">
              <a:xfrm>
                <a:off x="716" y="2296"/>
                <a:ext cx="1134" cy="11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Text Box 80"/>
              <p:cNvSpPr txBox="1">
                <a:spLocks noChangeArrowheads="1"/>
              </p:cNvSpPr>
              <p:nvPr/>
            </p:nvSpPr>
            <p:spPr bwMode="auto">
              <a:xfrm>
                <a:off x="692" y="2329"/>
                <a:ext cx="1179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FFFF00"/>
                    </a:solidFill>
                    <a:latin typeface="현대하모니 L"/>
                    <a:ea typeface="현대하모니 L"/>
                  </a:rPr>
                  <a:t>Regulator/Driver IC</a:t>
                </a:r>
              </a:p>
            </p:txBody>
          </p:sp>
        </p:grpSp>
        <p:sp>
          <p:nvSpPr>
            <p:cNvPr id="25" name="Text Box 81"/>
            <p:cNvSpPr txBox="1">
              <a:spLocks noChangeArrowheads="1"/>
            </p:cNvSpPr>
            <p:nvPr/>
          </p:nvSpPr>
          <p:spPr bwMode="auto">
            <a:xfrm>
              <a:off x="1823284" y="3517900"/>
              <a:ext cx="837259" cy="391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196699" y="4237980"/>
              <a:ext cx="2160240" cy="779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b="0">
                <a:latin typeface="현대하모니 L"/>
                <a:ea typeface="현대하모니 L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7040874" y="6146446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936" y="4393798"/>
            <a:ext cx="1690901" cy="1548597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595669" y="6003487"/>
            <a:ext cx="14401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3) </a:t>
            </a:r>
            <a:r>
              <a:rPr lang="ko-KR" altLang="en-US" sz="1000" dirty="0" err="1" smtClean="0">
                <a:latin typeface="현대하모니 L"/>
                <a:ea typeface="현대하모니 L"/>
              </a:rPr>
              <a:t>이격</a:t>
            </a:r>
            <a:r>
              <a:rPr lang="ko-KR" altLang="en-US" sz="1000" dirty="0" smtClean="0">
                <a:latin typeface="현대하모니 L"/>
                <a:ea typeface="현대하모니 L"/>
              </a:rPr>
              <a:t> 거리 고려 배치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4040691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771830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[20]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고정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8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[Lead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타입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아래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사항 중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개 항목이라도 해당되면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Bonding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이나 전용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Socket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등으로 소자를 고정하였는가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Capacitor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질량이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10g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을 초과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 m ≥ 10g )  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Capacitor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직경이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Φ18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초과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 Φ ≥ 18㎜ )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 Capacitor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길이가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30㎜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초과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 ℓ ≥ 30㎜ 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err="1" smtClean="0">
                          <a:latin typeface="현대하모니 L"/>
                          <a:ea typeface="현대하모니 L"/>
                        </a:rPr>
                        <a:t>해당없음</a:t>
                      </a:r>
                      <a:endParaRPr lang="en-US" altLang="ko-KR" sz="1000" dirty="0" smtClean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[SMD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타입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직경이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12Φ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초과하는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내진단자 또는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Bonding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을 실시하였는가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[SMD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타입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직경이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12Φ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미만인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진동시험 및 사용 환경에 따라 내진단자 또는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Bonding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여부를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결정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(2), (3)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항 관련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상세는 해당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유니트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진동 시험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스펙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또는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ES90000-05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가속 스트레스 시험 중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진동 및 복합 진동 시험 참조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내구 신뢰성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416495" y="3942100"/>
            <a:ext cx="3156824" cy="2079188"/>
            <a:chOff x="416495" y="3941908"/>
            <a:chExt cx="3156824" cy="207918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495" y="4293096"/>
              <a:ext cx="3156824" cy="172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 Box 115"/>
            <p:cNvSpPr txBox="1">
              <a:spLocks noChangeArrowheads="1"/>
            </p:cNvSpPr>
            <p:nvPr/>
          </p:nvSpPr>
          <p:spPr bwMode="auto">
            <a:xfrm>
              <a:off x="1313166" y="3941908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15" name="Text Box 116"/>
            <p:cNvSpPr txBox="1">
              <a:spLocks noChangeArrowheads="1"/>
            </p:cNvSpPr>
            <p:nvPr/>
          </p:nvSpPr>
          <p:spPr bwMode="auto">
            <a:xfrm>
              <a:off x="2913659" y="3941908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891372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66754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주변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패턴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body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하단에 타 신호 패턴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via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배치하지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전해액 누출에 의한 패턴 부식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쇼트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Migration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발생 방지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(+) (-)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전극 간에 적절한 절연거리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(d1)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확보하였는가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1.4mm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전극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과 전위차가 있는 다른 패턴간에 적절한 절연거리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(d1)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확보하였는가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안정성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4069337" y="6093296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040874" y="6073418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25438" y="4811605"/>
            <a:ext cx="3475434" cy="1340480"/>
            <a:chOff x="325438" y="4965576"/>
            <a:chExt cx="3384376" cy="1205049"/>
          </a:xfrm>
        </p:grpSpPr>
        <p:grpSp>
          <p:nvGrpSpPr>
            <p:cNvPr id="4" name="그룹 3"/>
            <p:cNvGrpSpPr/>
            <p:nvPr/>
          </p:nvGrpSpPr>
          <p:grpSpPr>
            <a:xfrm>
              <a:off x="325438" y="4965576"/>
              <a:ext cx="3384376" cy="1205049"/>
              <a:chOff x="344488" y="4965576"/>
              <a:chExt cx="3384376" cy="1205049"/>
            </a:xfrm>
          </p:grpSpPr>
          <p:pic>
            <p:nvPicPr>
              <p:cNvPr id="23618" name="Picture 6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4488" y="5214559"/>
                <a:ext cx="1657703" cy="8067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620" name="Picture 6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4688" y="5214559"/>
                <a:ext cx="1584176" cy="8067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115"/>
              <p:cNvSpPr txBox="1">
                <a:spLocks noChangeArrowheads="1"/>
              </p:cNvSpPr>
              <p:nvPr/>
            </p:nvSpPr>
            <p:spPr bwMode="auto">
              <a:xfrm>
                <a:off x="829047" y="4965576"/>
                <a:ext cx="626565" cy="250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&lt; OK &gt;</a:t>
                </a:r>
              </a:p>
            </p:txBody>
          </p:sp>
          <p:sp>
            <p:nvSpPr>
              <p:cNvPr id="25" name="Text Box 116"/>
              <p:cNvSpPr txBox="1">
                <a:spLocks noChangeArrowheads="1"/>
              </p:cNvSpPr>
              <p:nvPr/>
            </p:nvSpPr>
            <p:spPr bwMode="auto">
              <a:xfrm>
                <a:off x="2608185" y="4965576"/>
                <a:ext cx="631247" cy="250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2432720" y="5949280"/>
                <a:ext cx="293782" cy="2213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180698" y="5949280"/>
                <a:ext cx="296904" cy="2213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3)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</p:grpSp>
        <p:cxnSp>
          <p:nvCxnSpPr>
            <p:cNvPr id="6" name="직선 연결선 5"/>
            <p:cNvCxnSpPr/>
            <p:nvPr/>
          </p:nvCxnSpPr>
          <p:spPr>
            <a:xfrm>
              <a:off x="459244" y="5517232"/>
              <a:ext cx="540000" cy="0"/>
            </a:xfrm>
            <a:prstGeom prst="line">
              <a:avLst/>
            </a:pr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453071" y="5703996"/>
              <a:ext cx="540000" cy="0"/>
            </a:xfrm>
            <a:prstGeom prst="line">
              <a:avLst/>
            </a:pr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1292938" y="5703996"/>
              <a:ext cx="576064" cy="0"/>
            </a:xfrm>
            <a:prstGeom prst="line">
              <a:avLst/>
            </a:pr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1294080" y="5517232"/>
              <a:ext cx="576064" cy="0"/>
            </a:xfrm>
            <a:prstGeom prst="line">
              <a:avLst/>
            </a:prstGeom>
            <a:ln w="19050">
              <a:solidFill>
                <a:srgbClr val="FFFF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704528" y="3141144"/>
            <a:ext cx="3096344" cy="1584000"/>
            <a:chOff x="704528" y="3141144"/>
            <a:chExt cx="3096344" cy="1584000"/>
          </a:xfrm>
        </p:grpSpPr>
        <p:sp>
          <p:nvSpPr>
            <p:cNvPr id="39" name="TextBox 38"/>
            <p:cNvSpPr txBox="1"/>
            <p:nvPr/>
          </p:nvSpPr>
          <p:spPr>
            <a:xfrm>
              <a:off x="1427676" y="4472276"/>
              <a:ext cx="1870747" cy="2528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</a:t>
              </a:r>
              <a:r>
                <a:rPr lang="en-US" altLang="ko-KR" sz="1000" b="0" dirty="0">
                  <a:latin typeface="현대하모니 L"/>
                  <a:ea typeface="현대하모니 L"/>
                </a:rPr>
                <a:t> </a:t>
              </a:r>
              <a:r>
                <a:rPr lang="ko-KR" altLang="en-US" sz="1000" b="0" dirty="0">
                  <a:latin typeface="현대하모니 L"/>
                  <a:ea typeface="현대하모니 L"/>
                </a:rPr>
                <a:t>배선 금지 </a:t>
              </a:r>
              <a:r>
                <a:rPr lang="en-US" altLang="ko-KR" sz="1000" b="0" dirty="0">
                  <a:latin typeface="현대하모니 L"/>
                  <a:ea typeface="현대하모니 L"/>
                </a:rPr>
                <a:t>(</a:t>
              </a:r>
              <a:r>
                <a:rPr lang="ko-KR" altLang="en-US" sz="1000" b="0" dirty="0">
                  <a:latin typeface="현대하모니 L"/>
                  <a:ea typeface="현대하모니 L"/>
                </a:rPr>
                <a:t>절연거리확보</a:t>
              </a:r>
              <a:r>
                <a:rPr lang="en-US" altLang="ko-KR" sz="1000" b="0" dirty="0">
                  <a:latin typeface="현대하모니 L"/>
                  <a:ea typeface="현대하모니 L"/>
                </a:rPr>
                <a:t>)</a:t>
              </a: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83046" y="3141144"/>
              <a:ext cx="28178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</a:t>
              </a:r>
              <a:r>
                <a:rPr lang="ko-KR" altLang="en-US" sz="1000" b="0" dirty="0">
                  <a:latin typeface="현대하모니 L"/>
                  <a:ea typeface="현대하모니 L"/>
                </a:rPr>
                <a:t>부품 하단에 다른 신호 패턴</a:t>
              </a:r>
              <a:r>
                <a:rPr lang="en-US" altLang="ko-KR" sz="1000" b="0" dirty="0">
                  <a:latin typeface="현대하모니 L"/>
                  <a:ea typeface="현대하모니 L"/>
                </a:rPr>
                <a:t>, Via </a:t>
              </a:r>
              <a:r>
                <a:rPr lang="ko-KR" altLang="en-US" sz="1000" b="0" dirty="0">
                  <a:latin typeface="현대하모니 L"/>
                  <a:ea typeface="현대하모니 L"/>
                </a:rPr>
                <a:t>배치 금지</a:t>
              </a:r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704528" y="3374559"/>
              <a:ext cx="2501694" cy="1097717"/>
              <a:chOff x="704528" y="3317005"/>
              <a:chExt cx="2501694" cy="1097717"/>
            </a:xfrm>
          </p:grpSpPr>
          <p:sp>
            <p:nvSpPr>
              <p:cNvPr id="54" name="타원 53"/>
              <p:cNvSpPr/>
              <p:nvPr/>
            </p:nvSpPr>
            <p:spPr>
              <a:xfrm>
                <a:off x="865507" y="3646873"/>
                <a:ext cx="540000" cy="5400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874750" y="3507576"/>
                <a:ext cx="850541" cy="85319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9" name="타원 28"/>
              <p:cNvSpPr/>
              <p:nvPr/>
            </p:nvSpPr>
            <p:spPr>
              <a:xfrm>
                <a:off x="1015231" y="3808027"/>
                <a:ext cx="221141" cy="221831"/>
              </a:xfrm>
              <a:prstGeom prst="ellipse">
                <a:avLst/>
              </a:prstGeom>
              <a:solidFill>
                <a:srgbClr val="FFC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0" name="타원 29"/>
              <p:cNvSpPr/>
              <p:nvPr/>
            </p:nvSpPr>
            <p:spPr>
              <a:xfrm>
                <a:off x="1404377" y="3815584"/>
                <a:ext cx="221141" cy="221831"/>
              </a:xfrm>
              <a:prstGeom prst="ellipse">
                <a:avLst/>
              </a:prstGeom>
              <a:solidFill>
                <a:srgbClr val="FFC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062066" y="3852560"/>
                <a:ext cx="136087" cy="13651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1441215" y="3852576"/>
                <a:ext cx="136087" cy="13651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33" name="직선 연결선 32"/>
              <p:cNvCxnSpPr>
                <a:stCxn id="28" idx="4"/>
                <a:endCxn id="28" idx="0"/>
              </p:cNvCxnSpPr>
              <p:nvPr/>
            </p:nvCxnSpPr>
            <p:spPr>
              <a:xfrm flipV="1">
                <a:off x="1300020" y="3507576"/>
                <a:ext cx="0" cy="85319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그룹 33"/>
              <p:cNvGrpSpPr/>
              <p:nvPr/>
            </p:nvGrpSpPr>
            <p:grpSpPr>
              <a:xfrm>
                <a:off x="704528" y="3840285"/>
                <a:ext cx="136007" cy="136511"/>
                <a:chOff x="1064768" y="3903828"/>
                <a:chExt cx="287832" cy="2880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1064768" y="4005264"/>
                  <a:ext cx="287832" cy="71808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1173151" y="3903828"/>
                  <a:ext cx="72000" cy="288000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</p:grpSp>
          <p:pic>
            <p:nvPicPr>
              <p:cNvPr id="35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31519" y="3445402"/>
                <a:ext cx="1174703" cy="930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" name="그룹 35"/>
              <p:cNvGrpSpPr/>
              <p:nvPr/>
            </p:nvGrpSpPr>
            <p:grpSpPr>
              <a:xfrm>
                <a:off x="2031519" y="3599989"/>
                <a:ext cx="136007" cy="136511"/>
                <a:chOff x="1064768" y="3903828"/>
                <a:chExt cx="287832" cy="288000"/>
              </a:xfrm>
            </p:grpSpPr>
            <p:sp>
              <p:nvSpPr>
                <p:cNvPr id="47" name="직사각형 46"/>
                <p:cNvSpPr/>
                <p:nvPr/>
              </p:nvSpPr>
              <p:spPr>
                <a:xfrm>
                  <a:off x="1064768" y="4005264"/>
                  <a:ext cx="287832" cy="71808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8" name="직사각형 47"/>
                <p:cNvSpPr/>
                <p:nvPr/>
              </p:nvSpPr>
              <p:spPr>
                <a:xfrm>
                  <a:off x="1173151" y="3903828"/>
                  <a:ext cx="72000" cy="288000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</p:grpSp>
          <p:sp>
            <p:nvSpPr>
              <p:cNvPr id="37" name="직사각형 36"/>
              <p:cNvSpPr/>
              <p:nvPr/>
            </p:nvSpPr>
            <p:spPr>
              <a:xfrm>
                <a:off x="2432267" y="3538793"/>
                <a:ext cx="396000" cy="756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255981" y="3535263"/>
                <a:ext cx="180251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40" name="직선 화살표 연결선 39"/>
              <p:cNvCxnSpPr/>
              <p:nvPr/>
            </p:nvCxnSpPr>
            <p:spPr>
              <a:xfrm flipH="1" flipV="1">
                <a:off x="1208584" y="4053588"/>
                <a:ext cx="584757" cy="36113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/>
              <p:cNvCxnSpPr/>
              <p:nvPr/>
            </p:nvCxnSpPr>
            <p:spPr>
              <a:xfrm flipV="1">
                <a:off x="1793341" y="4149064"/>
                <a:ext cx="684956" cy="265658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타원 42"/>
              <p:cNvSpPr/>
              <p:nvPr/>
            </p:nvSpPr>
            <p:spPr>
              <a:xfrm>
                <a:off x="1157552" y="3573016"/>
                <a:ext cx="51032" cy="51192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4" name="타원 43"/>
              <p:cNvSpPr/>
              <p:nvPr/>
            </p:nvSpPr>
            <p:spPr>
              <a:xfrm>
                <a:off x="2354766" y="3661080"/>
                <a:ext cx="51032" cy="51192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45" name="직선 화살표 연결선 44"/>
              <p:cNvCxnSpPr/>
              <p:nvPr/>
            </p:nvCxnSpPr>
            <p:spPr>
              <a:xfrm flipH="1">
                <a:off x="1236372" y="3317005"/>
                <a:ext cx="590994" cy="27682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/>
              <p:cNvCxnSpPr/>
              <p:nvPr/>
            </p:nvCxnSpPr>
            <p:spPr>
              <a:xfrm>
                <a:off x="1827367" y="3317005"/>
                <a:ext cx="527400" cy="33106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화살표 연결선 7"/>
              <p:cNvCxnSpPr/>
              <p:nvPr/>
            </p:nvCxnSpPr>
            <p:spPr>
              <a:xfrm flipV="1">
                <a:off x="1208584" y="3861048"/>
                <a:ext cx="216000" cy="1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화살표 연결선 50"/>
              <p:cNvCxnSpPr/>
              <p:nvPr/>
            </p:nvCxnSpPr>
            <p:spPr>
              <a:xfrm flipV="1">
                <a:off x="2423191" y="3918425"/>
                <a:ext cx="396000" cy="1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/>
              <p:cNvSpPr txBox="1"/>
              <p:nvPr/>
            </p:nvSpPr>
            <p:spPr>
              <a:xfrm>
                <a:off x="2478297" y="3674284"/>
                <a:ext cx="386471" cy="2528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d1</a:t>
                </a:r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208584" y="3608180"/>
                <a:ext cx="386471" cy="2528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d1</a:t>
                </a:r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2252469" y="4005064"/>
                <a:ext cx="180251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158" y="3745713"/>
            <a:ext cx="1983625" cy="210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04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9103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[22]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배치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및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본딩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상단의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기구물이나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Case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또는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등으로부터 적정한 공간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을 가지도록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과전압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역전압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AC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고장 등에 의한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폭발시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안전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vent(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홈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동작 공간 확보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전해커패시터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위에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wiring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패턴이 지나가지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고정 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body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 일부만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본딩을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실시하였는가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 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body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둘레의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30%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이하 권장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내진 단자 사용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고정제나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코팅액에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의해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body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전체가 밀봉되지 않도록 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전체 밀봉 금지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전해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커패시터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안정성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412694" y="3356992"/>
            <a:ext cx="3028138" cy="2745937"/>
            <a:chOff x="412694" y="3356992"/>
            <a:chExt cx="3028138" cy="2745937"/>
          </a:xfrm>
        </p:grpSpPr>
        <p:grpSp>
          <p:nvGrpSpPr>
            <p:cNvPr id="4" name="그룹 3"/>
            <p:cNvGrpSpPr/>
            <p:nvPr/>
          </p:nvGrpSpPr>
          <p:grpSpPr>
            <a:xfrm>
              <a:off x="892626" y="3356992"/>
              <a:ext cx="2283290" cy="279180"/>
              <a:chOff x="964634" y="3365844"/>
              <a:chExt cx="2283290" cy="279180"/>
            </a:xfrm>
          </p:grpSpPr>
          <p:sp>
            <p:nvSpPr>
              <p:cNvPr id="14" name="Text Box 115"/>
              <p:cNvSpPr txBox="1">
                <a:spLocks noChangeArrowheads="1"/>
              </p:cNvSpPr>
              <p:nvPr/>
            </p:nvSpPr>
            <p:spPr bwMode="auto">
              <a:xfrm>
                <a:off x="964634" y="3365844"/>
                <a:ext cx="643423" cy="27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&lt; OK &gt;</a:t>
                </a:r>
              </a:p>
            </p:txBody>
          </p:sp>
          <p:sp>
            <p:nvSpPr>
              <p:cNvPr id="15" name="Text Box 116"/>
              <p:cNvSpPr txBox="1">
                <a:spLocks noChangeArrowheads="1"/>
              </p:cNvSpPr>
              <p:nvPr/>
            </p:nvSpPr>
            <p:spPr bwMode="auto">
              <a:xfrm>
                <a:off x="2599692" y="3365844"/>
                <a:ext cx="648232" cy="27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</p:grpSp>
        <p:pic>
          <p:nvPicPr>
            <p:cNvPr id="12" name="Picture 2" descr="C:\Users\2652225\Desktop\14업무계획\01_체크시트\전해캐패시터\그림\간격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521" y="3717032"/>
              <a:ext cx="1268080" cy="11351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림 3" descr="IMG_2634.JP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7" t="3121" r="58099" b="61922"/>
            <a:stretch/>
          </p:blipFill>
          <p:spPr bwMode="auto">
            <a:xfrm>
              <a:off x="2213571" y="3645024"/>
              <a:ext cx="1155253" cy="82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2759" y="4509120"/>
              <a:ext cx="1198073" cy="792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" descr="C:\Users\2652225\Desktop\14업무계획\01_체크시트\전해캐패시터\그림\보디크기.jpg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9" r="7239"/>
            <a:stretch/>
          </p:blipFill>
          <p:spPr bwMode="auto">
            <a:xfrm>
              <a:off x="412694" y="4844249"/>
              <a:ext cx="1595879" cy="728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216"/>
            <p:cNvSpPr>
              <a:spLocks noChangeArrowheads="1"/>
            </p:cNvSpPr>
            <p:nvPr/>
          </p:nvSpPr>
          <p:spPr bwMode="auto">
            <a:xfrm>
              <a:off x="488504" y="3789040"/>
              <a:ext cx="34977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1)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0" name="Rectangle 216"/>
            <p:cNvSpPr>
              <a:spLocks noChangeArrowheads="1"/>
            </p:cNvSpPr>
            <p:nvPr/>
          </p:nvSpPr>
          <p:spPr bwMode="auto">
            <a:xfrm>
              <a:off x="2000672" y="3686834"/>
              <a:ext cx="4781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1" name="Rectangle 216"/>
            <p:cNvSpPr>
              <a:spLocks noChangeArrowheads="1"/>
            </p:cNvSpPr>
            <p:nvPr/>
          </p:nvSpPr>
          <p:spPr bwMode="auto">
            <a:xfrm>
              <a:off x="2022618" y="4766955"/>
              <a:ext cx="43204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23" name="Picture 2" descr="http://www.ecs.com.tw/extra/images/so-1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0364" y="5381574"/>
              <a:ext cx="1210467" cy="721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직사각형 25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460448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05564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IC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패턴 설계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연결하는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권장안과 같이 외곽에서 패턴으로 연결하였는가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패턴폭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폭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(w)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보다 좁거나 같도록 설계하였는가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? (d ≤ w)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냉납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및 미납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488504" y="3140968"/>
            <a:ext cx="3168352" cy="2516324"/>
            <a:chOff x="488504" y="3313335"/>
            <a:chExt cx="3168352" cy="2516324"/>
          </a:xfrm>
        </p:grpSpPr>
        <p:sp>
          <p:nvSpPr>
            <p:cNvPr id="54" name="Text Box 115"/>
            <p:cNvSpPr txBox="1">
              <a:spLocks noChangeArrowheads="1"/>
            </p:cNvSpPr>
            <p:nvPr/>
          </p:nvSpPr>
          <p:spPr bwMode="auto">
            <a:xfrm>
              <a:off x="913830" y="3333973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55" name="Text Box 116"/>
            <p:cNvSpPr txBox="1">
              <a:spLocks noChangeArrowheads="1"/>
            </p:cNvSpPr>
            <p:nvPr/>
          </p:nvSpPr>
          <p:spPr bwMode="auto">
            <a:xfrm>
              <a:off x="2503338" y="3313335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60" name="Group 118"/>
            <p:cNvGrpSpPr>
              <a:grpSpLocks/>
            </p:cNvGrpSpPr>
            <p:nvPr/>
          </p:nvGrpSpPr>
          <p:grpSpPr bwMode="auto">
            <a:xfrm>
              <a:off x="514294" y="3837210"/>
              <a:ext cx="1310111" cy="1439863"/>
              <a:chOff x="1179" y="2115"/>
              <a:chExt cx="762" cy="907"/>
            </a:xfrm>
          </p:grpSpPr>
          <p:sp>
            <p:nvSpPr>
              <p:cNvPr id="82" name="Rectangle 119"/>
              <p:cNvSpPr>
                <a:spLocks noChangeArrowheads="1"/>
              </p:cNvSpPr>
              <p:nvPr/>
            </p:nvSpPr>
            <p:spPr bwMode="auto">
              <a:xfrm>
                <a:off x="1179" y="2205"/>
                <a:ext cx="762" cy="72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Rectangle 120"/>
              <p:cNvSpPr>
                <a:spLocks noChangeArrowheads="1"/>
              </p:cNvSpPr>
              <p:nvPr/>
            </p:nvSpPr>
            <p:spPr bwMode="auto">
              <a:xfrm rot="-5400000">
                <a:off x="1441" y="2609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4" name="Rectangle 121"/>
              <p:cNvSpPr>
                <a:spLocks noChangeArrowheads="1"/>
              </p:cNvSpPr>
              <p:nvPr/>
            </p:nvSpPr>
            <p:spPr bwMode="auto">
              <a:xfrm rot="-5400000">
                <a:off x="1583" y="2609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5" name="Freeform 122"/>
              <p:cNvSpPr>
                <a:spLocks/>
              </p:cNvSpPr>
              <p:nvPr/>
            </p:nvSpPr>
            <p:spPr bwMode="auto">
              <a:xfrm rot="-5400000">
                <a:off x="1659" y="2220"/>
                <a:ext cx="175" cy="199"/>
              </a:xfrm>
              <a:custGeom>
                <a:avLst/>
                <a:gdLst>
                  <a:gd name="T0" fmla="*/ 0 w 216"/>
                  <a:gd name="T1" fmla="*/ 0 h 336"/>
                  <a:gd name="T2" fmla="*/ 2 w 216"/>
                  <a:gd name="T3" fmla="*/ 0 h 336"/>
                  <a:gd name="T4" fmla="*/ 2 w 216"/>
                  <a:gd name="T5" fmla="*/ 1 h 336"/>
                  <a:gd name="T6" fmla="*/ 2 w 216"/>
                  <a:gd name="T7" fmla="*/ 1 h 336"/>
                  <a:gd name="T8" fmla="*/ 2 w 216"/>
                  <a:gd name="T9" fmla="*/ 1 h 336"/>
                  <a:gd name="T10" fmla="*/ 0 w 216"/>
                  <a:gd name="T11" fmla="*/ 1 h 336"/>
                  <a:gd name="T12" fmla="*/ 0 w 216"/>
                  <a:gd name="T13" fmla="*/ 1 h 336"/>
                  <a:gd name="T14" fmla="*/ 2 w 216"/>
                  <a:gd name="T15" fmla="*/ 1 h 336"/>
                  <a:gd name="T16" fmla="*/ 2 w 216"/>
                  <a:gd name="T17" fmla="*/ 1 h 336"/>
                  <a:gd name="T18" fmla="*/ 2 w 216"/>
                  <a:gd name="T19" fmla="*/ 1 h 336"/>
                  <a:gd name="T20" fmla="*/ 2 w 216"/>
                  <a:gd name="T21" fmla="*/ 1 h 336"/>
                  <a:gd name="T22" fmla="*/ 0 w 216"/>
                  <a:gd name="T23" fmla="*/ 1 h 336"/>
                  <a:gd name="T24" fmla="*/ 0 w 216"/>
                  <a:gd name="T25" fmla="*/ 0 h 3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6"/>
                  <a:gd name="T40" fmla="*/ 0 h 336"/>
                  <a:gd name="T41" fmla="*/ 216 w 216"/>
                  <a:gd name="T42" fmla="*/ 336 h 3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6" h="336">
                    <a:moveTo>
                      <a:pt x="0" y="0"/>
                    </a:moveTo>
                    <a:lnTo>
                      <a:pt x="116" y="0"/>
                    </a:lnTo>
                    <a:lnTo>
                      <a:pt x="216" y="100"/>
                    </a:lnTo>
                    <a:lnTo>
                      <a:pt x="216" y="246"/>
                    </a:lnTo>
                    <a:lnTo>
                      <a:pt x="124" y="336"/>
                    </a:lnTo>
                    <a:lnTo>
                      <a:pt x="0" y="336"/>
                    </a:lnTo>
                    <a:lnTo>
                      <a:pt x="0" y="254"/>
                    </a:lnTo>
                    <a:lnTo>
                      <a:pt x="94" y="254"/>
                    </a:lnTo>
                    <a:lnTo>
                      <a:pt x="142" y="204"/>
                    </a:lnTo>
                    <a:lnTo>
                      <a:pt x="142" y="134"/>
                    </a:lnTo>
                    <a:lnTo>
                      <a:pt x="92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99"/>
              </a:solidFill>
              <a:ln w="22225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6" name="Rectangle 123"/>
              <p:cNvSpPr>
                <a:spLocks noChangeArrowheads="1"/>
              </p:cNvSpPr>
              <p:nvPr/>
            </p:nvSpPr>
            <p:spPr bwMode="auto">
              <a:xfrm rot="-5400000">
                <a:off x="1124" y="2618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7" name="Rectangle 124"/>
              <p:cNvSpPr>
                <a:spLocks noChangeArrowheads="1"/>
              </p:cNvSpPr>
              <p:nvPr/>
            </p:nvSpPr>
            <p:spPr bwMode="auto">
              <a:xfrm rot="-5400000">
                <a:off x="1266" y="2618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8" name="Freeform 125"/>
              <p:cNvSpPr>
                <a:spLocks/>
              </p:cNvSpPr>
              <p:nvPr/>
            </p:nvSpPr>
            <p:spPr bwMode="auto">
              <a:xfrm rot="-5400000">
                <a:off x="1342" y="2229"/>
                <a:ext cx="175" cy="199"/>
              </a:xfrm>
              <a:custGeom>
                <a:avLst/>
                <a:gdLst>
                  <a:gd name="T0" fmla="*/ 0 w 216"/>
                  <a:gd name="T1" fmla="*/ 0 h 336"/>
                  <a:gd name="T2" fmla="*/ 2 w 216"/>
                  <a:gd name="T3" fmla="*/ 0 h 336"/>
                  <a:gd name="T4" fmla="*/ 2 w 216"/>
                  <a:gd name="T5" fmla="*/ 1 h 336"/>
                  <a:gd name="T6" fmla="*/ 2 w 216"/>
                  <a:gd name="T7" fmla="*/ 1 h 336"/>
                  <a:gd name="T8" fmla="*/ 2 w 216"/>
                  <a:gd name="T9" fmla="*/ 1 h 336"/>
                  <a:gd name="T10" fmla="*/ 0 w 216"/>
                  <a:gd name="T11" fmla="*/ 1 h 336"/>
                  <a:gd name="T12" fmla="*/ 0 w 216"/>
                  <a:gd name="T13" fmla="*/ 1 h 336"/>
                  <a:gd name="T14" fmla="*/ 2 w 216"/>
                  <a:gd name="T15" fmla="*/ 1 h 336"/>
                  <a:gd name="T16" fmla="*/ 2 w 216"/>
                  <a:gd name="T17" fmla="*/ 1 h 336"/>
                  <a:gd name="T18" fmla="*/ 2 w 216"/>
                  <a:gd name="T19" fmla="*/ 1 h 336"/>
                  <a:gd name="T20" fmla="*/ 2 w 216"/>
                  <a:gd name="T21" fmla="*/ 1 h 336"/>
                  <a:gd name="T22" fmla="*/ 0 w 216"/>
                  <a:gd name="T23" fmla="*/ 1 h 336"/>
                  <a:gd name="T24" fmla="*/ 0 w 216"/>
                  <a:gd name="T25" fmla="*/ 0 h 3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6"/>
                  <a:gd name="T40" fmla="*/ 0 h 336"/>
                  <a:gd name="T41" fmla="*/ 216 w 216"/>
                  <a:gd name="T42" fmla="*/ 336 h 3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6" h="336">
                    <a:moveTo>
                      <a:pt x="0" y="0"/>
                    </a:moveTo>
                    <a:lnTo>
                      <a:pt x="116" y="0"/>
                    </a:lnTo>
                    <a:lnTo>
                      <a:pt x="216" y="100"/>
                    </a:lnTo>
                    <a:lnTo>
                      <a:pt x="216" y="246"/>
                    </a:lnTo>
                    <a:lnTo>
                      <a:pt x="124" y="336"/>
                    </a:lnTo>
                    <a:lnTo>
                      <a:pt x="0" y="336"/>
                    </a:lnTo>
                    <a:lnTo>
                      <a:pt x="0" y="254"/>
                    </a:lnTo>
                    <a:lnTo>
                      <a:pt x="94" y="254"/>
                    </a:lnTo>
                    <a:lnTo>
                      <a:pt x="142" y="204"/>
                    </a:lnTo>
                    <a:lnTo>
                      <a:pt x="142" y="134"/>
                    </a:lnTo>
                    <a:lnTo>
                      <a:pt x="92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99"/>
              </a:solidFill>
              <a:ln w="22225">
                <a:solidFill>
                  <a:srgbClr val="00CC99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9" name="Rectangle 126"/>
              <p:cNvSpPr>
                <a:spLocks noChangeArrowheads="1"/>
              </p:cNvSpPr>
              <p:nvPr/>
            </p:nvSpPr>
            <p:spPr bwMode="auto">
              <a:xfrm>
                <a:off x="1406" y="2115"/>
                <a:ext cx="45" cy="136"/>
              </a:xfrm>
              <a:prstGeom prst="rect">
                <a:avLst/>
              </a:prstGeom>
              <a:solidFill>
                <a:srgbClr val="00CC99"/>
              </a:solidFill>
              <a:ln w="38100" algn="ctr">
                <a:solidFill>
                  <a:srgbClr val="00CC99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5F5F5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90" name="Rectangle 127"/>
              <p:cNvSpPr>
                <a:spLocks noChangeArrowheads="1"/>
              </p:cNvSpPr>
              <p:nvPr/>
            </p:nvSpPr>
            <p:spPr bwMode="auto">
              <a:xfrm>
                <a:off x="1797" y="2886"/>
                <a:ext cx="45" cy="136"/>
              </a:xfrm>
              <a:prstGeom prst="rect">
                <a:avLst/>
              </a:prstGeom>
              <a:solidFill>
                <a:srgbClr val="00CC99"/>
              </a:solidFill>
              <a:ln w="28575" algn="ctr">
                <a:solidFill>
                  <a:srgbClr val="00CC99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5F5F5F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61" name="Group 128"/>
            <p:cNvGrpSpPr>
              <a:grpSpLocks/>
            </p:cNvGrpSpPr>
            <p:nvPr/>
          </p:nvGrpSpPr>
          <p:grpSpPr bwMode="auto">
            <a:xfrm>
              <a:off x="2161060" y="4311873"/>
              <a:ext cx="1495796" cy="750888"/>
              <a:chOff x="300" y="2427"/>
              <a:chExt cx="870" cy="473"/>
            </a:xfrm>
          </p:grpSpPr>
          <p:sp>
            <p:nvSpPr>
              <p:cNvPr id="72" name="Rectangle 129"/>
              <p:cNvSpPr>
                <a:spLocks noChangeArrowheads="1"/>
              </p:cNvSpPr>
              <p:nvPr/>
            </p:nvSpPr>
            <p:spPr bwMode="auto">
              <a:xfrm rot="-5400000">
                <a:off x="388" y="2618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3" name="Rectangle 130"/>
              <p:cNvSpPr>
                <a:spLocks noChangeArrowheads="1"/>
              </p:cNvSpPr>
              <p:nvPr/>
            </p:nvSpPr>
            <p:spPr bwMode="auto">
              <a:xfrm rot="-5400000">
                <a:off x="530" y="2618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4" name="Rectangle 131"/>
              <p:cNvSpPr>
                <a:spLocks noChangeArrowheads="1"/>
              </p:cNvSpPr>
              <p:nvPr/>
            </p:nvSpPr>
            <p:spPr bwMode="auto">
              <a:xfrm rot="-5400000">
                <a:off x="669" y="2623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5" name="Rectangle 132"/>
              <p:cNvSpPr>
                <a:spLocks noChangeArrowheads="1"/>
              </p:cNvSpPr>
              <p:nvPr/>
            </p:nvSpPr>
            <p:spPr bwMode="auto">
              <a:xfrm rot="-5400000">
                <a:off x="811" y="2623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6" name="Rectangle 133"/>
              <p:cNvSpPr>
                <a:spLocks noChangeArrowheads="1"/>
              </p:cNvSpPr>
              <p:nvPr/>
            </p:nvSpPr>
            <p:spPr bwMode="auto">
              <a:xfrm rot="-5400000">
                <a:off x="109" y="2623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7" name="Rectangle 134"/>
              <p:cNvSpPr>
                <a:spLocks noChangeArrowheads="1"/>
              </p:cNvSpPr>
              <p:nvPr/>
            </p:nvSpPr>
            <p:spPr bwMode="auto">
              <a:xfrm rot="-5400000">
                <a:off x="251" y="2623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8" name="Oval 135"/>
              <p:cNvSpPr>
                <a:spLocks noChangeArrowheads="1"/>
              </p:cNvSpPr>
              <p:nvPr/>
            </p:nvSpPr>
            <p:spPr bwMode="auto">
              <a:xfrm>
                <a:off x="308" y="2477"/>
                <a:ext cx="363" cy="363"/>
              </a:xfrm>
              <a:prstGeom prst="ellipse">
                <a:avLst/>
              </a:prstGeom>
              <a:noFill/>
              <a:ln w="222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9" name="Rectangle 136"/>
              <p:cNvSpPr>
                <a:spLocks noChangeArrowheads="1"/>
              </p:cNvSpPr>
              <p:nvPr/>
            </p:nvSpPr>
            <p:spPr bwMode="auto">
              <a:xfrm rot="-5400000">
                <a:off x="444" y="2538"/>
                <a:ext cx="90" cy="272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0" name="Rectangle 137"/>
              <p:cNvSpPr>
                <a:spLocks noChangeArrowheads="1"/>
              </p:cNvSpPr>
              <p:nvPr/>
            </p:nvSpPr>
            <p:spPr bwMode="auto">
              <a:xfrm rot="-5400000">
                <a:off x="747" y="2623"/>
                <a:ext cx="468" cy="8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1" name="Oval 138"/>
              <p:cNvSpPr>
                <a:spLocks noChangeArrowheads="1"/>
              </p:cNvSpPr>
              <p:nvPr/>
            </p:nvSpPr>
            <p:spPr bwMode="auto">
              <a:xfrm>
                <a:off x="807" y="2478"/>
                <a:ext cx="363" cy="363"/>
              </a:xfrm>
              <a:prstGeom prst="ellipse">
                <a:avLst/>
              </a:prstGeom>
              <a:noFill/>
              <a:ln w="222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62" name="Line 139"/>
            <p:cNvSpPr>
              <a:spLocks noChangeShapeType="1"/>
            </p:cNvSpPr>
            <p:nvPr/>
          </p:nvSpPr>
          <p:spPr bwMode="auto">
            <a:xfrm>
              <a:off x="1561789" y="5259610"/>
              <a:ext cx="0" cy="3603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3" name="Line 140"/>
            <p:cNvSpPr>
              <a:spLocks noChangeShapeType="1"/>
            </p:cNvSpPr>
            <p:nvPr/>
          </p:nvSpPr>
          <p:spPr bwMode="auto">
            <a:xfrm>
              <a:off x="1669667" y="5259610"/>
              <a:ext cx="0" cy="3603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4" name="Line 141"/>
            <p:cNvSpPr>
              <a:spLocks noChangeShapeType="1"/>
            </p:cNvSpPr>
            <p:nvPr/>
          </p:nvSpPr>
          <p:spPr bwMode="auto">
            <a:xfrm>
              <a:off x="1293139" y="5517232"/>
              <a:ext cx="23382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5" name="Line 142"/>
            <p:cNvSpPr>
              <a:spLocks noChangeShapeType="1"/>
            </p:cNvSpPr>
            <p:nvPr/>
          </p:nvSpPr>
          <p:spPr bwMode="auto">
            <a:xfrm flipH="1">
              <a:off x="1683422" y="5517232"/>
              <a:ext cx="23554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6" name="Text Box 143"/>
            <p:cNvSpPr txBox="1">
              <a:spLocks noChangeArrowheads="1"/>
            </p:cNvSpPr>
            <p:nvPr/>
          </p:nvSpPr>
          <p:spPr bwMode="auto">
            <a:xfrm>
              <a:off x="1337970" y="5619973"/>
              <a:ext cx="545020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67" name="Line 144"/>
            <p:cNvSpPr>
              <a:spLocks noChangeShapeType="1"/>
            </p:cNvSpPr>
            <p:nvPr/>
          </p:nvSpPr>
          <p:spPr bwMode="auto">
            <a:xfrm>
              <a:off x="748119" y="5023073"/>
              <a:ext cx="0" cy="3603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8" name="Line 145"/>
            <p:cNvSpPr>
              <a:spLocks noChangeShapeType="1"/>
            </p:cNvSpPr>
            <p:nvPr/>
          </p:nvSpPr>
          <p:spPr bwMode="auto">
            <a:xfrm>
              <a:off x="892307" y="5023073"/>
              <a:ext cx="0" cy="3603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9" name="Line 146"/>
            <p:cNvSpPr>
              <a:spLocks noChangeShapeType="1"/>
            </p:cNvSpPr>
            <p:nvPr/>
          </p:nvSpPr>
          <p:spPr bwMode="auto">
            <a:xfrm>
              <a:off x="488504" y="5184998"/>
              <a:ext cx="23210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Line 147"/>
            <p:cNvSpPr>
              <a:spLocks noChangeShapeType="1"/>
            </p:cNvSpPr>
            <p:nvPr/>
          </p:nvSpPr>
          <p:spPr bwMode="auto">
            <a:xfrm flipH="1">
              <a:off x="902750" y="5184998"/>
              <a:ext cx="23382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1" name="Text Box 148"/>
            <p:cNvSpPr txBox="1">
              <a:spLocks noChangeArrowheads="1"/>
            </p:cNvSpPr>
            <p:nvPr/>
          </p:nvSpPr>
          <p:spPr bwMode="auto">
            <a:xfrm>
              <a:off x="560512" y="5373216"/>
              <a:ext cx="546739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w</a:t>
              </a: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28226" y="3945160"/>
              <a:ext cx="1143183" cy="455611"/>
            </a:xfrm>
            <a:prstGeom prst="rect">
              <a:avLst/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856656" y="378904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Land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 flipH="1">
              <a:off x="1616204" y="4149080"/>
              <a:ext cx="456476" cy="539825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2072680" y="3997444"/>
              <a:ext cx="0" cy="14088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610152" y="3789040"/>
              <a:ext cx="0" cy="360000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1432561" y="3573016"/>
              <a:ext cx="4090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패턴</a:t>
              </a: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827980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11461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[24]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패턴 설계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부품 삽입용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PTH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  패턴이 연결되는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Teardrop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으로 보강하였는가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(Θ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＜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45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Connector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삽입용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 패턴이 연결되는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Teardrop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으로 보강하였는가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(Θ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Land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박리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416496" y="2996952"/>
            <a:ext cx="3240360" cy="2852455"/>
            <a:chOff x="272480" y="2996952"/>
            <a:chExt cx="3240360" cy="2852455"/>
          </a:xfrm>
        </p:grpSpPr>
        <p:sp>
          <p:nvSpPr>
            <p:cNvPr id="42" name="Text Box 175"/>
            <p:cNvSpPr txBox="1">
              <a:spLocks noChangeArrowheads="1"/>
            </p:cNvSpPr>
            <p:nvPr/>
          </p:nvSpPr>
          <p:spPr bwMode="auto">
            <a:xfrm>
              <a:off x="985831" y="2996952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43" name="Text Box 176"/>
            <p:cNvSpPr txBox="1">
              <a:spLocks noChangeArrowheads="1"/>
            </p:cNvSpPr>
            <p:nvPr/>
          </p:nvSpPr>
          <p:spPr bwMode="auto">
            <a:xfrm>
              <a:off x="2597206" y="2996952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45" name="Rectangle 178"/>
            <p:cNvSpPr>
              <a:spLocks noChangeArrowheads="1"/>
            </p:cNvSpPr>
            <p:nvPr/>
          </p:nvSpPr>
          <p:spPr bwMode="auto">
            <a:xfrm>
              <a:off x="2888651" y="4094485"/>
              <a:ext cx="624189" cy="2159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6" name="Oval 179"/>
            <p:cNvSpPr>
              <a:spLocks noChangeArrowheads="1"/>
            </p:cNvSpPr>
            <p:nvPr/>
          </p:nvSpPr>
          <p:spPr bwMode="auto">
            <a:xfrm>
              <a:off x="2396865" y="3954785"/>
              <a:ext cx="545091" cy="503238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7" name="Oval 180"/>
            <p:cNvSpPr>
              <a:spLocks noChangeArrowheads="1"/>
            </p:cNvSpPr>
            <p:nvPr/>
          </p:nvSpPr>
          <p:spPr bwMode="auto">
            <a:xfrm>
              <a:off x="2548184" y="4094485"/>
              <a:ext cx="233856" cy="215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8" name="Text Box 181"/>
            <p:cNvSpPr txBox="1">
              <a:spLocks noChangeArrowheads="1"/>
            </p:cNvSpPr>
            <p:nvPr/>
          </p:nvSpPr>
          <p:spPr bwMode="auto">
            <a:xfrm>
              <a:off x="704848" y="3934148"/>
              <a:ext cx="1250098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ko-KR" altLang="en-US" sz="1000" b="0" dirty="0">
                  <a:solidFill>
                    <a:srgbClr val="3333CC"/>
                  </a:solidFill>
                  <a:latin typeface="현대하모니 L"/>
                  <a:ea typeface="현대하모니 L"/>
                </a:rPr>
                <a:t>부품삽입용</a:t>
              </a:r>
            </a:p>
          </p:txBody>
        </p:sp>
        <p:sp>
          <p:nvSpPr>
            <p:cNvPr id="49" name="Text Box 182"/>
            <p:cNvSpPr txBox="1">
              <a:spLocks noChangeArrowheads="1"/>
            </p:cNvSpPr>
            <p:nvPr/>
          </p:nvSpPr>
          <p:spPr bwMode="auto">
            <a:xfrm>
              <a:off x="704848" y="4680273"/>
              <a:ext cx="1250098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3333CC"/>
                  </a:solidFill>
                  <a:latin typeface="현대하모니 L"/>
                  <a:ea typeface="현대하모니 L"/>
                </a:rPr>
                <a:t>Connector</a:t>
              </a:r>
              <a:r>
                <a:rPr lang="ko-KR" altLang="en-US" sz="1000" b="0">
                  <a:solidFill>
                    <a:srgbClr val="3333CC"/>
                  </a:solidFill>
                  <a:latin typeface="현대하모니 L"/>
                  <a:ea typeface="현대하모니 L"/>
                </a:rPr>
                <a:t>용</a:t>
              </a:r>
            </a:p>
          </p:txBody>
        </p:sp>
        <p:sp>
          <p:nvSpPr>
            <p:cNvPr id="100" name="Rectangle 184"/>
            <p:cNvSpPr>
              <a:spLocks noChangeArrowheads="1"/>
            </p:cNvSpPr>
            <p:nvPr/>
          </p:nvSpPr>
          <p:spPr bwMode="auto">
            <a:xfrm>
              <a:off x="1427051" y="4365948"/>
              <a:ext cx="624189" cy="2159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01" name="AutoShape 185"/>
            <p:cNvSpPr>
              <a:spLocks noChangeArrowheads="1"/>
            </p:cNvSpPr>
            <p:nvPr/>
          </p:nvSpPr>
          <p:spPr bwMode="auto">
            <a:xfrm>
              <a:off x="1413294" y="4292923"/>
              <a:ext cx="545091" cy="144463"/>
            </a:xfrm>
            <a:prstGeom prst="rtTriangl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02" name="AutoShape 186"/>
            <p:cNvSpPr>
              <a:spLocks noChangeArrowheads="1"/>
            </p:cNvSpPr>
            <p:nvPr/>
          </p:nvSpPr>
          <p:spPr bwMode="auto">
            <a:xfrm flipV="1">
              <a:off x="1413294" y="4508823"/>
              <a:ext cx="545091" cy="144463"/>
            </a:xfrm>
            <a:prstGeom prst="rtTriangl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grpSp>
          <p:nvGrpSpPr>
            <p:cNvPr id="103" name="Group 187"/>
            <p:cNvGrpSpPr>
              <a:grpSpLocks/>
            </p:cNvGrpSpPr>
            <p:nvPr/>
          </p:nvGrpSpPr>
          <p:grpSpPr bwMode="auto">
            <a:xfrm>
              <a:off x="576526" y="4264352"/>
              <a:ext cx="956060" cy="403226"/>
              <a:chOff x="2416" y="3041"/>
              <a:chExt cx="556" cy="254"/>
            </a:xfrm>
          </p:grpSpPr>
          <p:sp>
            <p:nvSpPr>
              <p:cNvPr id="104" name="Rectangle 188"/>
              <p:cNvSpPr>
                <a:spLocks noChangeArrowheads="1"/>
              </p:cNvSpPr>
              <p:nvPr/>
            </p:nvSpPr>
            <p:spPr bwMode="auto">
              <a:xfrm>
                <a:off x="2543" y="3041"/>
                <a:ext cx="318" cy="254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5" name="Oval 189"/>
              <p:cNvSpPr>
                <a:spLocks noChangeArrowheads="1"/>
              </p:cNvSpPr>
              <p:nvPr/>
            </p:nvSpPr>
            <p:spPr bwMode="auto">
              <a:xfrm>
                <a:off x="2416" y="3044"/>
                <a:ext cx="230" cy="249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5F5F5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06" name="Oval 190"/>
              <p:cNvSpPr>
                <a:spLocks noChangeArrowheads="1"/>
              </p:cNvSpPr>
              <p:nvPr/>
            </p:nvSpPr>
            <p:spPr bwMode="auto">
              <a:xfrm>
                <a:off x="2746" y="3044"/>
                <a:ext cx="226" cy="249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5F5F5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07" name="Oval 191"/>
              <p:cNvSpPr>
                <a:spLocks noChangeArrowheads="1"/>
              </p:cNvSpPr>
              <p:nvPr/>
            </p:nvSpPr>
            <p:spPr bwMode="auto">
              <a:xfrm>
                <a:off x="2646" y="3100"/>
                <a:ext cx="136" cy="136"/>
              </a:xfrm>
              <a:prstGeom prst="ellipse">
                <a:avLst/>
              </a:prstGeom>
              <a:solidFill>
                <a:srgbClr val="FFFFFF"/>
              </a:solidFill>
              <a:ln w="12700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51" name="Group 192"/>
            <p:cNvGrpSpPr>
              <a:grpSpLocks/>
            </p:cNvGrpSpPr>
            <p:nvPr/>
          </p:nvGrpSpPr>
          <p:grpSpPr bwMode="auto">
            <a:xfrm>
              <a:off x="783946" y="3451565"/>
              <a:ext cx="1138329" cy="531815"/>
              <a:chOff x="444" y="2446"/>
              <a:chExt cx="662" cy="335"/>
            </a:xfrm>
          </p:grpSpPr>
          <p:sp>
            <p:nvSpPr>
              <p:cNvPr id="58" name="Rectangle 193"/>
              <p:cNvSpPr>
                <a:spLocks noChangeArrowheads="1"/>
              </p:cNvSpPr>
              <p:nvPr/>
            </p:nvSpPr>
            <p:spPr bwMode="auto">
              <a:xfrm>
                <a:off x="716" y="2555"/>
                <a:ext cx="363" cy="136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9" name="AutoShape 194"/>
              <p:cNvSpPr>
                <a:spLocks noChangeArrowheads="1"/>
              </p:cNvSpPr>
              <p:nvPr/>
            </p:nvSpPr>
            <p:spPr bwMode="auto">
              <a:xfrm>
                <a:off x="662" y="2480"/>
                <a:ext cx="317" cy="91"/>
              </a:xfrm>
              <a:prstGeom prst="rtTriangle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4" name="AutoShape 195"/>
              <p:cNvSpPr>
                <a:spLocks noChangeArrowheads="1"/>
              </p:cNvSpPr>
              <p:nvPr/>
            </p:nvSpPr>
            <p:spPr bwMode="auto">
              <a:xfrm flipV="1">
                <a:off x="617" y="2685"/>
                <a:ext cx="317" cy="91"/>
              </a:xfrm>
              <a:prstGeom prst="rtTriangle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5" name="Oval 196"/>
              <p:cNvSpPr>
                <a:spLocks noChangeArrowheads="1"/>
              </p:cNvSpPr>
              <p:nvPr/>
            </p:nvSpPr>
            <p:spPr bwMode="auto">
              <a:xfrm>
                <a:off x="444" y="2464"/>
                <a:ext cx="317" cy="31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6" name="Oval 197"/>
              <p:cNvSpPr>
                <a:spLocks noChangeArrowheads="1"/>
              </p:cNvSpPr>
              <p:nvPr/>
            </p:nvSpPr>
            <p:spPr bwMode="auto">
              <a:xfrm>
                <a:off x="532" y="2552"/>
                <a:ext cx="136" cy="136"/>
              </a:xfrm>
              <a:prstGeom prst="ellipse">
                <a:avLst/>
              </a:prstGeom>
              <a:solidFill>
                <a:srgbClr val="FFFFFF"/>
              </a:solidFill>
              <a:ln w="12700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7" name="Line 198"/>
              <p:cNvSpPr>
                <a:spLocks noChangeShapeType="1"/>
              </p:cNvSpPr>
              <p:nvPr/>
            </p:nvSpPr>
            <p:spPr bwMode="auto">
              <a:xfrm>
                <a:off x="625" y="2464"/>
                <a:ext cx="40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9" name="Text Box 200"/>
              <p:cNvSpPr txBox="1">
                <a:spLocks noChangeArrowheads="1"/>
              </p:cNvSpPr>
              <p:nvPr/>
            </p:nvSpPr>
            <p:spPr bwMode="auto">
              <a:xfrm>
                <a:off x="926" y="2446"/>
                <a:ext cx="180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fontAlgn="ctr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Θ</a:t>
                </a:r>
              </a:p>
            </p:txBody>
          </p:sp>
        </p:grpSp>
        <p:pic>
          <p:nvPicPr>
            <p:cNvPr id="52" name="Picture 20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644" b="4822"/>
            <a:stretch>
              <a:fillRect/>
            </a:stretch>
          </p:blipFill>
          <p:spPr bwMode="auto">
            <a:xfrm>
              <a:off x="704848" y="5201707"/>
              <a:ext cx="1403136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Rectangle 202"/>
            <p:cNvSpPr>
              <a:spLocks noChangeArrowheads="1"/>
            </p:cNvSpPr>
            <p:nvPr/>
          </p:nvSpPr>
          <p:spPr bwMode="auto">
            <a:xfrm>
              <a:off x="550090" y="5085184"/>
              <a:ext cx="1846775" cy="720725"/>
            </a:xfrm>
            <a:prstGeom prst="rect">
              <a:avLst/>
            </a:prstGeom>
            <a:noFill/>
            <a:ln w="12700" algn="ctr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56" name="Line 203"/>
            <p:cNvSpPr>
              <a:spLocks noChangeShapeType="1"/>
            </p:cNvSpPr>
            <p:nvPr/>
          </p:nvSpPr>
          <p:spPr bwMode="auto">
            <a:xfrm flipH="1">
              <a:off x="1322306" y="5201707"/>
              <a:ext cx="416838" cy="71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7" name="Text Box 204"/>
            <p:cNvSpPr txBox="1">
              <a:spLocks noChangeArrowheads="1"/>
            </p:cNvSpPr>
            <p:nvPr/>
          </p:nvSpPr>
          <p:spPr bwMode="auto">
            <a:xfrm>
              <a:off x="1568624" y="5085184"/>
              <a:ext cx="906323" cy="20968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Teardrop</a:t>
              </a:r>
            </a:p>
          </p:txBody>
        </p:sp>
        <p:sp>
          <p:nvSpPr>
            <p:cNvPr id="3" name="원호 2"/>
            <p:cNvSpPr/>
            <p:nvPr/>
          </p:nvSpPr>
          <p:spPr>
            <a:xfrm rot="10072239" flipH="1">
              <a:off x="1443047" y="3395114"/>
              <a:ext cx="190868" cy="211162"/>
            </a:xfrm>
            <a:prstGeom prst="arc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72480" y="3580736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Land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 flipV="1">
              <a:off x="674780" y="3696226"/>
              <a:ext cx="173764" cy="2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709994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79890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[25]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Thermal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부품 삽입용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PTH(Plated Through Hole)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Thermal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로 처리되었는가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SMD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실장용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Thermal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로 처리되었는가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Thermal Land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설계시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연결되는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패턴폭은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최대 허용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전류량을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※ Thermal Land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미적용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시 사유 작성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솔더링시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열전도 차이에 의한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불량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45" name="그룹 44"/>
          <p:cNvGrpSpPr/>
          <p:nvPr/>
        </p:nvGrpSpPr>
        <p:grpSpPr>
          <a:xfrm>
            <a:off x="488504" y="3387318"/>
            <a:ext cx="3096344" cy="2417946"/>
            <a:chOff x="560512" y="3356992"/>
            <a:chExt cx="3096344" cy="2417946"/>
          </a:xfrm>
        </p:grpSpPr>
        <p:sp>
          <p:nvSpPr>
            <p:cNvPr id="55" name="TextBox 54"/>
            <p:cNvSpPr txBox="1"/>
            <p:nvPr/>
          </p:nvSpPr>
          <p:spPr>
            <a:xfrm>
              <a:off x="1049516" y="5374828"/>
              <a:ext cx="11224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Thermal Land</a:t>
              </a:r>
            </a:p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(Thermal Relief)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7" name="Text Box 115"/>
            <p:cNvSpPr txBox="1">
              <a:spLocks noChangeArrowheads="1"/>
            </p:cNvSpPr>
            <p:nvPr/>
          </p:nvSpPr>
          <p:spPr bwMode="auto">
            <a:xfrm>
              <a:off x="1296632" y="3382829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59" name="Text Box 116"/>
            <p:cNvSpPr txBox="1">
              <a:spLocks noChangeArrowheads="1"/>
            </p:cNvSpPr>
            <p:nvPr/>
          </p:nvSpPr>
          <p:spPr bwMode="auto">
            <a:xfrm>
              <a:off x="2379203" y="3356992"/>
              <a:ext cx="648231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60" name="Rectangle 178"/>
            <p:cNvSpPr>
              <a:spLocks noChangeArrowheads="1"/>
            </p:cNvSpPr>
            <p:nvPr/>
          </p:nvSpPr>
          <p:spPr bwMode="auto">
            <a:xfrm>
              <a:off x="1348505" y="3718604"/>
              <a:ext cx="1548000" cy="16920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61" name="Rectangle 216"/>
            <p:cNvSpPr>
              <a:spLocks noChangeArrowheads="1"/>
            </p:cNvSpPr>
            <p:nvPr/>
          </p:nvSpPr>
          <p:spPr bwMode="auto">
            <a:xfrm>
              <a:off x="848544" y="3717032"/>
              <a:ext cx="34977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1)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2" name="Rectangle 216"/>
            <p:cNvSpPr>
              <a:spLocks noChangeArrowheads="1"/>
            </p:cNvSpPr>
            <p:nvPr/>
          </p:nvSpPr>
          <p:spPr bwMode="auto">
            <a:xfrm>
              <a:off x="866373" y="4506355"/>
              <a:ext cx="34977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2)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63" name="그룹 62"/>
            <p:cNvGrpSpPr/>
            <p:nvPr/>
          </p:nvGrpSpPr>
          <p:grpSpPr>
            <a:xfrm>
              <a:off x="560512" y="4869200"/>
              <a:ext cx="1219465" cy="360000"/>
              <a:chOff x="560512" y="4833192"/>
              <a:chExt cx="1219465" cy="360000"/>
            </a:xfrm>
          </p:grpSpPr>
          <p:sp>
            <p:nvSpPr>
              <p:cNvPr id="79" name="직사각형 78"/>
              <p:cNvSpPr/>
              <p:nvPr/>
            </p:nvSpPr>
            <p:spPr>
              <a:xfrm>
                <a:off x="1452259" y="4869160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0" name="Rectangle 178"/>
              <p:cNvSpPr>
                <a:spLocks noChangeArrowheads="1"/>
              </p:cNvSpPr>
              <p:nvPr/>
            </p:nvSpPr>
            <p:spPr bwMode="auto">
              <a:xfrm>
                <a:off x="1573295" y="4833192"/>
                <a:ext cx="72000" cy="360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1" name="직사각형 80"/>
              <p:cNvSpPr/>
              <p:nvPr/>
            </p:nvSpPr>
            <p:spPr>
              <a:xfrm>
                <a:off x="560512" y="4869160"/>
                <a:ext cx="533053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2" name="Rectangle 178"/>
              <p:cNvSpPr>
                <a:spLocks noChangeArrowheads="1"/>
              </p:cNvSpPr>
              <p:nvPr/>
            </p:nvSpPr>
            <p:spPr bwMode="auto">
              <a:xfrm>
                <a:off x="560512" y="4983977"/>
                <a:ext cx="355369" cy="108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Rectangle 178"/>
              <p:cNvSpPr>
                <a:spLocks noChangeArrowheads="1"/>
              </p:cNvSpPr>
              <p:nvPr/>
            </p:nvSpPr>
            <p:spPr bwMode="auto">
              <a:xfrm>
                <a:off x="1424608" y="4993144"/>
                <a:ext cx="355369" cy="71845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4" name="직사각형 83"/>
              <p:cNvSpPr/>
              <p:nvPr/>
            </p:nvSpPr>
            <p:spPr>
              <a:xfrm>
                <a:off x="785947" y="4905192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5" name="직사각형 84"/>
              <p:cNvSpPr/>
              <p:nvPr/>
            </p:nvSpPr>
            <p:spPr>
              <a:xfrm>
                <a:off x="1509356" y="4904649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6" name="직사각형 85"/>
              <p:cNvSpPr/>
              <p:nvPr/>
            </p:nvSpPr>
            <p:spPr>
              <a:xfrm>
                <a:off x="857955" y="4955798"/>
                <a:ext cx="803223" cy="160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64" name="그룹 63"/>
            <p:cNvGrpSpPr/>
            <p:nvPr/>
          </p:nvGrpSpPr>
          <p:grpSpPr>
            <a:xfrm>
              <a:off x="2514139" y="4905128"/>
              <a:ext cx="1142717" cy="324000"/>
              <a:chOff x="785947" y="4869160"/>
              <a:chExt cx="1142717" cy="324000"/>
            </a:xfrm>
          </p:grpSpPr>
          <p:sp>
            <p:nvSpPr>
              <p:cNvPr id="74" name="직사각형 73"/>
              <p:cNvSpPr/>
              <p:nvPr/>
            </p:nvSpPr>
            <p:spPr>
              <a:xfrm>
                <a:off x="1452259" y="4869160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5" name="Rectangle 178"/>
              <p:cNvSpPr>
                <a:spLocks noChangeArrowheads="1"/>
              </p:cNvSpPr>
              <p:nvPr/>
            </p:nvSpPr>
            <p:spPr bwMode="auto">
              <a:xfrm>
                <a:off x="1573295" y="4976365"/>
                <a:ext cx="355369" cy="108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6" name="직사각형 75"/>
              <p:cNvSpPr/>
              <p:nvPr/>
            </p:nvSpPr>
            <p:spPr>
              <a:xfrm>
                <a:off x="785947" y="4905192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1509356" y="4904649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857955" y="4955798"/>
                <a:ext cx="803223" cy="160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1424608" y="3921174"/>
              <a:ext cx="432000" cy="396000"/>
              <a:chOff x="1424608" y="3921174"/>
              <a:chExt cx="432000" cy="396000"/>
            </a:xfrm>
          </p:grpSpPr>
          <p:sp>
            <p:nvSpPr>
              <p:cNvPr id="69" name="타원 68"/>
              <p:cNvSpPr/>
              <p:nvPr/>
            </p:nvSpPr>
            <p:spPr>
              <a:xfrm>
                <a:off x="1460648" y="3933056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0" name="Rectangle 178"/>
              <p:cNvSpPr>
                <a:spLocks noChangeArrowheads="1"/>
              </p:cNvSpPr>
              <p:nvPr/>
            </p:nvSpPr>
            <p:spPr bwMode="auto">
              <a:xfrm>
                <a:off x="1582862" y="3921174"/>
                <a:ext cx="108000" cy="396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1" name="Rectangle 178"/>
              <p:cNvSpPr>
                <a:spLocks noChangeArrowheads="1"/>
              </p:cNvSpPr>
              <p:nvPr/>
            </p:nvSpPr>
            <p:spPr bwMode="auto">
              <a:xfrm>
                <a:off x="1424608" y="4060294"/>
                <a:ext cx="432000" cy="108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2" name="타원 71"/>
              <p:cNvSpPr/>
              <p:nvPr/>
            </p:nvSpPr>
            <p:spPr>
              <a:xfrm>
                <a:off x="1514648" y="3987056"/>
                <a:ext cx="252000" cy="252000"/>
              </a:xfrm>
              <a:prstGeom prst="ellipse">
                <a:avLst/>
              </a:prstGeom>
              <a:solidFill>
                <a:srgbClr val="FFC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73" name="타원 72"/>
              <p:cNvSpPr/>
              <p:nvPr/>
            </p:nvSpPr>
            <p:spPr>
              <a:xfrm>
                <a:off x="1586648" y="405905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2522808" y="3998938"/>
              <a:ext cx="252000" cy="252000"/>
              <a:chOff x="1514648" y="3987056"/>
              <a:chExt cx="252000" cy="252000"/>
            </a:xfrm>
          </p:grpSpPr>
          <p:sp>
            <p:nvSpPr>
              <p:cNvPr id="67" name="타원 66"/>
              <p:cNvSpPr/>
              <p:nvPr/>
            </p:nvSpPr>
            <p:spPr>
              <a:xfrm>
                <a:off x="1514648" y="3987056"/>
                <a:ext cx="252000" cy="252000"/>
              </a:xfrm>
              <a:prstGeom prst="ellipse">
                <a:avLst/>
              </a:prstGeom>
              <a:solidFill>
                <a:srgbClr val="FFC00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1586648" y="405905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1805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7500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CHIP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부품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저항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200" b="1" baseline="0" dirty="0" err="1">
                          <a:latin typeface="현대하모니 L"/>
                          <a:ea typeface="현대하모니 L"/>
                        </a:rPr>
                        <a:t>커패시터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코일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다이오드 등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패턴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양쪽 패턴 폭이 서로 동일하게 설계되었는가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불가피할 경우 양쪽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패턴폭의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차이는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배 이내로 설계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Chip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부품의 전극 크기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(a)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크기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(b)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다르게 설계할 필요가 있는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아래로 통과하는 패턴은 전극구간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(a)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에서 직선으로 설계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※ 1)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솔더링시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인장력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편차에 의한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맨하탄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현상 방지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  2)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칩 부품의 전극과 패턴간 쇼트 방지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" name="직사각형 8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411095" y="4585556"/>
            <a:ext cx="3070358" cy="1395267"/>
            <a:chOff x="271001" y="4441540"/>
            <a:chExt cx="3070358" cy="1395267"/>
          </a:xfrm>
        </p:grpSpPr>
        <p:sp>
          <p:nvSpPr>
            <p:cNvPr id="94" name="Rectangle 112"/>
            <p:cNvSpPr>
              <a:spLocks noChangeArrowheads="1"/>
            </p:cNvSpPr>
            <p:nvPr/>
          </p:nvSpPr>
          <p:spPr bwMode="auto">
            <a:xfrm>
              <a:off x="661082" y="4441540"/>
              <a:ext cx="1109787" cy="11409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95" name="Rectangle 120"/>
            <p:cNvSpPr>
              <a:spLocks noChangeArrowheads="1"/>
            </p:cNvSpPr>
            <p:nvPr/>
          </p:nvSpPr>
          <p:spPr bwMode="auto">
            <a:xfrm>
              <a:off x="2228601" y="4441540"/>
              <a:ext cx="1109787" cy="11409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>
              <a:off x="271001" y="4564196"/>
              <a:ext cx="3070358" cy="1272611"/>
              <a:chOff x="236362" y="4694947"/>
              <a:chExt cx="3201482" cy="1502437"/>
            </a:xfrm>
          </p:grpSpPr>
          <p:sp>
            <p:nvSpPr>
              <p:cNvPr id="97" name="Rectangle 113"/>
              <p:cNvSpPr>
                <a:spLocks noChangeArrowheads="1"/>
              </p:cNvSpPr>
              <p:nvPr/>
            </p:nvSpPr>
            <p:spPr bwMode="auto">
              <a:xfrm>
                <a:off x="709237" y="5416950"/>
                <a:ext cx="312184" cy="20515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8" name="Rectangle 114"/>
              <p:cNvSpPr>
                <a:spLocks noChangeArrowheads="1"/>
              </p:cNvSpPr>
              <p:nvPr/>
            </p:nvSpPr>
            <p:spPr bwMode="auto">
              <a:xfrm>
                <a:off x="1500203" y="5416950"/>
                <a:ext cx="312184" cy="20515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99" name="Rectangle 115"/>
              <p:cNvSpPr>
                <a:spLocks noChangeArrowheads="1"/>
              </p:cNvSpPr>
              <p:nvPr/>
            </p:nvSpPr>
            <p:spPr bwMode="auto">
              <a:xfrm rot="5400000">
                <a:off x="1017387" y="4972981"/>
                <a:ext cx="483849" cy="1086640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0" name="Line 116"/>
              <p:cNvSpPr>
                <a:spLocks noChangeShapeType="1"/>
              </p:cNvSpPr>
              <p:nvPr/>
            </p:nvSpPr>
            <p:spPr bwMode="auto">
              <a:xfrm flipV="1">
                <a:off x="1167007" y="5037612"/>
                <a:ext cx="0" cy="819318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1" name="Line 117"/>
              <p:cNvSpPr>
                <a:spLocks noChangeShapeType="1"/>
              </p:cNvSpPr>
              <p:nvPr/>
            </p:nvSpPr>
            <p:spPr bwMode="auto">
              <a:xfrm flipV="1">
                <a:off x="1326101" y="5037612"/>
                <a:ext cx="0" cy="819318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2" name="Line 118"/>
              <p:cNvSpPr>
                <a:spLocks noChangeShapeType="1"/>
              </p:cNvSpPr>
              <p:nvPr/>
            </p:nvSpPr>
            <p:spPr bwMode="auto">
              <a:xfrm flipV="1">
                <a:off x="1318596" y="4729239"/>
                <a:ext cx="270159" cy="330308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3" name="Line 119"/>
              <p:cNvSpPr>
                <a:spLocks noChangeShapeType="1"/>
              </p:cNvSpPr>
              <p:nvPr/>
            </p:nvSpPr>
            <p:spPr bwMode="auto">
              <a:xfrm flipH="1" flipV="1">
                <a:off x="925365" y="4761496"/>
                <a:ext cx="250648" cy="296761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4" name="Rectangle 121"/>
              <p:cNvSpPr>
                <a:spLocks noChangeArrowheads="1"/>
              </p:cNvSpPr>
              <p:nvPr/>
            </p:nvSpPr>
            <p:spPr bwMode="auto">
              <a:xfrm>
                <a:off x="2346702" y="5416950"/>
                <a:ext cx="312184" cy="20515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5" name="Rectangle 122"/>
              <p:cNvSpPr>
                <a:spLocks noChangeArrowheads="1"/>
              </p:cNvSpPr>
              <p:nvPr/>
            </p:nvSpPr>
            <p:spPr bwMode="auto">
              <a:xfrm>
                <a:off x="3116655" y="5416950"/>
                <a:ext cx="312184" cy="20515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6" name="Rectangle 123"/>
              <p:cNvSpPr>
                <a:spLocks noChangeArrowheads="1"/>
              </p:cNvSpPr>
              <p:nvPr/>
            </p:nvSpPr>
            <p:spPr bwMode="auto">
              <a:xfrm rot="5400000">
                <a:off x="2651849" y="4971585"/>
                <a:ext cx="483849" cy="1088141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7" name="Line 124"/>
              <p:cNvSpPr>
                <a:spLocks noChangeShapeType="1"/>
              </p:cNvSpPr>
              <p:nvPr/>
            </p:nvSpPr>
            <p:spPr bwMode="auto">
              <a:xfrm flipV="1">
                <a:off x="2789463" y="5085352"/>
                <a:ext cx="0" cy="756095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8" name="Line 125"/>
              <p:cNvSpPr>
                <a:spLocks noChangeShapeType="1"/>
              </p:cNvSpPr>
              <p:nvPr/>
            </p:nvSpPr>
            <p:spPr bwMode="auto">
              <a:xfrm flipV="1">
                <a:off x="2993583" y="5095674"/>
                <a:ext cx="253649" cy="323857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9" name="Line 126"/>
              <p:cNvSpPr>
                <a:spLocks noChangeShapeType="1"/>
              </p:cNvSpPr>
              <p:nvPr/>
            </p:nvSpPr>
            <p:spPr bwMode="auto">
              <a:xfrm flipH="1" flipV="1">
                <a:off x="2561328" y="4797623"/>
                <a:ext cx="234138" cy="313534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0" name="Line 127"/>
              <p:cNvSpPr>
                <a:spLocks noChangeShapeType="1"/>
              </p:cNvSpPr>
              <p:nvPr/>
            </p:nvSpPr>
            <p:spPr bwMode="auto">
              <a:xfrm flipV="1">
                <a:off x="2995084" y="5388564"/>
                <a:ext cx="0" cy="468366"/>
              </a:xfrm>
              <a:prstGeom prst="line">
                <a:avLst/>
              </a:prstGeom>
              <a:noFill/>
              <a:ln w="76200">
                <a:solidFill>
                  <a:srgbClr val="00CC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1" name="Rectangle 128"/>
              <p:cNvSpPr>
                <a:spLocks noChangeArrowheads="1"/>
              </p:cNvSpPr>
              <p:nvPr/>
            </p:nvSpPr>
            <p:spPr bwMode="auto">
              <a:xfrm rot="5400000">
                <a:off x="2650348" y="5275080"/>
                <a:ext cx="483849" cy="477281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2" name="Rectangle 129"/>
              <p:cNvSpPr>
                <a:spLocks noChangeArrowheads="1"/>
              </p:cNvSpPr>
              <p:nvPr/>
            </p:nvSpPr>
            <p:spPr bwMode="auto">
              <a:xfrm rot="5400000">
                <a:off x="1015886" y="5273684"/>
                <a:ext cx="483849" cy="478782"/>
              </a:xfrm>
              <a:prstGeom prst="rect">
                <a:avLst/>
              </a:prstGeom>
              <a:noFill/>
              <a:ln w="28575" algn="ctr">
                <a:solidFill>
                  <a:srgbClr val="5F5F5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3" name="Text Box 130"/>
              <p:cNvSpPr txBox="1">
                <a:spLocks noChangeArrowheads="1"/>
              </p:cNvSpPr>
              <p:nvPr/>
            </p:nvSpPr>
            <p:spPr bwMode="auto">
              <a:xfrm>
                <a:off x="2720422" y="5949830"/>
                <a:ext cx="408240" cy="247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ko-KR" altLang="en-US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전극</a:t>
                </a:r>
              </a:p>
            </p:txBody>
          </p:sp>
          <p:sp>
            <p:nvSpPr>
              <p:cNvPr id="114" name="Text Box 131"/>
              <p:cNvSpPr txBox="1">
                <a:spLocks noChangeArrowheads="1"/>
              </p:cNvSpPr>
              <p:nvPr/>
            </p:nvSpPr>
            <p:spPr bwMode="auto">
              <a:xfrm>
                <a:off x="1425159" y="4875040"/>
                <a:ext cx="477281" cy="247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Land</a:t>
                </a:r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15" name="Line 132"/>
              <p:cNvSpPr>
                <a:spLocks noChangeShapeType="1"/>
              </p:cNvSpPr>
              <p:nvPr/>
            </p:nvSpPr>
            <p:spPr bwMode="auto">
              <a:xfrm flipH="1" flipV="1">
                <a:off x="2432252" y="5739517"/>
                <a:ext cx="271660" cy="35095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6" name="Line 133"/>
              <p:cNvSpPr>
                <a:spLocks noChangeShapeType="1"/>
              </p:cNvSpPr>
              <p:nvPr/>
            </p:nvSpPr>
            <p:spPr bwMode="auto">
              <a:xfrm flipH="1">
                <a:off x="1641286" y="5049225"/>
                <a:ext cx="0" cy="46836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7" name="Line 134"/>
              <p:cNvSpPr>
                <a:spLocks noChangeShapeType="1"/>
              </p:cNvSpPr>
              <p:nvPr/>
            </p:nvSpPr>
            <p:spPr bwMode="auto">
              <a:xfrm flipV="1">
                <a:off x="3097144" y="5739517"/>
                <a:ext cx="271660" cy="35095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8" name="AutoShape 135"/>
              <p:cNvSpPr>
                <a:spLocks noChangeArrowheads="1"/>
              </p:cNvSpPr>
              <p:nvPr/>
            </p:nvSpPr>
            <p:spPr bwMode="auto">
              <a:xfrm>
                <a:off x="2879516" y="5045354"/>
                <a:ext cx="475780" cy="526428"/>
              </a:xfrm>
              <a:prstGeom prst="irregularSeal1">
                <a:avLst/>
              </a:prstGeom>
              <a:noFill/>
              <a:ln w="12700" algn="ctr">
                <a:solidFill>
                  <a:srgbClr val="FF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9" name="Line 136"/>
              <p:cNvSpPr>
                <a:spLocks noChangeShapeType="1"/>
              </p:cNvSpPr>
              <p:nvPr/>
            </p:nvSpPr>
            <p:spPr bwMode="auto">
              <a:xfrm>
                <a:off x="406059" y="5287924"/>
                <a:ext cx="34220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0" name="Line 137"/>
              <p:cNvSpPr>
                <a:spLocks noChangeShapeType="1"/>
              </p:cNvSpPr>
              <p:nvPr/>
            </p:nvSpPr>
            <p:spPr bwMode="auto">
              <a:xfrm>
                <a:off x="406059" y="5756290"/>
                <a:ext cx="27316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3" name="Line 138"/>
              <p:cNvSpPr>
                <a:spLocks noChangeShapeType="1"/>
              </p:cNvSpPr>
              <p:nvPr/>
            </p:nvSpPr>
            <p:spPr bwMode="auto">
              <a:xfrm flipV="1">
                <a:off x="544140" y="5287924"/>
                <a:ext cx="0" cy="47481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4" name="Text Box 139"/>
              <p:cNvSpPr txBox="1">
                <a:spLocks noChangeArrowheads="1"/>
              </p:cNvSpPr>
              <p:nvPr/>
            </p:nvSpPr>
            <p:spPr bwMode="auto">
              <a:xfrm>
                <a:off x="272480" y="5766612"/>
                <a:ext cx="477281" cy="247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a</a:t>
                </a:r>
              </a:p>
            </p:txBody>
          </p:sp>
          <p:sp>
            <p:nvSpPr>
              <p:cNvPr id="125" name="Line 140"/>
              <p:cNvSpPr>
                <a:spLocks noChangeShapeType="1"/>
              </p:cNvSpPr>
              <p:nvPr/>
            </p:nvSpPr>
            <p:spPr bwMode="auto">
              <a:xfrm>
                <a:off x="1971481" y="5174380"/>
                <a:ext cx="1501" cy="23482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6" name="Line 141"/>
              <p:cNvSpPr>
                <a:spLocks noChangeShapeType="1"/>
              </p:cNvSpPr>
              <p:nvPr/>
            </p:nvSpPr>
            <p:spPr bwMode="auto">
              <a:xfrm>
                <a:off x="1789874" y="5415660"/>
                <a:ext cx="27015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7" name="Line 142"/>
              <p:cNvSpPr>
                <a:spLocks noChangeShapeType="1"/>
              </p:cNvSpPr>
              <p:nvPr/>
            </p:nvSpPr>
            <p:spPr bwMode="auto">
              <a:xfrm>
                <a:off x="1789874" y="5615651"/>
                <a:ext cx="27015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8" name="Line 143"/>
              <p:cNvSpPr>
                <a:spLocks noChangeShapeType="1"/>
              </p:cNvSpPr>
              <p:nvPr/>
            </p:nvSpPr>
            <p:spPr bwMode="auto">
              <a:xfrm flipV="1">
                <a:off x="1972982" y="5615651"/>
                <a:ext cx="0" cy="23353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9" name="Text Box 144"/>
              <p:cNvSpPr txBox="1">
                <a:spLocks noChangeArrowheads="1"/>
              </p:cNvSpPr>
              <p:nvPr/>
            </p:nvSpPr>
            <p:spPr bwMode="auto">
              <a:xfrm>
                <a:off x="1738844" y="5882736"/>
                <a:ext cx="477281" cy="247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b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236362" y="4694947"/>
                <a:ext cx="317913" cy="290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2)</a:t>
                </a:r>
                <a:endParaRPr lang="ko-KR" altLang="en-US" sz="1000" b="0" dirty="0" err="1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</p:grpSp>
      <p:grpSp>
        <p:nvGrpSpPr>
          <p:cNvPr id="11" name="그룹 10"/>
          <p:cNvGrpSpPr/>
          <p:nvPr/>
        </p:nvGrpSpPr>
        <p:grpSpPr>
          <a:xfrm>
            <a:off x="376456" y="2994990"/>
            <a:ext cx="1668127" cy="1515098"/>
            <a:chOff x="376456" y="2994990"/>
            <a:chExt cx="1668127" cy="1515098"/>
          </a:xfrm>
        </p:grpSpPr>
        <p:sp>
          <p:nvSpPr>
            <p:cNvPr id="132" name="Text Box 115"/>
            <p:cNvSpPr txBox="1">
              <a:spLocks noChangeArrowheads="1"/>
            </p:cNvSpPr>
            <p:nvPr/>
          </p:nvSpPr>
          <p:spPr bwMode="auto">
            <a:xfrm>
              <a:off x="990083" y="2994990"/>
              <a:ext cx="641820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134" name="Rectangle 178"/>
            <p:cNvSpPr>
              <a:spLocks noChangeArrowheads="1"/>
            </p:cNvSpPr>
            <p:nvPr/>
          </p:nvSpPr>
          <p:spPr bwMode="auto">
            <a:xfrm>
              <a:off x="623109" y="3261790"/>
              <a:ext cx="1392418" cy="1248298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623109" y="3429000"/>
              <a:ext cx="533053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167" name="Rectangle 178"/>
            <p:cNvSpPr>
              <a:spLocks noChangeArrowheads="1"/>
            </p:cNvSpPr>
            <p:nvPr/>
          </p:nvSpPr>
          <p:spPr bwMode="auto">
            <a:xfrm>
              <a:off x="623109" y="3517687"/>
              <a:ext cx="355369" cy="1440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2" name="직사각형 201"/>
            <p:cNvSpPr/>
            <p:nvPr/>
          </p:nvSpPr>
          <p:spPr>
            <a:xfrm>
              <a:off x="845239" y="3465575"/>
              <a:ext cx="2160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1511530" y="3429000"/>
              <a:ext cx="533053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4" name="Rectangle 178"/>
            <p:cNvSpPr>
              <a:spLocks noChangeArrowheads="1"/>
            </p:cNvSpPr>
            <p:nvPr/>
          </p:nvSpPr>
          <p:spPr bwMode="auto">
            <a:xfrm>
              <a:off x="1661010" y="3536077"/>
              <a:ext cx="360000" cy="900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5" name="직사각형 204"/>
            <p:cNvSpPr/>
            <p:nvPr/>
          </p:nvSpPr>
          <p:spPr>
            <a:xfrm>
              <a:off x="623109" y="4005064"/>
              <a:ext cx="533053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6" name="Rectangle 178"/>
            <p:cNvSpPr>
              <a:spLocks noChangeArrowheads="1"/>
            </p:cNvSpPr>
            <p:nvPr/>
          </p:nvSpPr>
          <p:spPr bwMode="auto">
            <a:xfrm>
              <a:off x="623109" y="4119882"/>
              <a:ext cx="355369" cy="71845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1511530" y="4005064"/>
              <a:ext cx="533053" cy="32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09" name="Rectangle 178"/>
            <p:cNvSpPr>
              <a:spLocks noChangeArrowheads="1"/>
            </p:cNvSpPr>
            <p:nvPr/>
          </p:nvSpPr>
          <p:spPr bwMode="auto">
            <a:xfrm>
              <a:off x="1661010" y="4112270"/>
              <a:ext cx="355369" cy="71845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376456" y="3210113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29" name="Rectangle 178"/>
            <p:cNvSpPr>
              <a:spLocks noChangeArrowheads="1"/>
            </p:cNvSpPr>
            <p:nvPr/>
          </p:nvSpPr>
          <p:spPr bwMode="auto">
            <a:xfrm>
              <a:off x="1661877" y="3578535"/>
              <a:ext cx="72000" cy="21600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41" name="직사각형 240"/>
            <p:cNvSpPr/>
            <p:nvPr/>
          </p:nvSpPr>
          <p:spPr>
            <a:xfrm>
              <a:off x="1568648" y="3465032"/>
              <a:ext cx="2160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42" name="직사각형 241"/>
            <p:cNvSpPr/>
            <p:nvPr/>
          </p:nvSpPr>
          <p:spPr>
            <a:xfrm>
              <a:off x="848544" y="4041096"/>
              <a:ext cx="2160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43" name="직사각형 242"/>
            <p:cNvSpPr/>
            <p:nvPr/>
          </p:nvSpPr>
          <p:spPr>
            <a:xfrm>
              <a:off x="1571953" y="4040553"/>
              <a:ext cx="216000" cy="25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917706" y="3508363"/>
              <a:ext cx="803223" cy="16063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sp>
          <p:nvSpPr>
            <p:cNvPr id="244" name="직사각형 243"/>
            <p:cNvSpPr/>
            <p:nvPr/>
          </p:nvSpPr>
          <p:spPr>
            <a:xfrm>
              <a:off x="920552" y="4091702"/>
              <a:ext cx="803223" cy="16063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132745" y="2979087"/>
            <a:ext cx="1668127" cy="1746057"/>
            <a:chOff x="2132745" y="2979087"/>
            <a:chExt cx="1668127" cy="1746057"/>
          </a:xfrm>
        </p:grpSpPr>
        <p:sp>
          <p:nvSpPr>
            <p:cNvPr id="255" name="TextBox 254"/>
            <p:cNvSpPr txBox="1"/>
            <p:nvPr/>
          </p:nvSpPr>
          <p:spPr>
            <a:xfrm>
              <a:off x="2132745" y="3212976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2232081" y="2979087"/>
              <a:ext cx="1568791" cy="1746057"/>
              <a:chOff x="2232081" y="2979087"/>
              <a:chExt cx="1568791" cy="1746057"/>
            </a:xfrm>
          </p:grpSpPr>
          <p:sp>
            <p:nvSpPr>
              <p:cNvPr id="133" name="Text Box 116"/>
              <p:cNvSpPr txBox="1">
                <a:spLocks noChangeArrowheads="1"/>
              </p:cNvSpPr>
              <p:nvPr/>
            </p:nvSpPr>
            <p:spPr bwMode="auto">
              <a:xfrm>
                <a:off x="2606681" y="2979087"/>
                <a:ext cx="646629" cy="27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  <p:sp>
            <p:nvSpPr>
              <p:cNvPr id="228" name="Text Box 130"/>
              <p:cNvSpPr txBox="1">
                <a:spLocks noChangeArrowheads="1"/>
              </p:cNvSpPr>
              <p:nvPr/>
            </p:nvSpPr>
            <p:spPr bwMode="auto">
              <a:xfrm>
                <a:off x="2232081" y="4515458"/>
                <a:ext cx="1496783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ko-KR" altLang="en-US" sz="1000" b="0" dirty="0" err="1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패턴폭</a:t>
                </a:r>
                <a:r>
                  <a:rPr lang="ko-KR" altLang="en-US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 상이 </a:t>
                </a:r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(2</a:t>
                </a:r>
                <a:r>
                  <a:rPr lang="ko-KR" altLang="en-US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배 이상</a:t>
                </a:r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45" name="Rectangle 178"/>
              <p:cNvSpPr>
                <a:spLocks noChangeArrowheads="1"/>
              </p:cNvSpPr>
              <p:nvPr/>
            </p:nvSpPr>
            <p:spPr bwMode="auto">
              <a:xfrm>
                <a:off x="2379398" y="3264653"/>
                <a:ext cx="1392418" cy="1248298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46" name="직사각형 245"/>
              <p:cNvSpPr/>
              <p:nvPr/>
            </p:nvSpPr>
            <p:spPr>
              <a:xfrm>
                <a:off x="2379398" y="3431863"/>
                <a:ext cx="533053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47" name="Rectangle 178"/>
              <p:cNvSpPr>
                <a:spLocks noChangeArrowheads="1"/>
              </p:cNvSpPr>
              <p:nvPr/>
            </p:nvSpPr>
            <p:spPr bwMode="auto">
              <a:xfrm>
                <a:off x="2379398" y="3520550"/>
                <a:ext cx="355369" cy="144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48" name="직사각형 247"/>
              <p:cNvSpPr/>
              <p:nvPr/>
            </p:nvSpPr>
            <p:spPr>
              <a:xfrm>
                <a:off x="2601528" y="3468438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49" name="직사각형 248"/>
              <p:cNvSpPr/>
              <p:nvPr/>
            </p:nvSpPr>
            <p:spPr>
              <a:xfrm>
                <a:off x="3267819" y="3431863"/>
                <a:ext cx="533053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0" name="Rectangle 178"/>
              <p:cNvSpPr>
                <a:spLocks noChangeArrowheads="1"/>
              </p:cNvSpPr>
              <p:nvPr/>
            </p:nvSpPr>
            <p:spPr bwMode="auto">
              <a:xfrm>
                <a:off x="3417299" y="3538940"/>
                <a:ext cx="360000" cy="36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1" name="직사각형 250"/>
              <p:cNvSpPr/>
              <p:nvPr/>
            </p:nvSpPr>
            <p:spPr>
              <a:xfrm>
                <a:off x="2379398" y="4007927"/>
                <a:ext cx="533053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2" name="Rectangle 178"/>
              <p:cNvSpPr>
                <a:spLocks noChangeArrowheads="1"/>
              </p:cNvSpPr>
              <p:nvPr/>
            </p:nvSpPr>
            <p:spPr bwMode="auto">
              <a:xfrm>
                <a:off x="2379398" y="4091702"/>
                <a:ext cx="355369" cy="144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3" name="직사각형 252"/>
              <p:cNvSpPr/>
              <p:nvPr/>
            </p:nvSpPr>
            <p:spPr>
              <a:xfrm>
                <a:off x="3267819" y="4007927"/>
                <a:ext cx="533053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4" name="Rectangle 178"/>
              <p:cNvSpPr>
                <a:spLocks noChangeArrowheads="1"/>
              </p:cNvSpPr>
              <p:nvPr/>
            </p:nvSpPr>
            <p:spPr bwMode="auto">
              <a:xfrm>
                <a:off x="3417299" y="4148513"/>
                <a:ext cx="355369" cy="36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6" name="Rectangle 178"/>
              <p:cNvSpPr>
                <a:spLocks noChangeArrowheads="1"/>
              </p:cNvSpPr>
              <p:nvPr/>
            </p:nvSpPr>
            <p:spPr bwMode="auto">
              <a:xfrm>
                <a:off x="3418166" y="3581398"/>
                <a:ext cx="36000" cy="216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7" name="직사각형 256"/>
              <p:cNvSpPr/>
              <p:nvPr/>
            </p:nvSpPr>
            <p:spPr>
              <a:xfrm>
                <a:off x="3324937" y="3467895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8" name="직사각형 257"/>
              <p:cNvSpPr/>
              <p:nvPr/>
            </p:nvSpPr>
            <p:spPr>
              <a:xfrm>
                <a:off x="2604833" y="4043959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59" name="직사각형 258"/>
              <p:cNvSpPr/>
              <p:nvPr/>
            </p:nvSpPr>
            <p:spPr>
              <a:xfrm>
                <a:off x="3328242" y="4043416"/>
                <a:ext cx="216000" cy="25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60" name="직사각형 259"/>
              <p:cNvSpPr/>
              <p:nvPr/>
            </p:nvSpPr>
            <p:spPr>
              <a:xfrm>
                <a:off x="2673995" y="3511226"/>
                <a:ext cx="803223" cy="160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261" name="직사각형 260"/>
              <p:cNvSpPr/>
              <p:nvPr/>
            </p:nvSpPr>
            <p:spPr>
              <a:xfrm>
                <a:off x="2676841" y="4094565"/>
                <a:ext cx="803223" cy="16063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50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8448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8073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[27]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고정용 나사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(screw)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Hole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의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를 설계하는 경우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솔더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크기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(d1)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나사 머리 크기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(d2)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고려하여 설계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(d1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d2)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고정용 나사 주변을 지나는 패턴은 적절한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확보하였는가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(d3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d4+1㎜, d4 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나사 조립 시 편차를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고려한 여유도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나사 풀림 방지를 위한 부수적인 조치를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본딩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솔더링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태핑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나사 적용 등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부식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진동에 의한 나사 풀림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272480" y="3284984"/>
            <a:ext cx="3672408" cy="2635301"/>
            <a:chOff x="200472" y="3284984"/>
            <a:chExt cx="3672408" cy="2635301"/>
          </a:xfrm>
        </p:grpSpPr>
        <p:grpSp>
          <p:nvGrpSpPr>
            <p:cNvPr id="7" name="그룹 6"/>
            <p:cNvGrpSpPr/>
            <p:nvPr/>
          </p:nvGrpSpPr>
          <p:grpSpPr>
            <a:xfrm>
              <a:off x="200472" y="3284984"/>
              <a:ext cx="3672408" cy="1605795"/>
              <a:chOff x="128464" y="3429000"/>
              <a:chExt cx="3672408" cy="1605795"/>
            </a:xfrm>
          </p:grpSpPr>
          <p:grpSp>
            <p:nvGrpSpPr>
              <p:cNvPr id="35" name="Group 78"/>
              <p:cNvGrpSpPr>
                <a:grpSpLocks/>
              </p:cNvGrpSpPr>
              <p:nvPr/>
            </p:nvGrpSpPr>
            <p:grpSpPr bwMode="auto">
              <a:xfrm>
                <a:off x="429567" y="3545679"/>
                <a:ext cx="1920026" cy="1418937"/>
                <a:chOff x="340" y="2746"/>
                <a:chExt cx="1229" cy="866"/>
              </a:xfrm>
            </p:grpSpPr>
            <p:pic>
              <p:nvPicPr>
                <p:cNvPr id="50" name="Picture 79" descr="DSC00676(Bolt)-1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043" t="16311" r="20858" b="15962"/>
                <a:stretch/>
              </p:blipFill>
              <p:spPr bwMode="auto">
                <a:xfrm>
                  <a:off x="340" y="2746"/>
                  <a:ext cx="1229" cy="8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1" name="Picture 80" descr="DSC00668(Bolt)-2랜드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8" y="2841"/>
                  <a:ext cx="595" cy="59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6" name="Line 81"/>
              <p:cNvSpPr>
                <a:spLocks noChangeShapeType="1"/>
              </p:cNvSpPr>
              <p:nvPr/>
            </p:nvSpPr>
            <p:spPr bwMode="auto">
              <a:xfrm>
                <a:off x="960515" y="3465133"/>
                <a:ext cx="0" cy="72000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7" name="Line 82"/>
              <p:cNvSpPr>
                <a:spLocks noChangeShapeType="1"/>
              </p:cNvSpPr>
              <p:nvPr/>
            </p:nvSpPr>
            <p:spPr bwMode="auto">
              <a:xfrm>
                <a:off x="1762279" y="3465133"/>
                <a:ext cx="0" cy="72000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8" name="Line 83"/>
              <p:cNvSpPr>
                <a:spLocks noChangeShapeType="1"/>
              </p:cNvSpPr>
              <p:nvPr/>
            </p:nvSpPr>
            <p:spPr bwMode="auto">
              <a:xfrm>
                <a:off x="967830" y="3670350"/>
                <a:ext cx="77945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9" name="Text Box 84"/>
              <p:cNvSpPr txBox="1">
                <a:spLocks noChangeArrowheads="1"/>
              </p:cNvSpPr>
              <p:nvPr/>
            </p:nvSpPr>
            <p:spPr bwMode="auto">
              <a:xfrm>
                <a:off x="1174959" y="3429000"/>
                <a:ext cx="60231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d1</a:t>
                </a:r>
              </a:p>
            </p:txBody>
          </p:sp>
          <p:sp>
            <p:nvSpPr>
              <p:cNvPr id="40" name="Line 85"/>
              <p:cNvSpPr>
                <a:spLocks noChangeShapeType="1"/>
              </p:cNvSpPr>
              <p:nvPr/>
            </p:nvSpPr>
            <p:spPr bwMode="auto">
              <a:xfrm flipH="1">
                <a:off x="320551" y="4293865"/>
                <a:ext cx="1328685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1" name="Text Box 86"/>
              <p:cNvSpPr txBox="1">
                <a:spLocks noChangeArrowheads="1"/>
              </p:cNvSpPr>
              <p:nvPr/>
            </p:nvSpPr>
            <p:spPr bwMode="auto">
              <a:xfrm>
                <a:off x="128464" y="4046028"/>
                <a:ext cx="60094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d4</a:t>
                </a:r>
              </a:p>
            </p:txBody>
          </p:sp>
          <p:sp>
            <p:nvSpPr>
              <p:cNvPr id="42" name="Line 87"/>
              <p:cNvSpPr>
                <a:spLocks noChangeShapeType="1"/>
              </p:cNvSpPr>
              <p:nvPr/>
            </p:nvSpPr>
            <p:spPr bwMode="auto">
              <a:xfrm flipH="1">
                <a:off x="305562" y="4384287"/>
                <a:ext cx="1359967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3" name="Line 88"/>
              <p:cNvSpPr>
                <a:spLocks noChangeShapeType="1"/>
              </p:cNvSpPr>
              <p:nvPr/>
            </p:nvSpPr>
            <p:spPr bwMode="auto">
              <a:xfrm flipV="1">
                <a:off x="553572" y="4399134"/>
                <a:ext cx="0" cy="19299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4" name="Line 89"/>
              <p:cNvSpPr>
                <a:spLocks noChangeShapeType="1"/>
              </p:cNvSpPr>
              <p:nvPr/>
            </p:nvSpPr>
            <p:spPr bwMode="auto">
              <a:xfrm>
                <a:off x="553572" y="4071181"/>
                <a:ext cx="0" cy="22268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5" name="Line 90"/>
              <p:cNvSpPr>
                <a:spLocks noChangeShapeType="1"/>
              </p:cNvSpPr>
              <p:nvPr/>
            </p:nvSpPr>
            <p:spPr bwMode="auto">
              <a:xfrm flipH="1">
                <a:off x="1071529" y="4623652"/>
                <a:ext cx="1030195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6" name="Text Box 91"/>
              <p:cNvSpPr txBox="1">
                <a:spLocks noChangeArrowheads="1"/>
              </p:cNvSpPr>
              <p:nvPr/>
            </p:nvSpPr>
            <p:spPr bwMode="auto">
              <a:xfrm>
                <a:off x="2048444" y="4623652"/>
                <a:ext cx="600947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d3</a:t>
                </a:r>
              </a:p>
            </p:txBody>
          </p:sp>
          <p:sp>
            <p:nvSpPr>
              <p:cNvPr id="47" name="Line 92"/>
              <p:cNvSpPr>
                <a:spLocks noChangeShapeType="1"/>
              </p:cNvSpPr>
              <p:nvPr/>
            </p:nvSpPr>
            <p:spPr bwMode="auto">
              <a:xfrm flipH="1">
                <a:off x="1071529" y="4787818"/>
                <a:ext cx="102973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8" name="Line 93"/>
              <p:cNvSpPr>
                <a:spLocks noChangeShapeType="1"/>
              </p:cNvSpPr>
              <p:nvPr/>
            </p:nvSpPr>
            <p:spPr bwMode="auto">
              <a:xfrm flipV="1">
                <a:off x="1868828" y="4812111"/>
                <a:ext cx="0" cy="22268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9" name="Line 94"/>
              <p:cNvSpPr>
                <a:spLocks noChangeShapeType="1"/>
              </p:cNvSpPr>
              <p:nvPr/>
            </p:nvSpPr>
            <p:spPr bwMode="auto">
              <a:xfrm flipH="1">
                <a:off x="1868828" y="4386122"/>
                <a:ext cx="0" cy="23752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pic>
            <p:nvPicPr>
              <p:cNvPr id="30" name="Picture 96" descr="나사머리1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95" t="15083" r="23091" b="18156"/>
              <a:stretch>
                <a:fillRect/>
              </a:stretch>
            </p:blipFill>
            <p:spPr bwMode="auto">
              <a:xfrm>
                <a:off x="2528373" y="3663829"/>
                <a:ext cx="897168" cy="9598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Line 97"/>
              <p:cNvSpPr>
                <a:spLocks noChangeShapeType="1"/>
              </p:cNvSpPr>
              <p:nvPr/>
            </p:nvSpPr>
            <p:spPr bwMode="auto">
              <a:xfrm flipH="1">
                <a:off x="2785030" y="3820282"/>
                <a:ext cx="65580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3" name="Line 99"/>
              <p:cNvSpPr>
                <a:spLocks noChangeShapeType="1"/>
              </p:cNvSpPr>
              <p:nvPr/>
            </p:nvSpPr>
            <p:spPr bwMode="auto">
              <a:xfrm flipH="1" flipV="1">
                <a:off x="2780367" y="4505937"/>
                <a:ext cx="655802" cy="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4" name="Line 100"/>
              <p:cNvSpPr>
                <a:spLocks noChangeShapeType="1"/>
              </p:cNvSpPr>
              <p:nvPr/>
            </p:nvSpPr>
            <p:spPr bwMode="auto">
              <a:xfrm>
                <a:off x="3347217" y="3861089"/>
                <a:ext cx="0" cy="62885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2" name="Text Box 98"/>
              <p:cNvSpPr txBox="1">
                <a:spLocks noChangeArrowheads="1"/>
              </p:cNvSpPr>
              <p:nvPr/>
            </p:nvSpPr>
            <p:spPr bwMode="auto">
              <a:xfrm>
                <a:off x="3369239" y="3990379"/>
                <a:ext cx="43163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d2</a:t>
                </a:r>
              </a:p>
            </p:txBody>
          </p:sp>
        </p:grpSp>
        <p:pic>
          <p:nvPicPr>
            <p:cNvPr id="53" name="Picture 2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34"/>
            <a:stretch/>
          </p:blipFill>
          <p:spPr bwMode="auto">
            <a:xfrm>
              <a:off x="524150" y="4941168"/>
              <a:ext cx="1890135" cy="979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" name="직사각형 5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619879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58450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[28]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고정용 나사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(screw)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Hole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설계하지 않는 경우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나사가 고정되는 부위에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동박을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제거하였는가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제거 면적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은 나사 머리 크기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(d2)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고려하여 설계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(d1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d2)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고정용 나사 주변을 지나는 패턴은 적절한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확보하였는가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(d3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d4+1㎜, d4 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나사 조립 시 편차를 고려한 여유도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나사 풀림 방지를 위한 부수적인 조치를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본딩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태핑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나사 적용 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부식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진동에 의한 나사 풀림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" name="직사각형 4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272480" y="3575182"/>
            <a:ext cx="3348310" cy="2446106"/>
            <a:chOff x="344488" y="3501008"/>
            <a:chExt cx="3348310" cy="2446106"/>
          </a:xfrm>
        </p:grpSpPr>
        <p:grpSp>
          <p:nvGrpSpPr>
            <p:cNvPr id="8" name="그룹 7"/>
            <p:cNvGrpSpPr/>
            <p:nvPr/>
          </p:nvGrpSpPr>
          <p:grpSpPr>
            <a:xfrm>
              <a:off x="2756732" y="3501010"/>
              <a:ext cx="936066" cy="1380712"/>
              <a:chOff x="2763729" y="3450213"/>
              <a:chExt cx="997074" cy="1332742"/>
            </a:xfrm>
          </p:grpSpPr>
          <p:pic>
            <p:nvPicPr>
              <p:cNvPr id="10242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3729" y="3937874"/>
                <a:ext cx="997074" cy="845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Text Box 93"/>
              <p:cNvSpPr txBox="1">
                <a:spLocks noChangeArrowheads="1"/>
              </p:cNvSpPr>
              <p:nvPr/>
            </p:nvSpPr>
            <p:spPr bwMode="auto">
              <a:xfrm>
                <a:off x="2893621" y="3450213"/>
                <a:ext cx="690480" cy="269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717892" y="3501008"/>
              <a:ext cx="1570812" cy="2446106"/>
              <a:chOff x="645884" y="3647190"/>
              <a:chExt cx="1570812" cy="2446106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645884" y="5087516"/>
                <a:ext cx="1570812" cy="1005780"/>
                <a:chOff x="496034" y="3638006"/>
                <a:chExt cx="2656766" cy="1619607"/>
              </a:xfrm>
            </p:grpSpPr>
            <p:pic>
              <p:nvPicPr>
                <p:cNvPr id="52" name="Picture 80" descr="DSC00701_네지락1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6681"/>
                <a:stretch/>
              </p:blipFill>
              <p:spPr bwMode="auto">
                <a:xfrm>
                  <a:off x="496034" y="3638006"/>
                  <a:ext cx="2494567" cy="1619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3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2166491" y="4005064"/>
                  <a:ext cx="626270" cy="3964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d3</a:t>
                  </a:r>
                </a:p>
              </p:txBody>
            </p:sp>
            <p:sp>
              <p:nvSpPr>
                <p:cNvPr id="54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1823666" y="4034572"/>
                  <a:ext cx="1329134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5" name="Line 83"/>
                <p:cNvSpPr>
                  <a:spLocks noChangeShapeType="1"/>
                </p:cNvSpPr>
                <p:nvPr/>
              </p:nvSpPr>
              <p:spPr bwMode="auto">
                <a:xfrm flipV="1">
                  <a:off x="2118028" y="4057900"/>
                  <a:ext cx="0" cy="21600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6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823666" y="3919490"/>
                  <a:ext cx="1329134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7" name="Line 85"/>
                <p:cNvSpPr>
                  <a:spLocks noChangeShapeType="1"/>
                </p:cNvSpPr>
                <p:nvPr/>
              </p:nvSpPr>
              <p:spPr bwMode="auto">
                <a:xfrm>
                  <a:off x="2119530" y="3695111"/>
                  <a:ext cx="0" cy="21600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</p:grpSp>
          <p:grpSp>
            <p:nvGrpSpPr>
              <p:cNvPr id="7" name="그룹 6"/>
              <p:cNvGrpSpPr/>
              <p:nvPr/>
            </p:nvGrpSpPr>
            <p:grpSpPr>
              <a:xfrm>
                <a:off x="776535" y="3896482"/>
                <a:ext cx="1227287" cy="1116696"/>
                <a:chOff x="1064568" y="886633"/>
                <a:chExt cx="1872208" cy="1678271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064568" y="1268760"/>
                  <a:ext cx="1872208" cy="1296144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noFill/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1496616" y="1412776"/>
                  <a:ext cx="1008000" cy="100800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grpSp>
              <p:nvGrpSpPr>
                <p:cNvPr id="32" name="그룹 31"/>
                <p:cNvGrpSpPr/>
                <p:nvPr/>
              </p:nvGrpSpPr>
              <p:grpSpPr>
                <a:xfrm>
                  <a:off x="1629931" y="1538832"/>
                  <a:ext cx="756000" cy="756000"/>
                  <a:chOff x="5011447" y="4212559"/>
                  <a:chExt cx="756000" cy="756000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5011447" y="4212559"/>
                    <a:ext cx="756000" cy="75600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4" name="직사각형 33"/>
                  <p:cNvSpPr/>
                  <p:nvPr/>
                </p:nvSpPr>
                <p:spPr>
                  <a:xfrm>
                    <a:off x="5342810" y="4386874"/>
                    <a:ext cx="108000" cy="432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5" name="직사각형 34"/>
                  <p:cNvSpPr/>
                  <p:nvPr/>
                </p:nvSpPr>
                <p:spPr>
                  <a:xfrm flipH="1">
                    <a:off x="5177456" y="4538890"/>
                    <a:ext cx="432000" cy="10800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</p:grpSp>
            <p:cxnSp>
              <p:nvCxnSpPr>
                <p:cNvPr id="36" name="직선 연결선 35"/>
                <p:cNvCxnSpPr/>
                <p:nvPr/>
              </p:nvCxnSpPr>
              <p:spPr>
                <a:xfrm>
                  <a:off x="1496616" y="944896"/>
                  <a:ext cx="0" cy="154800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/>
                <p:cNvCxnSpPr/>
                <p:nvPr/>
              </p:nvCxnSpPr>
              <p:spPr>
                <a:xfrm>
                  <a:off x="2504728" y="944896"/>
                  <a:ext cx="0" cy="154800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>
                <a:xfrm>
                  <a:off x="1626002" y="1088896"/>
                  <a:ext cx="0" cy="140400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>
                <a:xfrm>
                  <a:off x="2375342" y="1088896"/>
                  <a:ext cx="0" cy="140400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>
                  <a:off x="1626002" y="1484784"/>
                  <a:ext cx="759929" cy="0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>
                <a:xfrm>
                  <a:off x="1489301" y="1158044"/>
                  <a:ext cx="1015316" cy="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1723652" y="886633"/>
                  <a:ext cx="647088" cy="3700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d1</a:t>
                  </a:r>
                </a:p>
              </p:txBody>
            </p:sp>
            <p:sp>
              <p:nvSpPr>
                <p:cNvPr id="43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1695898" y="1167984"/>
                  <a:ext cx="647025" cy="3700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ko-KR" sz="1000" b="0" dirty="0">
                      <a:solidFill>
                        <a:srgbClr val="FFFF00"/>
                      </a:solidFill>
                      <a:latin typeface="현대하모니 L"/>
                      <a:ea typeface="현대하모니 L"/>
                    </a:rPr>
                    <a:t>d2</a:t>
                  </a:r>
                </a:p>
              </p:txBody>
            </p:sp>
          </p:grpSp>
          <p:sp>
            <p:nvSpPr>
              <p:cNvPr id="47" name="Text Box 92"/>
              <p:cNvSpPr txBox="1">
                <a:spLocks noChangeArrowheads="1"/>
              </p:cNvSpPr>
              <p:nvPr/>
            </p:nvSpPr>
            <p:spPr bwMode="auto">
              <a:xfrm>
                <a:off x="1087838" y="3647190"/>
                <a:ext cx="643423" cy="27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&lt; OK &gt;</a:t>
                </a:r>
              </a:p>
            </p:txBody>
          </p:sp>
        </p:grpSp>
        <p:sp>
          <p:nvSpPr>
            <p:cNvPr id="51" name="Oval 86"/>
            <p:cNvSpPr>
              <a:spLocks noChangeArrowheads="1"/>
            </p:cNvSpPr>
            <p:nvPr/>
          </p:nvSpPr>
          <p:spPr bwMode="auto">
            <a:xfrm>
              <a:off x="993565" y="5129197"/>
              <a:ext cx="487992" cy="460044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78544" y="3974867"/>
              <a:ext cx="470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2)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4488" y="4910971"/>
              <a:ext cx="470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3) 4)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732" y="4948101"/>
              <a:ext cx="936066" cy="7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30961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3566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[29]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Solder Resist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영역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Solder Resist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여유구간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치수보다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50um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이상으로 설계되었는가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공정오차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±       um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Solder Resist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위에 중첩되지 않았는가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공정 오차가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50um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이상인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 Solder Resist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Clearance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오차 범위보다 크게 설계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필요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솔더링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불량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" name="직사각형 80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200472" y="2564906"/>
            <a:ext cx="3446215" cy="3485576"/>
            <a:chOff x="200472" y="2564906"/>
            <a:chExt cx="3446215" cy="3485576"/>
          </a:xfrm>
        </p:grpSpPr>
        <p:sp>
          <p:nvSpPr>
            <p:cNvPr id="23" name="Text Box 158"/>
            <p:cNvSpPr txBox="1">
              <a:spLocks noChangeArrowheads="1"/>
            </p:cNvSpPr>
            <p:nvPr/>
          </p:nvSpPr>
          <p:spPr bwMode="auto">
            <a:xfrm>
              <a:off x="917641" y="2581380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55" name="Picture 94" descr="pad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539" r="48872" b="7077"/>
            <a:stretch>
              <a:fillRect/>
            </a:stretch>
          </p:blipFill>
          <p:spPr bwMode="auto">
            <a:xfrm>
              <a:off x="554594" y="4754482"/>
              <a:ext cx="1223016" cy="129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87" descr="C:\Documents and Settings\HKMC\바탕 화면\FATC\새 폴더\555555.jpg"/>
            <p:cNvPicPr>
              <a:picLocks noChangeAspect="1" noChangeArrowheads="1"/>
            </p:cNvPicPr>
            <p:nvPr/>
          </p:nvPicPr>
          <p:blipFill>
            <a:blip r:embed="rId3" cstate="print">
              <a:lum contras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11" t="-3336" b="29951"/>
            <a:stretch>
              <a:fillRect/>
            </a:stretch>
          </p:blipFill>
          <p:spPr bwMode="auto">
            <a:xfrm>
              <a:off x="2186322" y="4725288"/>
              <a:ext cx="1376581" cy="129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Text Box 159"/>
            <p:cNvSpPr txBox="1">
              <a:spLocks noChangeArrowheads="1"/>
            </p:cNvSpPr>
            <p:nvPr/>
          </p:nvSpPr>
          <p:spPr bwMode="auto">
            <a:xfrm>
              <a:off x="2507308" y="2564906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00472" y="2771693"/>
              <a:ext cx="1779584" cy="1838996"/>
              <a:chOff x="200472" y="2771693"/>
              <a:chExt cx="1779584" cy="1838996"/>
            </a:xfrm>
          </p:grpSpPr>
          <p:sp>
            <p:nvSpPr>
              <p:cNvPr id="24" name="Rectangle 161"/>
              <p:cNvSpPr>
                <a:spLocks noChangeArrowheads="1"/>
              </p:cNvSpPr>
              <p:nvPr/>
            </p:nvSpPr>
            <p:spPr bwMode="auto">
              <a:xfrm>
                <a:off x="405404" y="2939878"/>
                <a:ext cx="1501999" cy="1670811"/>
              </a:xfrm>
              <a:prstGeom prst="rect">
                <a:avLst/>
              </a:prstGeom>
              <a:solidFill>
                <a:srgbClr val="00FFFF">
                  <a:alpha val="7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5" name="Rectangle 162"/>
              <p:cNvSpPr>
                <a:spLocks noChangeArrowheads="1"/>
              </p:cNvSpPr>
              <p:nvPr/>
            </p:nvSpPr>
            <p:spPr bwMode="auto">
              <a:xfrm>
                <a:off x="748963" y="2995122"/>
                <a:ext cx="682601" cy="667833"/>
              </a:xfrm>
              <a:prstGeom prst="rect">
                <a:avLst/>
              </a:prstGeom>
              <a:solidFill>
                <a:srgbClr val="FFFFFF"/>
              </a:solidFill>
              <a:ln w="1270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6" name="Line 163"/>
              <p:cNvSpPr>
                <a:spLocks noChangeShapeType="1"/>
              </p:cNvSpPr>
              <p:nvPr/>
            </p:nvSpPr>
            <p:spPr bwMode="auto">
              <a:xfrm>
                <a:off x="1362250" y="3581932"/>
                <a:ext cx="0" cy="27867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7" name="Line 164"/>
              <p:cNvSpPr>
                <a:spLocks noChangeShapeType="1"/>
              </p:cNvSpPr>
              <p:nvPr/>
            </p:nvSpPr>
            <p:spPr bwMode="auto">
              <a:xfrm>
                <a:off x="1431564" y="3581932"/>
                <a:ext cx="0" cy="27867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8" name="Line 165"/>
              <p:cNvSpPr>
                <a:spLocks noChangeShapeType="1"/>
              </p:cNvSpPr>
              <p:nvPr/>
            </p:nvSpPr>
            <p:spPr bwMode="auto">
              <a:xfrm>
                <a:off x="1133209" y="3804134"/>
                <a:ext cx="20493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9" name="Line 166"/>
              <p:cNvSpPr>
                <a:spLocks noChangeShapeType="1"/>
              </p:cNvSpPr>
              <p:nvPr/>
            </p:nvSpPr>
            <p:spPr bwMode="auto">
              <a:xfrm flipH="1">
                <a:off x="1431564" y="3804134"/>
                <a:ext cx="203424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0" name="Line 167"/>
              <p:cNvSpPr>
                <a:spLocks noChangeShapeType="1"/>
              </p:cNvSpPr>
              <p:nvPr/>
            </p:nvSpPr>
            <p:spPr bwMode="auto">
              <a:xfrm>
                <a:off x="1348687" y="3004944"/>
                <a:ext cx="41136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1" name="Line 168"/>
              <p:cNvSpPr>
                <a:spLocks noChangeShapeType="1"/>
              </p:cNvSpPr>
              <p:nvPr/>
            </p:nvSpPr>
            <p:spPr bwMode="auto">
              <a:xfrm>
                <a:off x="1348687" y="3061415"/>
                <a:ext cx="41136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2" name="Line 169"/>
              <p:cNvSpPr>
                <a:spLocks noChangeShapeType="1"/>
              </p:cNvSpPr>
              <p:nvPr/>
            </p:nvSpPr>
            <p:spPr bwMode="auto">
              <a:xfrm flipV="1">
                <a:off x="1634988" y="3061415"/>
                <a:ext cx="0" cy="22220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3" name="Line 170"/>
              <p:cNvSpPr>
                <a:spLocks noChangeShapeType="1"/>
              </p:cNvSpPr>
              <p:nvPr/>
            </p:nvSpPr>
            <p:spPr bwMode="auto">
              <a:xfrm>
                <a:off x="1634988" y="2771693"/>
                <a:ext cx="0" cy="22342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34" name="Text Box 171"/>
              <p:cNvSpPr txBox="1">
                <a:spLocks noChangeArrowheads="1"/>
              </p:cNvSpPr>
              <p:nvPr/>
            </p:nvSpPr>
            <p:spPr bwMode="auto">
              <a:xfrm>
                <a:off x="748963" y="3718199"/>
                <a:ext cx="479177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</a:t>
                </a:r>
              </a:p>
            </p:txBody>
          </p:sp>
          <p:sp>
            <p:nvSpPr>
              <p:cNvPr id="35" name="Text Box 172"/>
              <p:cNvSpPr txBox="1">
                <a:spLocks noChangeArrowheads="1"/>
              </p:cNvSpPr>
              <p:nvPr/>
            </p:nvSpPr>
            <p:spPr bwMode="auto">
              <a:xfrm>
                <a:off x="1362250" y="3287300"/>
                <a:ext cx="480684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</a:t>
                </a:r>
              </a:p>
            </p:txBody>
          </p:sp>
          <p:sp>
            <p:nvSpPr>
              <p:cNvPr id="36" name="Rectangle 173"/>
              <p:cNvSpPr>
                <a:spLocks noChangeArrowheads="1"/>
              </p:cNvSpPr>
              <p:nvPr/>
            </p:nvSpPr>
            <p:spPr bwMode="auto">
              <a:xfrm>
                <a:off x="818278" y="3049138"/>
                <a:ext cx="546984" cy="55734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grpSp>
            <p:nvGrpSpPr>
              <p:cNvPr id="37" name="Group 174"/>
              <p:cNvGrpSpPr>
                <a:grpSpLocks/>
              </p:cNvGrpSpPr>
              <p:nvPr/>
            </p:nvGrpSpPr>
            <p:grpSpPr bwMode="auto">
              <a:xfrm>
                <a:off x="611841" y="4052116"/>
                <a:ext cx="1093969" cy="502103"/>
                <a:chOff x="3256" y="3339"/>
                <a:chExt cx="771" cy="590"/>
              </a:xfrm>
            </p:grpSpPr>
            <p:sp>
              <p:nvSpPr>
                <p:cNvPr id="38" name="Rectangle 175"/>
                <p:cNvSpPr>
                  <a:spLocks noChangeArrowheads="1"/>
                </p:cNvSpPr>
                <p:nvPr/>
              </p:nvSpPr>
              <p:spPr bwMode="auto">
                <a:xfrm>
                  <a:off x="3256" y="3339"/>
                  <a:ext cx="771" cy="5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39" name="Rectangle 176"/>
                <p:cNvSpPr>
                  <a:spLocks noChangeArrowheads="1"/>
                </p:cNvSpPr>
                <p:nvPr/>
              </p:nvSpPr>
              <p:spPr bwMode="auto">
                <a:xfrm rot="-5400000">
                  <a:off x="3406" y="3594"/>
                  <a:ext cx="468" cy="8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0" name="Rectangle 177"/>
                <p:cNvSpPr>
                  <a:spLocks noChangeArrowheads="1"/>
                </p:cNvSpPr>
                <p:nvPr/>
              </p:nvSpPr>
              <p:spPr bwMode="auto">
                <a:xfrm rot="-5400000">
                  <a:off x="3548" y="3594"/>
                  <a:ext cx="468" cy="8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1" name="Rectangle 178"/>
                <p:cNvSpPr>
                  <a:spLocks noChangeArrowheads="1"/>
                </p:cNvSpPr>
                <p:nvPr/>
              </p:nvSpPr>
              <p:spPr bwMode="auto">
                <a:xfrm rot="-5400000">
                  <a:off x="3687" y="3599"/>
                  <a:ext cx="468" cy="8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2" name="Rectangle 179"/>
                <p:cNvSpPr>
                  <a:spLocks noChangeArrowheads="1"/>
                </p:cNvSpPr>
                <p:nvPr/>
              </p:nvSpPr>
              <p:spPr bwMode="auto">
                <a:xfrm rot="-5400000">
                  <a:off x="3127" y="3599"/>
                  <a:ext cx="468" cy="8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43" name="Rectangle 180"/>
                <p:cNvSpPr>
                  <a:spLocks noChangeArrowheads="1"/>
                </p:cNvSpPr>
                <p:nvPr/>
              </p:nvSpPr>
              <p:spPr bwMode="auto">
                <a:xfrm rot="-5400000">
                  <a:off x="3269" y="3599"/>
                  <a:ext cx="468" cy="85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  <p:sp>
            <p:nvSpPr>
              <p:cNvPr id="44" name="Line 181"/>
              <p:cNvSpPr>
                <a:spLocks noChangeShapeType="1"/>
              </p:cNvSpPr>
              <p:nvPr/>
            </p:nvSpPr>
            <p:spPr bwMode="auto">
              <a:xfrm>
                <a:off x="613347" y="4330789"/>
                <a:ext cx="0" cy="27867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5" name="Line 182"/>
              <p:cNvSpPr>
                <a:spLocks noChangeShapeType="1"/>
              </p:cNvSpPr>
              <p:nvPr/>
            </p:nvSpPr>
            <p:spPr bwMode="auto">
              <a:xfrm>
                <a:off x="681156" y="4330789"/>
                <a:ext cx="0" cy="27867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6" name="Line 183"/>
              <p:cNvSpPr>
                <a:spLocks noChangeShapeType="1"/>
              </p:cNvSpPr>
              <p:nvPr/>
            </p:nvSpPr>
            <p:spPr bwMode="auto">
              <a:xfrm>
                <a:off x="384307" y="4552991"/>
                <a:ext cx="20493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7" name="Line 184"/>
              <p:cNvSpPr>
                <a:spLocks noChangeShapeType="1"/>
              </p:cNvSpPr>
              <p:nvPr/>
            </p:nvSpPr>
            <p:spPr bwMode="auto">
              <a:xfrm flipH="1">
                <a:off x="681156" y="4552991"/>
                <a:ext cx="204931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8" name="Line 185"/>
              <p:cNvSpPr>
                <a:spLocks noChangeShapeType="1"/>
              </p:cNvSpPr>
              <p:nvPr/>
            </p:nvSpPr>
            <p:spPr bwMode="auto">
              <a:xfrm>
                <a:off x="1431564" y="4033701"/>
                <a:ext cx="41136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49" name="Line 186"/>
              <p:cNvSpPr>
                <a:spLocks noChangeShapeType="1"/>
              </p:cNvSpPr>
              <p:nvPr/>
            </p:nvSpPr>
            <p:spPr bwMode="auto">
              <a:xfrm>
                <a:off x="1431564" y="4090173"/>
                <a:ext cx="41136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0" name="Line 187"/>
              <p:cNvSpPr>
                <a:spLocks noChangeShapeType="1"/>
              </p:cNvSpPr>
              <p:nvPr/>
            </p:nvSpPr>
            <p:spPr bwMode="auto">
              <a:xfrm flipV="1">
                <a:off x="1716357" y="4090173"/>
                <a:ext cx="0" cy="22220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>
                <a:off x="1705810" y="3800451"/>
                <a:ext cx="0" cy="22342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2" name="Text Box 189"/>
              <p:cNvSpPr txBox="1">
                <a:spLocks noChangeArrowheads="1"/>
              </p:cNvSpPr>
              <p:nvPr/>
            </p:nvSpPr>
            <p:spPr bwMode="auto">
              <a:xfrm>
                <a:off x="200472" y="4220302"/>
                <a:ext cx="479177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</a:t>
                </a:r>
              </a:p>
            </p:txBody>
          </p:sp>
          <p:sp>
            <p:nvSpPr>
              <p:cNvPr id="53" name="Text Box 190"/>
              <p:cNvSpPr txBox="1">
                <a:spLocks noChangeArrowheads="1"/>
              </p:cNvSpPr>
              <p:nvPr/>
            </p:nvSpPr>
            <p:spPr bwMode="auto">
              <a:xfrm>
                <a:off x="1499372" y="4316057"/>
                <a:ext cx="480684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en-US" altLang="ko-KR" sz="1000" b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</a:t>
                </a:r>
              </a:p>
            </p:txBody>
          </p:sp>
          <p:sp>
            <p:nvSpPr>
              <p:cNvPr id="54" name="Text Box 191"/>
              <p:cNvSpPr txBox="1">
                <a:spLocks noChangeArrowheads="1"/>
              </p:cNvSpPr>
              <p:nvPr/>
            </p:nvSpPr>
            <p:spPr bwMode="auto">
              <a:xfrm>
                <a:off x="761018" y="3256609"/>
                <a:ext cx="614792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ko-KR" altLang="en-US" sz="1000" b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랜드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327628" y="3060578"/>
                <a:ext cx="3048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 err="1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15" name="그룹 14"/>
            <p:cNvGrpSpPr/>
            <p:nvPr/>
          </p:nvGrpSpPr>
          <p:grpSpPr>
            <a:xfrm>
              <a:off x="2144688" y="2930636"/>
              <a:ext cx="1501999" cy="1670811"/>
              <a:chOff x="2144688" y="2930636"/>
              <a:chExt cx="1501999" cy="1670811"/>
            </a:xfrm>
          </p:grpSpPr>
          <p:sp>
            <p:nvSpPr>
              <p:cNvPr id="56" name="Rectangle 161"/>
              <p:cNvSpPr>
                <a:spLocks noChangeArrowheads="1"/>
              </p:cNvSpPr>
              <p:nvPr/>
            </p:nvSpPr>
            <p:spPr bwMode="auto">
              <a:xfrm>
                <a:off x="2144688" y="2930636"/>
                <a:ext cx="1501999" cy="1670811"/>
              </a:xfrm>
              <a:prstGeom prst="rect">
                <a:avLst/>
              </a:prstGeom>
              <a:solidFill>
                <a:srgbClr val="00FFFF">
                  <a:alpha val="7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60" name="Rectangle 193"/>
              <p:cNvSpPr>
                <a:spLocks noChangeArrowheads="1"/>
              </p:cNvSpPr>
              <p:nvPr/>
            </p:nvSpPr>
            <p:spPr bwMode="auto">
              <a:xfrm>
                <a:off x="2610016" y="3115491"/>
                <a:ext cx="614792" cy="601541"/>
              </a:xfrm>
              <a:prstGeom prst="rect">
                <a:avLst/>
              </a:prstGeom>
              <a:solidFill>
                <a:srgbClr val="FFFFFF"/>
              </a:solidFill>
              <a:ln w="12700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61" name="Rectangle 194"/>
              <p:cNvSpPr>
                <a:spLocks noChangeArrowheads="1"/>
              </p:cNvSpPr>
              <p:nvPr/>
            </p:nvSpPr>
            <p:spPr bwMode="auto">
              <a:xfrm>
                <a:off x="2684816" y="3054330"/>
                <a:ext cx="612000" cy="60890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pPr algn="ctr" defTabSz="958850" fontAlgn="ctr">
                  <a:spcBef>
                    <a:spcPct val="50000"/>
                  </a:spcBef>
                </a:pPr>
                <a:endParaRPr lang="ko-KR" altLang="ko-KR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62" name="Rectangle 195"/>
              <p:cNvSpPr>
                <a:spLocks noChangeArrowheads="1"/>
              </p:cNvSpPr>
              <p:nvPr/>
            </p:nvSpPr>
            <p:spPr bwMode="auto">
              <a:xfrm>
                <a:off x="2684816" y="3050366"/>
                <a:ext cx="612000" cy="56471"/>
              </a:xfrm>
              <a:prstGeom prst="rect">
                <a:avLst/>
              </a:prstGeom>
              <a:solidFill>
                <a:srgbClr val="33CCCC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63" name="Rectangle 196"/>
              <p:cNvSpPr>
                <a:spLocks noChangeArrowheads="1"/>
              </p:cNvSpPr>
              <p:nvPr/>
            </p:nvSpPr>
            <p:spPr bwMode="auto">
              <a:xfrm>
                <a:off x="3227501" y="3106838"/>
                <a:ext cx="69315" cy="556119"/>
              </a:xfrm>
              <a:prstGeom prst="rect">
                <a:avLst/>
              </a:prstGeom>
              <a:solidFill>
                <a:srgbClr val="33CCCC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9" name="Text Box 192"/>
              <p:cNvSpPr txBox="1">
                <a:spLocks noChangeArrowheads="1"/>
              </p:cNvSpPr>
              <p:nvPr/>
            </p:nvSpPr>
            <p:spPr bwMode="auto">
              <a:xfrm>
                <a:off x="2682024" y="3217325"/>
                <a:ext cx="614792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>
                <a:spAutoFit/>
              </a:bodyPr>
              <a:lstStyle>
                <a:lvl1pPr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defTabSz="9588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defTabSz="9588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fontAlgn="ctr" hangingPunct="1">
                  <a:spcBef>
                    <a:spcPct val="50000"/>
                  </a:spcBef>
                </a:pPr>
                <a:r>
                  <a:rPr lang="ko-KR" altLang="en-US" sz="1000" b="0" dirty="0" err="1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랜드</a:t>
                </a:r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2" name="L 도형 11"/>
              <p:cNvSpPr/>
              <p:nvPr/>
            </p:nvSpPr>
            <p:spPr>
              <a:xfrm rot="10800000">
                <a:off x="2670825" y="2954203"/>
                <a:ext cx="633305" cy="709033"/>
              </a:xfrm>
              <a:prstGeom prst="corner">
                <a:avLst>
                  <a:gd name="adj1" fmla="val 31514"/>
                  <a:gd name="adj2" fmla="val 24849"/>
                </a:avLst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288704" y="3038763"/>
                <a:ext cx="3048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2)</a:t>
                </a:r>
                <a:endParaRPr lang="ko-KR" altLang="en-US" sz="1000" b="0" dirty="0" err="1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</p:grp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047" y="3513871"/>
            <a:ext cx="2406480" cy="93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83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581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PTH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082436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[30]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PTH(Via) Land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PSR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Ink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PTH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로 유입되는 것을 방지하기 위해 모든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Hole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Land(Pad)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  ( PTH : Plated Through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Hole,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내벽에 화학 또는 전기도금 등을 통해 전기가 흐를 수 있도록 하는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Hole 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Via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설계 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Land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겹쳐지면서 뾰족한 부분이 발생하지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strike="sngStrike" baseline="0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Via Edge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박리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88010" y="2852936"/>
            <a:ext cx="2814675" cy="3078742"/>
            <a:chOff x="588010" y="2852936"/>
            <a:chExt cx="2814675" cy="3078742"/>
          </a:xfrm>
        </p:grpSpPr>
        <p:sp>
          <p:nvSpPr>
            <p:cNvPr id="78" name="Text Box 92"/>
            <p:cNvSpPr txBox="1">
              <a:spLocks noChangeArrowheads="1"/>
            </p:cNvSpPr>
            <p:nvPr/>
          </p:nvSpPr>
          <p:spPr bwMode="auto">
            <a:xfrm>
              <a:off x="886592" y="2852936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611687" y="3139284"/>
              <a:ext cx="1061252" cy="884692"/>
              <a:chOff x="488504" y="4365104"/>
              <a:chExt cx="1034928" cy="864000"/>
            </a:xfrm>
          </p:grpSpPr>
          <p:pic>
            <p:nvPicPr>
              <p:cNvPr id="80" name="Picture 97" descr="33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lum bright="-6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11" t="22710" r="27485" b="23669"/>
              <a:stretch/>
            </p:blipFill>
            <p:spPr bwMode="auto">
              <a:xfrm>
                <a:off x="488504" y="4365104"/>
                <a:ext cx="1034928" cy="86400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1" name="Oval 98"/>
              <p:cNvSpPr>
                <a:spLocks noChangeArrowheads="1"/>
              </p:cNvSpPr>
              <p:nvPr/>
            </p:nvSpPr>
            <p:spPr bwMode="auto">
              <a:xfrm>
                <a:off x="739961" y="4559183"/>
                <a:ext cx="490132" cy="49397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AEAEA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sz="12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83" name="Text Box 93"/>
            <p:cNvSpPr txBox="1">
              <a:spLocks noChangeArrowheads="1"/>
            </p:cNvSpPr>
            <p:nvPr/>
          </p:nvSpPr>
          <p:spPr bwMode="auto">
            <a:xfrm>
              <a:off x="2539297" y="2853418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pic>
          <p:nvPicPr>
            <p:cNvPr id="33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57" r="7287"/>
            <a:stretch/>
          </p:blipFill>
          <p:spPr bwMode="auto">
            <a:xfrm>
              <a:off x="2383840" y="3147866"/>
              <a:ext cx="994924" cy="884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52" descr="세원_SA_ICM_동박노출1_신덕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5"/>
            <a:stretch/>
          </p:blipFill>
          <p:spPr bwMode="auto">
            <a:xfrm>
              <a:off x="2360712" y="4106389"/>
              <a:ext cx="1033754" cy="847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타원 7"/>
            <p:cNvSpPr/>
            <p:nvPr/>
          </p:nvSpPr>
          <p:spPr>
            <a:xfrm>
              <a:off x="2745533" y="4405628"/>
              <a:ext cx="516877" cy="346234"/>
            </a:xfrm>
            <a:prstGeom prst="ellipse">
              <a:avLst/>
            </a:prstGeom>
            <a:ln w="1905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  <p:grpSp>
          <p:nvGrpSpPr>
            <p:cNvPr id="43" name="Group 70"/>
            <p:cNvGrpSpPr>
              <a:grpSpLocks/>
            </p:cNvGrpSpPr>
            <p:nvPr/>
          </p:nvGrpSpPr>
          <p:grpSpPr bwMode="auto">
            <a:xfrm>
              <a:off x="588010" y="5102696"/>
              <a:ext cx="1131270" cy="773273"/>
              <a:chOff x="4331" y="2659"/>
              <a:chExt cx="862" cy="635"/>
            </a:xfrm>
          </p:grpSpPr>
          <p:sp>
            <p:nvSpPr>
              <p:cNvPr id="45" name="Rectangle 72"/>
              <p:cNvSpPr>
                <a:spLocks noChangeArrowheads="1"/>
              </p:cNvSpPr>
              <p:nvPr/>
            </p:nvSpPr>
            <p:spPr bwMode="auto">
              <a:xfrm>
                <a:off x="4331" y="2659"/>
                <a:ext cx="862" cy="635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46" name="AutoShape 73"/>
              <p:cNvSpPr>
                <a:spLocks noChangeArrowheads="1"/>
              </p:cNvSpPr>
              <p:nvPr/>
            </p:nvSpPr>
            <p:spPr bwMode="auto">
              <a:xfrm>
                <a:off x="4468" y="2840"/>
                <a:ext cx="590" cy="318"/>
              </a:xfrm>
              <a:prstGeom prst="roundRect">
                <a:avLst>
                  <a:gd name="adj" fmla="val 5000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47" name="Oval 74"/>
              <p:cNvSpPr>
                <a:spLocks noChangeAspect="1" noChangeArrowheads="1"/>
              </p:cNvSpPr>
              <p:nvPr/>
            </p:nvSpPr>
            <p:spPr bwMode="auto">
              <a:xfrm>
                <a:off x="4530" y="2896"/>
                <a:ext cx="204" cy="2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48" name="Oval 75"/>
              <p:cNvSpPr>
                <a:spLocks noChangeAspect="1" noChangeArrowheads="1"/>
              </p:cNvSpPr>
              <p:nvPr/>
            </p:nvSpPr>
            <p:spPr bwMode="auto">
              <a:xfrm>
                <a:off x="4803" y="2892"/>
                <a:ext cx="204" cy="20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51" name="Text Box 131"/>
            <p:cNvSpPr txBox="1">
              <a:spLocks noChangeArrowheads="1"/>
            </p:cNvSpPr>
            <p:nvPr/>
          </p:nvSpPr>
          <p:spPr bwMode="auto">
            <a:xfrm>
              <a:off x="934501" y="5064911"/>
              <a:ext cx="489421" cy="215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Land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1164898" y="5234283"/>
              <a:ext cx="0" cy="184311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46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4" t="19255" r="8199" b="8365"/>
            <a:stretch/>
          </p:blipFill>
          <p:spPr bwMode="auto">
            <a:xfrm>
              <a:off x="2340001" y="5046986"/>
              <a:ext cx="1062684" cy="884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" name="직선 화살표 연결선 15"/>
            <p:cNvCxnSpPr/>
            <p:nvPr/>
          </p:nvCxnSpPr>
          <p:spPr>
            <a:xfrm flipV="1">
              <a:off x="2215564" y="5234283"/>
              <a:ext cx="221519" cy="15215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/>
            <p:nvPr/>
          </p:nvCxnSpPr>
          <p:spPr>
            <a:xfrm flipV="1">
              <a:off x="2407078" y="5510112"/>
              <a:ext cx="221519" cy="15215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/>
            <p:nvPr/>
          </p:nvCxnSpPr>
          <p:spPr>
            <a:xfrm flipV="1">
              <a:off x="2806280" y="5507306"/>
              <a:ext cx="221519" cy="15215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/>
            <p:cNvCxnSpPr/>
            <p:nvPr/>
          </p:nvCxnSpPr>
          <p:spPr>
            <a:xfrm flipH="1">
              <a:off x="2585858" y="5006061"/>
              <a:ext cx="212921" cy="18390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/>
            <p:nvPr/>
          </p:nvCxnSpPr>
          <p:spPr>
            <a:xfrm>
              <a:off x="2983714" y="4203486"/>
              <a:ext cx="19720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87" y="4228203"/>
              <a:ext cx="1061252" cy="712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타원 8"/>
            <p:cNvSpPr/>
            <p:nvPr/>
          </p:nvSpPr>
          <p:spPr>
            <a:xfrm>
              <a:off x="776536" y="4669750"/>
              <a:ext cx="697119" cy="346234"/>
            </a:xfrm>
            <a:prstGeom prst="ellipse">
              <a:avLst/>
            </a:prstGeom>
            <a:ln w="19050">
              <a:solidFill>
                <a:srgbClr val="0000FF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075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581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PTH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06759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PTH (Via)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Hole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내벽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동도금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두께는 권장 기준을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(PQR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기준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25㎛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Open Via (No PSR Tenting)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Filled and Covered Via (IPC-4761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기준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Type 6b)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적용하였는가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한쪽면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또는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양쪽면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Tenting (IPC-4761 Plugged Via, Type 3, 4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형태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등 은 허용 하지 않음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Filled via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적용시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내열성과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CTE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고려하여 전용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resin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을 적용하였는가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- PSR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잉크를 이용한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Filled via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권장하지 않음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도금 두께 기준은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ES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및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PQR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등재 항목으로 별도의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Spec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인정하지 않음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Hole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크기가 다를 경우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Size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별로 각각 작성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동 도금 두께 기준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:  min.        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㎛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적용된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PTH(Via) hole Size :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- PTH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내부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Section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자료 첨부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PTH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내벽 산화에 의한 부식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259159" y="3329987"/>
            <a:ext cx="3469705" cy="2835317"/>
            <a:chOff x="259159" y="3329987"/>
            <a:chExt cx="3469705" cy="2835317"/>
          </a:xfrm>
        </p:grpSpPr>
        <p:grpSp>
          <p:nvGrpSpPr>
            <p:cNvPr id="13" name="그룹 12"/>
            <p:cNvGrpSpPr/>
            <p:nvPr/>
          </p:nvGrpSpPr>
          <p:grpSpPr>
            <a:xfrm>
              <a:off x="259159" y="3329987"/>
              <a:ext cx="2821633" cy="2835317"/>
              <a:chOff x="488504" y="2564904"/>
              <a:chExt cx="3335292" cy="3587746"/>
            </a:xfrm>
          </p:grpSpPr>
          <p:grpSp>
            <p:nvGrpSpPr>
              <p:cNvPr id="10" name="그룹 9"/>
              <p:cNvGrpSpPr/>
              <p:nvPr/>
            </p:nvGrpSpPr>
            <p:grpSpPr>
              <a:xfrm>
                <a:off x="488504" y="4581128"/>
                <a:ext cx="3273083" cy="1571522"/>
                <a:chOff x="488504" y="4581128"/>
                <a:chExt cx="3273083" cy="1571522"/>
              </a:xfrm>
            </p:grpSpPr>
            <p:grpSp>
              <p:nvGrpSpPr>
                <p:cNvPr id="9" name="그룹 8"/>
                <p:cNvGrpSpPr/>
                <p:nvPr/>
              </p:nvGrpSpPr>
              <p:grpSpPr>
                <a:xfrm>
                  <a:off x="848568" y="4869160"/>
                  <a:ext cx="2520256" cy="1008112"/>
                  <a:chOff x="6969224" y="4293096"/>
                  <a:chExt cx="2520256" cy="1008112"/>
                </a:xfrm>
              </p:grpSpPr>
              <p:sp>
                <p:nvSpPr>
                  <p:cNvPr id="72" name="직사각형 71"/>
                  <p:cNvSpPr/>
                  <p:nvPr/>
                </p:nvSpPr>
                <p:spPr>
                  <a:xfrm>
                    <a:off x="6980193" y="4293096"/>
                    <a:ext cx="1584000" cy="1008000"/>
                  </a:xfrm>
                  <a:prstGeom prst="rect">
                    <a:avLst/>
                  </a:prstGeom>
                  <a:solidFill>
                    <a:srgbClr val="00B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3" name="직사각형 72"/>
                  <p:cNvSpPr/>
                  <p:nvPr/>
                </p:nvSpPr>
                <p:spPr>
                  <a:xfrm>
                    <a:off x="7113264" y="4348326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4" name="직사각형 73"/>
                  <p:cNvSpPr/>
                  <p:nvPr/>
                </p:nvSpPr>
                <p:spPr>
                  <a:xfrm>
                    <a:off x="6969224" y="4403644"/>
                    <a:ext cx="288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5" name="직사각형 74"/>
                  <p:cNvSpPr/>
                  <p:nvPr/>
                </p:nvSpPr>
                <p:spPr>
                  <a:xfrm>
                    <a:off x="7329264" y="4601463"/>
                    <a:ext cx="216000" cy="360000"/>
                  </a:xfrm>
                  <a:prstGeom prst="rect">
                    <a:avLst/>
                  </a:prstGeom>
                  <a:solidFill>
                    <a:schemeClr val="bg1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6" name="직사각형 75"/>
                  <p:cNvSpPr/>
                  <p:nvPr/>
                </p:nvSpPr>
                <p:spPr>
                  <a:xfrm>
                    <a:off x="7545312" y="4348326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7" name="직사각형 76"/>
                  <p:cNvSpPr/>
                  <p:nvPr/>
                </p:nvSpPr>
                <p:spPr>
                  <a:xfrm>
                    <a:off x="7617296" y="4403644"/>
                    <a:ext cx="756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9" name="직사각형 78"/>
                  <p:cNvSpPr/>
                  <p:nvPr/>
                </p:nvSpPr>
                <p:spPr>
                  <a:xfrm>
                    <a:off x="9057432" y="4293096"/>
                    <a:ext cx="432000" cy="1008000"/>
                  </a:xfrm>
                  <a:prstGeom prst="rect">
                    <a:avLst/>
                  </a:prstGeom>
                  <a:solidFill>
                    <a:srgbClr val="00B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7" name="직사각형 86"/>
                  <p:cNvSpPr/>
                  <p:nvPr/>
                </p:nvSpPr>
                <p:spPr>
                  <a:xfrm>
                    <a:off x="8409384" y="4977208"/>
                    <a:ext cx="792000" cy="324000"/>
                  </a:xfrm>
                  <a:prstGeom prst="rect">
                    <a:avLst/>
                  </a:prstGeom>
                  <a:solidFill>
                    <a:srgbClr val="00B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1" name="직사각형 80"/>
                  <p:cNvSpPr/>
                  <p:nvPr/>
                </p:nvSpPr>
                <p:spPr>
                  <a:xfrm>
                    <a:off x="8481416" y="4348326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2" name="직사각형 81"/>
                  <p:cNvSpPr/>
                  <p:nvPr/>
                </p:nvSpPr>
                <p:spPr>
                  <a:xfrm>
                    <a:off x="8337376" y="4403644"/>
                    <a:ext cx="288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5" name="직사각형 84"/>
                  <p:cNvSpPr/>
                  <p:nvPr/>
                </p:nvSpPr>
                <p:spPr>
                  <a:xfrm>
                    <a:off x="8913496" y="4348326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6" name="직사각형 85"/>
                  <p:cNvSpPr/>
                  <p:nvPr/>
                </p:nvSpPr>
                <p:spPr>
                  <a:xfrm>
                    <a:off x="8985480" y="4403644"/>
                    <a:ext cx="504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" name="타원 7"/>
                  <p:cNvSpPr/>
                  <p:nvPr/>
                </p:nvSpPr>
                <p:spPr>
                  <a:xfrm>
                    <a:off x="7329264" y="4869168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8" name="타원 87"/>
                  <p:cNvSpPr/>
                  <p:nvPr/>
                </p:nvSpPr>
                <p:spPr>
                  <a:xfrm>
                    <a:off x="7329264" y="4797152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89" name="타원 88"/>
                  <p:cNvSpPr/>
                  <p:nvPr/>
                </p:nvSpPr>
                <p:spPr>
                  <a:xfrm>
                    <a:off x="7401280" y="4852390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90" name="타원 89"/>
                  <p:cNvSpPr/>
                  <p:nvPr/>
                </p:nvSpPr>
                <p:spPr>
                  <a:xfrm>
                    <a:off x="8714194" y="4864272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91" name="타원 90"/>
                  <p:cNvSpPr/>
                  <p:nvPr/>
                </p:nvSpPr>
                <p:spPr>
                  <a:xfrm>
                    <a:off x="8714194" y="4792256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92" name="타원 91"/>
                  <p:cNvSpPr/>
                  <p:nvPr/>
                </p:nvSpPr>
                <p:spPr>
                  <a:xfrm>
                    <a:off x="8786210" y="4847494"/>
                    <a:ext cx="72000" cy="72000"/>
                  </a:xfrm>
                  <a:prstGeom prst="ellipse">
                    <a:avLst/>
                  </a:prstGeom>
                  <a:solidFill>
                    <a:srgbClr val="7030A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</p:grpSp>
            <p:sp>
              <p:nvSpPr>
                <p:cNvPr id="94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1676594" y="4581128"/>
                  <a:ext cx="766238" cy="353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ko-KR" sz="1200" b="0" dirty="0">
                      <a:solidFill>
                        <a:srgbClr val="FF0000"/>
                      </a:solidFill>
                      <a:latin typeface="현대하모니 L"/>
                      <a:ea typeface="현대하모니 L"/>
                    </a:rPr>
                    <a:t>&lt; NG &gt;</a:t>
                  </a:r>
                </a:p>
              </p:txBody>
            </p:sp>
            <p:sp>
              <p:nvSpPr>
                <p:cNvPr id="95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488504" y="5877272"/>
                  <a:ext cx="3273083" cy="2753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Tenting 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은 허용하지 않음</a:t>
                  </a:r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. </a:t>
                  </a:r>
                  <a:r>
                    <a:rPr lang="ko-KR" altLang="en-US" sz="800" b="0" dirty="0" err="1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잔존액에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 의한 </a:t>
                  </a:r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Hole 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내벽 부식 발생</a:t>
                  </a:r>
                </a:p>
              </p:txBody>
            </p:sp>
          </p:grpSp>
          <p:grpSp>
            <p:nvGrpSpPr>
              <p:cNvPr id="11" name="그룹 10"/>
              <p:cNvGrpSpPr/>
              <p:nvPr/>
            </p:nvGrpSpPr>
            <p:grpSpPr>
              <a:xfrm>
                <a:off x="488504" y="2564904"/>
                <a:ext cx="3335292" cy="1727302"/>
                <a:chOff x="488504" y="2564904"/>
                <a:chExt cx="3335292" cy="1727302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856125" y="2852936"/>
                  <a:ext cx="2512699" cy="1008000"/>
                  <a:chOff x="6976781" y="2924944"/>
                  <a:chExt cx="2512699" cy="1008000"/>
                </a:xfrm>
              </p:grpSpPr>
              <p:sp>
                <p:nvSpPr>
                  <p:cNvPr id="45" name="직사각형 44"/>
                  <p:cNvSpPr/>
                  <p:nvPr/>
                </p:nvSpPr>
                <p:spPr>
                  <a:xfrm>
                    <a:off x="6980193" y="2924944"/>
                    <a:ext cx="1584000" cy="1008000"/>
                  </a:xfrm>
                  <a:prstGeom prst="rect">
                    <a:avLst/>
                  </a:prstGeom>
                  <a:solidFill>
                    <a:srgbClr val="00B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" name="직사각형 3"/>
                  <p:cNvSpPr/>
                  <p:nvPr/>
                </p:nvSpPr>
                <p:spPr>
                  <a:xfrm>
                    <a:off x="7113264" y="2980174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4" name="직사각형 43"/>
                  <p:cNvSpPr/>
                  <p:nvPr/>
                </p:nvSpPr>
                <p:spPr>
                  <a:xfrm>
                    <a:off x="6976781" y="3035492"/>
                    <a:ext cx="288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51" name="직사각형 50"/>
                  <p:cNvSpPr/>
                  <p:nvPr/>
                </p:nvSpPr>
                <p:spPr>
                  <a:xfrm>
                    <a:off x="7329264" y="2980174"/>
                    <a:ext cx="288000" cy="900000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6" name="직사각형 45"/>
                  <p:cNvSpPr/>
                  <p:nvPr/>
                </p:nvSpPr>
                <p:spPr>
                  <a:xfrm>
                    <a:off x="7545312" y="2980174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9" name="직사각형 48"/>
                  <p:cNvSpPr/>
                  <p:nvPr/>
                </p:nvSpPr>
                <p:spPr>
                  <a:xfrm>
                    <a:off x="7617296" y="3035492"/>
                    <a:ext cx="756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68" name="직사각형 67"/>
                  <p:cNvSpPr/>
                  <p:nvPr/>
                </p:nvSpPr>
                <p:spPr>
                  <a:xfrm>
                    <a:off x="9015652" y="2924944"/>
                    <a:ext cx="468000" cy="1008000"/>
                  </a:xfrm>
                  <a:prstGeom prst="rect">
                    <a:avLst/>
                  </a:prstGeom>
                  <a:solidFill>
                    <a:srgbClr val="00B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69" name="직사각형 68"/>
                  <p:cNvSpPr/>
                  <p:nvPr/>
                </p:nvSpPr>
                <p:spPr>
                  <a:xfrm>
                    <a:off x="8560957" y="2941722"/>
                    <a:ext cx="180000" cy="9720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52" name="직사각형 51"/>
                  <p:cNvSpPr/>
                  <p:nvPr/>
                </p:nvSpPr>
                <p:spPr>
                  <a:xfrm>
                    <a:off x="8481416" y="2980174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65" name="직사각형 64"/>
                  <p:cNvSpPr/>
                  <p:nvPr/>
                </p:nvSpPr>
                <p:spPr>
                  <a:xfrm>
                    <a:off x="8337376" y="3035492"/>
                    <a:ext cx="288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70" name="직사각형 69"/>
                  <p:cNvSpPr/>
                  <p:nvPr/>
                </p:nvSpPr>
                <p:spPr>
                  <a:xfrm>
                    <a:off x="8871527" y="2944278"/>
                    <a:ext cx="144000" cy="97200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66" name="직사각형 65"/>
                  <p:cNvSpPr/>
                  <p:nvPr/>
                </p:nvSpPr>
                <p:spPr>
                  <a:xfrm>
                    <a:off x="8913496" y="2980174"/>
                    <a:ext cx="21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67" name="직사각형 66"/>
                  <p:cNvSpPr/>
                  <p:nvPr/>
                </p:nvSpPr>
                <p:spPr>
                  <a:xfrm>
                    <a:off x="8985480" y="3035492"/>
                    <a:ext cx="504000" cy="792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</p:grpSp>
            <p:sp>
              <p:nvSpPr>
                <p:cNvPr id="93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686650" y="2564904"/>
                  <a:ext cx="760554" cy="3532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ko-KR" sz="12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&lt; OK &gt;</a:t>
                  </a:r>
                </a:p>
              </p:txBody>
            </p:sp>
            <p:sp>
              <p:nvSpPr>
                <p:cNvPr id="96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488504" y="3861048"/>
                  <a:ext cx="2009240" cy="4311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홀 </a:t>
                  </a:r>
                  <a:r>
                    <a:rPr lang="ko-KR" altLang="en-US" sz="800" b="0" dirty="0" err="1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충진용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 </a:t>
                  </a:r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Resin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을 적용한</a:t>
                  </a:r>
                  <a:endParaRPr lang="en-US" altLang="ko-KR" sz="800" b="0" dirty="0">
                    <a:solidFill>
                      <a:srgbClr val="000000"/>
                    </a:solidFill>
                    <a:latin typeface="현대하모니 L"/>
                    <a:ea typeface="현대하모니 L"/>
                  </a:endParaRPr>
                </a:p>
                <a:p>
                  <a:pPr eaLnBrk="1" hangingPunct="1"/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Filled and Covered Via (Type 6b)</a:t>
                  </a:r>
                  <a:endParaRPr lang="ko-KR" altLang="en-US" sz="800" b="0" dirty="0">
                    <a:solidFill>
                      <a:srgbClr val="000000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7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2341316" y="3861048"/>
                  <a:ext cx="1482480" cy="2753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/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Open Via (</a:t>
                  </a:r>
                  <a:r>
                    <a:rPr lang="ko-KR" altLang="en-US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표면처리적용</a:t>
                  </a:r>
                  <a:r>
                    <a:rPr lang="en-US" altLang="ko-KR" sz="800" b="0" dirty="0">
                      <a:solidFill>
                        <a:srgbClr val="000000"/>
                      </a:solidFill>
                      <a:latin typeface="현대하모니 L"/>
                      <a:ea typeface="현대하모니 L"/>
                    </a:rPr>
                    <a:t>)</a:t>
                  </a:r>
                  <a:endParaRPr lang="ko-KR" altLang="en-US" sz="800" b="0" dirty="0">
                    <a:solidFill>
                      <a:srgbClr val="000000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</p:grpSp>
        <p:pic>
          <p:nvPicPr>
            <p:cNvPr id="54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72" t="5564" r="16691" b="3946"/>
            <a:stretch/>
          </p:blipFill>
          <p:spPr bwMode="auto">
            <a:xfrm>
              <a:off x="2917321" y="5156430"/>
              <a:ext cx="809205" cy="791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66" name="Picture 9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92" y="3556911"/>
              <a:ext cx="523150" cy="952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3162683" y="4941748"/>
              <a:ext cx="5661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800" b="0" dirty="0">
                  <a:latin typeface="현대하모니 L"/>
                  <a:ea typeface="현대하모니 L"/>
                </a:rPr>
                <a:t>Air Void</a:t>
              </a:r>
              <a:endParaRPr lang="ko-KR" altLang="en-US" sz="800" b="0" dirty="0">
                <a:latin typeface="현대하모니 L"/>
                <a:ea typeface="현대하모니 L"/>
              </a:endParaRPr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>
              <a:off x="3391684" y="5084604"/>
              <a:ext cx="1" cy="31008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/>
            <p:nvPr/>
          </p:nvCxnSpPr>
          <p:spPr>
            <a:xfrm>
              <a:off x="3080792" y="5661248"/>
              <a:ext cx="31089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7597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581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PTH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290825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[32]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Land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주변 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Via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설계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SMD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소자의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Via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충분히 </a:t>
                      </a:r>
                      <a:r>
                        <a:rPr lang="ko-KR" altLang="en-US" sz="1000" kern="1200" dirty="0" err="1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이격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동일 신호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d1≥0.3㎜,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다른 신호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d2≥0.3㎜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0.5mm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이상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SMD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소자의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via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사이에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solder resist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처리하였는가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SMD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부품의 아래에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via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배치하지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(IC, MCU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제외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O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SMD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via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배치하지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(IC, MCU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포함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O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이격거리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0.3mm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이하로 설계하는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위치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공정 허용오차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, hole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위치 공정 허용 오차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,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hole Clearance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오차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baseline="0" dirty="0" err="1">
                          <a:latin typeface="현대하모니 L"/>
                          <a:ea typeface="현대하모니 L"/>
                        </a:rPr>
                        <a:t>솔더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 err="1">
                          <a:latin typeface="현대하모니 L"/>
                          <a:ea typeface="현대하모니 L"/>
                        </a:rPr>
                        <a:t>브릿지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 가능성 등을</a:t>
                      </a:r>
                      <a:endParaRPr lang="en-US" altLang="ko-KR" sz="1000" baseline="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고려하여 설계 근거 제출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브릿지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및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냉납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PSR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박리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4136144" y="6200422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344488" y="3140968"/>
            <a:ext cx="3481512" cy="2971289"/>
            <a:chOff x="344488" y="3140968"/>
            <a:chExt cx="3481512" cy="2971289"/>
          </a:xfrm>
        </p:grpSpPr>
        <p:sp>
          <p:nvSpPr>
            <p:cNvPr id="3" name="직사각형 2"/>
            <p:cNvSpPr/>
            <p:nvPr/>
          </p:nvSpPr>
          <p:spPr>
            <a:xfrm>
              <a:off x="344488" y="4503222"/>
              <a:ext cx="175400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800" b="0" dirty="0">
                  <a:latin typeface="현대하모니 L"/>
                  <a:ea typeface="현대하모니 L"/>
                </a:rPr>
                <a:t>d : Land edge – via pad edge </a:t>
              </a:r>
              <a:r>
                <a:rPr lang="ko-KR" altLang="en-US" sz="800" b="0" dirty="0">
                  <a:latin typeface="현대하모니 L"/>
                  <a:ea typeface="현대하모니 L"/>
                </a:rPr>
                <a:t>간격</a:t>
              </a:r>
            </a:p>
          </p:txBody>
        </p:sp>
        <p:sp>
          <p:nvSpPr>
            <p:cNvPr id="78" name="Text Box 92"/>
            <p:cNvSpPr txBox="1">
              <a:spLocks noChangeArrowheads="1"/>
            </p:cNvSpPr>
            <p:nvPr/>
          </p:nvSpPr>
          <p:spPr bwMode="auto">
            <a:xfrm>
              <a:off x="868271" y="3140968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83" name="Text Box 93"/>
            <p:cNvSpPr txBox="1">
              <a:spLocks noChangeArrowheads="1"/>
            </p:cNvSpPr>
            <p:nvPr/>
          </p:nvSpPr>
          <p:spPr bwMode="auto">
            <a:xfrm>
              <a:off x="2476287" y="3147330"/>
              <a:ext cx="648231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344488" y="4861778"/>
              <a:ext cx="1729805" cy="1079103"/>
              <a:chOff x="416496" y="4939684"/>
              <a:chExt cx="1729805" cy="1079103"/>
            </a:xfrm>
          </p:grpSpPr>
          <p:pic>
            <p:nvPicPr>
              <p:cNvPr id="50" name="Picture 87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424" b="14493"/>
              <a:stretch/>
            </p:blipFill>
            <p:spPr bwMode="auto">
              <a:xfrm>
                <a:off x="625925" y="4956191"/>
                <a:ext cx="1408446" cy="1062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" name="Line 95"/>
              <p:cNvSpPr>
                <a:spLocks noChangeShapeType="1"/>
              </p:cNvSpPr>
              <p:nvPr/>
            </p:nvSpPr>
            <p:spPr bwMode="auto">
              <a:xfrm>
                <a:off x="998435" y="5220625"/>
                <a:ext cx="27861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5" name="Line 96"/>
              <p:cNvSpPr>
                <a:spLocks noChangeShapeType="1"/>
              </p:cNvSpPr>
              <p:nvPr/>
            </p:nvSpPr>
            <p:spPr bwMode="auto">
              <a:xfrm>
                <a:off x="978421" y="5330155"/>
                <a:ext cx="27861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6" name="Line 97"/>
              <p:cNvSpPr>
                <a:spLocks noChangeShapeType="1"/>
              </p:cNvSpPr>
              <p:nvPr/>
            </p:nvSpPr>
            <p:spPr bwMode="auto">
              <a:xfrm>
                <a:off x="1193470" y="5061028"/>
                <a:ext cx="0" cy="14082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7" name="Line 98"/>
              <p:cNvSpPr>
                <a:spLocks noChangeShapeType="1"/>
              </p:cNvSpPr>
              <p:nvPr/>
            </p:nvSpPr>
            <p:spPr bwMode="auto">
              <a:xfrm flipV="1">
                <a:off x="1193470" y="5330158"/>
                <a:ext cx="0" cy="14082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8" name="Rectangle 99"/>
              <p:cNvSpPr>
                <a:spLocks noChangeArrowheads="1"/>
              </p:cNvSpPr>
              <p:nvPr/>
            </p:nvSpPr>
            <p:spPr bwMode="auto">
              <a:xfrm>
                <a:off x="1230666" y="5066357"/>
                <a:ext cx="9156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solder resist</a:t>
                </a:r>
              </a:p>
            </p:txBody>
          </p:sp>
          <p:sp>
            <p:nvSpPr>
              <p:cNvPr id="53" name="Rectangle 89"/>
              <p:cNvSpPr>
                <a:spLocks noChangeArrowheads="1"/>
              </p:cNvSpPr>
              <p:nvPr/>
            </p:nvSpPr>
            <p:spPr bwMode="auto">
              <a:xfrm>
                <a:off x="416496" y="4939684"/>
                <a:ext cx="3048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defTabSz="9144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2)</a:t>
                </a:r>
                <a:endParaRPr kumimoji="0"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344488" y="3351094"/>
              <a:ext cx="1912145" cy="1152128"/>
              <a:chOff x="344488" y="3429000"/>
              <a:chExt cx="1912145" cy="1152128"/>
            </a:xfrm>
          </p:grpSpPr>
          <p:grpSp>
            <p:nvGrpSpPr>
              <p:cNvPr id="12" name="그룹 11"/>
              <p:cNvGrpSpPr/>
              <p:nvPr/>
            </p:nvGrpSpPr>
            <p:grpSpPr>
              <a:xfrm>
                <a:off x="431850" y="3717128"/>
                <a:ext cx="1640830" cy="864000"/>
                <a:chOff x="7480885" y="3684264"/>
                <a:chExt cx="1640830" cy="864000"/>
              </a:xfrm>
            </p:grpSpPr>
            <p:sp>
              <p:nvSpPr>
                <p:cNvPr id="73" name="Rectangle 178"/>
                <p:cNvSpPr>
                  <a:spLocks noChangeArrowheads="1"/>
                </p:cNvSpPr>
                <p:nvPr/>
              </p:nvSpPr>
              <p:spPr bwMode="auto">
                <a:xfrm>
                  <a:off x="7504161" y="3684264"/>
                  <a:ext cx="1332000" cy="86400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7" name="직사각형 76"/>
                <p:cNvSpPr/>
                <p:nvPr/>
              </p:nvSpPr>
              <p:spPr>
                <a:xfrm>
                  <a:off x="7480885" y="3776880"/>
                  <a:ext cx="756000" cy="32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9" name="직사각형 78"/>
                <p:cNvSpPr/>
                <p:nvPr/>
              </p:nvSpPr>
              <p:spPr>
                <a:xfrm>
                  <a:off x="7552933" y="4188002"/>
                  <a:ext cx="396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0" name="Rectangle 178"/>
                <p:cNvSpPr>
                  <a:spLocks noChangeArrowheads="1"/>
                </p:cNvSpPr>
                <p:nvPr/>
              </p:nvSpPr>
              <p:spPr bwMode="auto">
                <a:xfrm>
                  <a:off x="7552941" y="4279282"/>
                  <a:ext cx="432000" cy="71845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1" name="Rectangle 178"/>
                <p:cNvSpPr>
                  <a:spLocks noChangeArrowheads="1"/>
                </p:cNvSpPr>
                <p:nvPr/>
              </p:nvSpPr>
              <p:spPr bwMode="auto">
                <a:xfrm>
                  <a:off x="7705341" y="4352920"/>
                  <a:ext cx="72000" cy="10800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2" name="Rectangle 178"/>
                <p:cNvSpPr>
                  <a:spLocks noChangeArrowheads="1"/>
                </p:cNvSpPr>
                <p:nvPr/>
              </p:nvSpPr>
              <p:spPr bwMode="auto">
                <a:xfrm>
                  <a:off x="7681843" y="3915084"/>
                  <a:ext cx="432000" cy="71845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4" name="직사각형 73"/>
                <p:cNvSpPr/>
                <p:nvPr/>
              </p:nvSpPr>
              <p:spPr>
                <a:xfrm>
                  <a:off x="7624901" y="3884856"/>
                  <a:ext cx="252000" cy="14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5" name="직사각형 74"/>
                <p:cNvSpPr/>
                <p:nvPr/>
              </p:nvSpPr>
              <p:spPr>
                <a:xfrm>
                  <a:off x="7624901" y="4244896"/>
                  <a:ext cx="252000" cy="14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6" name="직사각형 75"/>
                <p:cNvSpPr/>
                <p:nvPr/>
              </p:nvSpPr>
              <p:spPr>
                <a:xfrm>
                  <a:off x="7678901" y="3956864"/>
                  <a:ext cx="144000" cy="39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" name="타원 9"/>
                <p:cNvSpPr/>
                <p:nvPr/>
              </p:nvSpPr>
              <p:spPr>
                <a:xfrm>
                  <a:off x="8056949" y="3898201"/>
                  <a:ext cx="108000" cy="108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9050">
                  <a:noFill/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5" name="직사각형 84"/>
                <p:cNvSpPr/>
                <p:nvPr/>
              </p:nvSpPr>
              <p:spPr>
                <a:xfrm>
                  <a:off x="8337376" y="3776880"/>
                  <a:ext cx="756000" cy="32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4" name="Rectangle 178"/>
                <p:cNvSpPr>
                  <a:spLocks noChangeArrowheads="1"/>
                </p:cNvSpPr>
                <p:nvPr/>
              </p:nvSpPr>
              <p:spPr bwMode="auto">
                <a:xfrm>
                  <a:off x="8905715" y="3915084"/>
                  <a:ext cx="216000" cy="71845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6" name="직사각형 85"/>
                <p:cNvSpPr/>
                <p:nvPr/>
              </p:nvSpPr>
              <p:spPr>
                <a:xfrm>
                  <a:off x="8373336" y="4188002"/>
                  <a:ext cx="396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7" name="Rectangle 178"/>
                <p:cNvSpPr>
                  <a:spLocks noChangeArrowheads="1"/>
                </p:cNvSpPr>
                <p:nvPr/>
              </p:nvSpPr>
              <p:spPr bwMode="auto">
                <a:xfrm>
                  <a:off x="8373344" y="4279282"/>
                  <a:ext cx="432000" cy="71845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8" name="Rectangle 178"/>
                <p:cNvSpPr>
                  <a:spLocks noChangeArrowheads="1"/>
                </p:cNvSpPr>
                <p:nvPr/>
              </p:nvSpPr>
              <p:spPr bwMode="auto">
                <a:xfrm>
                  <a:off x="8525744" y="4352920"/>
                  <a:ext cx="72000" cy="10800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 anchor="ctr"/>
                <a:lstStyle/>
                <a:p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0" name="직사각형 89"/>
                <p:cNvSpPr/>
                <p:nvPr/>
              </p:nvSpPr>
              <p:spPr>
                <a:xfrm>
                  <a:off x="8445304" y="3884856"/>
                  <a:ext cx="252000" cy="14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1" name="직사각형 90"/>
                <p:cNvSpPr/>
                <p:nvPr/>
              </p:nvSpPr>
              <p:spPr>
                <a:xfrm>
                  <a:off x="8445304" y="4244896"/>
                  <a:ext cx="252000" cy="144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2" name="직사각형 91"/>
                <p:cNvSpPr/>
                <p:nvPr/>
              </p:nvSpPr>
              <p:spPr>
                <a:xfrm>
                  <a:off x="8499304" y="3956864"/>
                  <a:ext cx="144000" cy="396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3" name="타원 92"/>
                <p:cNvSpPr/>
                <p:nvPr/>
              </p:nvSpPr>
              <p:spPr>
                <a:xfrm>
                  <a:off x="8877352" y="3898201"/>
                  <a:ext cx="108000" cy="108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9050">
                  <a:noFill/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35" name="Rectangle 88"/>
              <p:cNvSpPr>
                <a:spLocks noChangeArrowheads="1"/>
              </p:cNvSpPr>
              <p:nvPr/>
            </p:nvSpPr>
            <p:spPr bwMode="auto">
              <a:xfrm>
                <a:off x="344488" y="3501008"/>
                <a:ext cx="3048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>
                <a:off x="833430" y="3645080"/>
                <a:ext cx="0" cy="43200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>
                <a:off x="1007674" y="3645024"/>
                <a:ext cx="0" cy="43200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>
                <a:off x="1644627" y="3645080"/>
                <a:ext cx="0" cy="43200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/>
              <p:nvPr/>
            </p:nvCxnSpPr>
            <p:spPr>
              <a:xfrm>
                <a:off x="1818871" y="3645024"/>
                <a:ext cx="0" cy="43200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직사각형 126"/>
              <p:cNvSpPr/>
              <p:nvPr/>
            </p:nvSpPr>
            <p:spPr>
              <a:xfrm>
                <a:off x="762882" y="3439493"/>
                <a:ext cx="688009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ko-KR" sz="9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d1≥0.3㎜</a:t>
                </a:r>
                <a:endPara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>
                <a:off x="1568624" y="3429000"/>
                <a:ext cx="688009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ko-KR" sz="9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d2≥0.3㎜</a:t>
                </a:r>
                <a:endPara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2216696" y="3501008"/>
              <a:ext cx="1584176" cy="1151548"/>
              <a:chOff x="2288704" y="3573016"/>
              <a:chExt cx="1584176" cy="1151548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2288704" y="4257120"/>
                <a:ext cx="396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1" name="Rectangle 178"/>
              <p:cNvSpPr>
                <a:spLocks noChangeArrowheads="1"/>
              </p:cNvSpPr>
              <p:nvPr/>
            </p:nvSpPr>
            <p:spPr bwMode="auto">
              <a:xfrm>
                <a:off x="2417358" y="3984202"/>
                <a:ext cx="288000" cy="71845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2360672" y="3953974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2360672" y="4314014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2414672" y="4025982"/>
                <a:ext cx="144000" cy="3960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5" name="타원 104"/>
              <p:cNvSpPr/>
              <p:nvPr/>
            </p:nvSpPr>
            <p:spPr>
              <a:xfrm>
                <a:off x="2669366" y="3967319"/>
                <a:ext cx="108000" cy="10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2849374" y="3845998"/>
                <a:ext cx="756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08" name="직사각형 107"/>
              <p:cNvSpPr/>
              <p:nvPr/>
            </p:nvSpPr>
            <p:spPr>
              <a:xfrm>
                <a:off x="2849374" y="4257120"/>
                <a:ext cx="396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921342" y="3953974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921342" y="4314014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2975342" y="4025982"/>
                <a:ext cx="144000" cy="396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5" name="타원 114"/>
              <p:cNvSpPr/>
              <p:nvPr/>
            </p:nvSpPr>
            <p:spPr>
              <a:xfrm>
                <a:off x="2991461" y="3855618"/>
                <a:ext cx="108000" cy="10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16" name="직사각형 115"/>
              <p:cNvSpPr/>
              <p:nvPr/>
            </p:nvSpPr>
            <p:spPr>
              <a:xfrm>
                <a:off x="3281510" y="4242006"/>
                <a:ext cx="396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1" name="Rectangle 178"/>
              <p:cNvSpPr>
                <a:spLocks noChangeArrowheads="1"/>
              </p:cNvSpPr>
              <p:nvPr/>
            </p:nvSpPr>
            <p:spPr bwMode="auto">
              <a:xfrm>
                <a:off x="3654847" y="3870732"/>
                <a:ext cx="72000" cy="180000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7" name="직사각형 116"/>
              <p:cNvSpPr/>
              <p:nvPr/>
            </p:nvSpPr>
            <p:spPr>
              <a:xfrm>
                <a:off x="3353478" y="3938860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8" name="직사각형 117"/>
              <p:cNvSpPr/>
              <p:nvPr/>
            </p:nvSpPr>
            <p:spPr>
              <a:xfrm>
                <a:off x="3353478" y="4298900"/>
                <a:ext cx="252000" cy="144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9" name="직사각형 118"/>
              <p:cNvSpPr/>
              <p:nvPr/>
            </p:nvSpPr>
            <p:spPr>
              <a:xfrm>
                <a:off x="3407478" y="4010868"/>
                <a:ext cx="144000" cy="396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0" name="타원 119"/>
              <p:cNvSpPr/>
              <p:nvPr/>
            </p:nvSpPr>
            <p:spPr>
              <a:xfrm>
                <a:off x="3641518" y="3969406"/>
                <a:ext cx="108000" cy="10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3" name="타원 122"/>
              <p:cNvSpPr/>
              <p:nvPr/>
            </p:nvSpPr>
            <p:spPr>
              <a:xfrm>
                <a:off x="3425718" y="4313998"/>
                <a:ext cx="108000" cy="10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9" name="Rectangle 88"/>
              <p:cNvSpPr>
                <a:spLocks noChangeArrowheads="1"/>
              </p:cNvSpPr>
              <p:nvPr/>
            </p:nvSpPr>
            <p:spPr bwMode="auto">
              <a:xfrm>
                <a:off x="2487868" y="3573016"/>
                <a:ext cx="30168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30" name="Rectangle 88"/>
              <p:cNvSpPr>
                <a:spLocks noChangeArrowheads="1"/>
              </p:cNvSpPr>
              <p:nvPr/>
            </p:nvSpPr>
            <p:spPr bwMode="auto">
              <a:xfrm>
                <a:off x="2864768" y="3573016"/>
                <a:ext cx="30168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2)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31" name="Rectangle 88"/>
              <p:cNvSpPr>
                <a:spLocks noChangeArrowheads="1"/>
              </p:cNvSpPr>
              <p:nvPr/>
            </p:nvSpPr>
            <p:spPr bwMode="auto">
              <a:xfrm>
                <a:off x="3571194" y="4262899"/>
                <a:ext cx="30168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4)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32" name="Rectangle 88"/>
              <p:cNvSpPr>
                <a:spLocks noChangeArrowheads="1"/>
              </p:cNvSpPr>
              <p:nvPr/>
            </p:nvSpPr>
            <p:spPr bwMode="auto">
              <a:xfrm>
                <a:off x="3512840" y="3573016"/>
                <a:ext cx="30168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1)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133" name="직사각형 132"/>
              <p:cNvSpPr/>
              <p:nvPr/>
            </p:nvSpPr>
            <p:spPr>
              <a:xfrm>
                <a:off x="2288704" y="4509120"/>
                <a:ext cx="1114408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ko-KR" altLang="en-US" sz="8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권장</a:t>
                </a:r>
                <a:r>
                  <a:rPr lang="en-US" altLang="ko-KR" sz="8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 </a:t>
                </a:r>
                <a:r>
                  <a:rPr lang="ko-KR" altLang="en-US" sz="800" b="0" dirty="0" err="1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이격</a:t>
                </a:r>
                <a:r>
                  <a:rPr lang="ko-KR" altLang="en-US" sz="8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 거리 불만족</a:t>
                </a:r>
              </a:p>
            </p:txBody>
          </p:sp>
          <p:sp>
            <p:nvSpPr>
              <p:cNvPr id="134" name="타원 133"/>
              <p:cNvSpPr/>
              <p:nvPr/>
            </p:nvSpPr>
            <p:spPr>
              <a:xfrm>
                <a:off x="3044800" y="4156637"/>
                <a:ext cx="108000" cy="10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35" name="Rectangle 88"/>
              <p:cNvSpPr>
                <a:spLocks noChangeArrowheads="1"/>
              </p:cNvSpPr>
              <p:nvPr/>
            </p:nvSpPr>
            <p:spPr bwMode="auto">
              <a:xfrm>
                <a:off x="3080792" y="4077072"/>
                <a:ext cx="30168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3)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2504677" y="4764310"/>
              <a:ext cx="936155" cy="1347947"/>
              <a:chOff x="2417555" y="4764310"/>
              <a:chExt cx="936155" cy="1347947"/>
            </a:xfrm>
          </p:grpSpPr>
          <p:pic>
            <p:nvPicPr>
              <p:cNvPr id="19512" name="Picture 5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17555" y="5589240"/>
                <a:ext cx="936155" cy="523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513" name="Picture 5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3860" y="4764310"/>
                <a:ext cx="898721" cy="7568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타원 21"/>
              <p:cNvSpPr/>
              <p:nvPr/>
            </p:nvSpPr>
            <p:spPr>
              <a:xfrm>
                <a:off x="2705358" y="5661248"/>
                <a:ext cx="375434" cy="37900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40" name="타원 139"/>
              <p:cNvSpPr/>
              <p:nvPr/>
            </p:nvSpPr>
            <p:spPr>
              <a:xfrm>
                <a:off x="2894996" y="5085184"/>
                <a:ext cx="375434" cy="37900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1" name="Rectangle 88"/>
            <p:cNvSpPr>
              <a:spLocks noChangeArrowheads="1"/>
            </p:cNvSpPr>
            <p:nvPr/>
          </p:nvSpPr>
          <p:spPr bwMode="auto">
            <a:xfrm>
              <a:off x="3368824" y="5126995"/>
              <a:ext cx="45717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1) 2)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42" name="Rectangle 88"/>
            <p:cNvSpPr>
              <a:spLocks noChangeArrowheads="1"/>
            </p:cNvSpPr>
            <p:nvPr/>
          </p:nvSpPr>
          <p:spPr bwMode="auto">
            <a:xfrm>
              <a:off x="3368824" y="5703059"/>
              <a:ext cx="45717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1) 2)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185" y="4295990"/>
            <a:ext cx="1792239" cy="174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4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581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PTH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97560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Drill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편심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드릴 홀에서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Annular Ring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외곽까지의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기준치를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양면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또는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MLB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0.1mm,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단면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 : 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0.2mm)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아래 그림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‘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주의 범위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’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내 드릴 홀의 중심이 있을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패턴과의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실제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오픈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482139" y="2912166"/>
            <a:ext cx="3102709" cy="3181130"/>
            <a:chOff x="416496" y="2780928"/>
            <a:chExt cx="3102709" cy="3181130"/>
          </a:xfrm>
        </p:grpSpPr>
        <p:sp>
          <p:nvSpPr>
            <p:cNvPr id="27" name="Oval 142"/>
            <p:cNvSpPr>
              <a:spLocks noChangeArrowheads="1"/>
            </p:cNvSpPr>
            <p:nvPr/>
          </p:nvSpPr>
          <p:spPr bwMode="auto">
            <a:xfrm>
              <a:off x="1113152" y="3160195"/>
              <a:ext cx="935495" cy="901700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8" name="Rectangle 143"/>
            <p:cNvSpPr>
              <a:spLocks noChangeArrowheads="1"/>
            </p:cNvSpPr>
            <p:nvPr/>
          </p:nvSpPr>
          <p:spPr bwMode="auto">
            <a:xfrm>
              <a:off x="511271" y="3504682"/>
              <a:ext cx="624237" cy="252412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2" name="Rectangle 145"/>
            <p:cNvSpPr>
              <a:spLocks noChangeArrowheads="1"/>
            </p:cNvSpPr>
            <p:nvPr/>
          </p:nvSpPr>
          <p:spPr bwMode="auto">
            <a:xfrm rot="5400000">
              <a:off x="2727552" y="3194654"/>
              <a:ext cx="357187" cy="134133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Rectangle 147"/>
            <p:cNvSpPr>
              <a:spLocks noChangeArrowheads="1"/>
            </p:cNvSpPr>
            <p:nvPr/>
          </p:nvSpPr>
          <p:spPr bwMode="auto">
            <a:xfrm>
              <a:off x="2270732" y="4407895"/>
              <a:ext cx="386924" cy="123825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7" name="Rectangle 149"/>
            <p:cNvSpPr>
              <a:spLocks noChangeArrowheads="1"/>
            </p:cNvSpPr>
            <p:nvPr/>
          </p:nvSpPr>
          <p:spPr bwMode="auto">
            <a:xfrm>
              <a:off x="2270732" y="5295308"/>
              <a:ext cx="386924" cy="123825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8" name="Oval 150"/>
            <p:cNvSpPr>
              <a:spLocks noChangeArrowheads="1"/>
            </p:cNvSpPr>
            <p:nvPr/>
          </p:nvSpPr>
          <p:spPr bwMode="auto">
            <a:xfrm>
              <a:off x="1269641" y="3447532"/>
              <a:ext cx="311258" cy="288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9" name="Line 151"/>
            <p:cNvSpPr>
              <a:spLocks noChangeShapeType="1"/>
            </p:cNvSpPr>
            <p:nvPr/>
          </p:nvSpPr>
          <p:spPr bwMode="auto">
            <a:xfrm flipH="1">
              <a:off x="1249005" y="3725345"/>
              <a:ext cx="247631" cy="2159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0" name="Line 152"/>
            <p:cNvSpPr>
              <a:spLocks noChangeShapeType="1"/>
            </p:cNvSpPr>
            <p:nvPr/>
          </p:nvSpPr>
          <p:spPr bwMode="auto">
            <a:xfrm>
              <a:off x="1269641" y="3303070"/>
              <a:ext cx="211518" cy="19685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9" name="Line 171"/>
            <p:cNvSpPr>
              <a:spLocks noChangeShapeType="1"/>
            </p:cNvSpPr>
            <p:nvPr/>
          </p:nvSpPr>
          <p:spPr bwMode="auto">
            <a:xfrm>
              <a:off x="1113152" y="3591995"/>
              <a:ext cx="0" cy="8636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Line 172"/>
            <p:cNvSpPr>
              <a:spLocks noChangeShapeType="1"/>
            </p:cNvSpPr>
            <p:nvPr/>
          </p:nvSpPr>
          <p:spPr bwMode="auto">
            <a:xfrm>
              <a:off x="1269641" y="3591995"/>
              <a:ext cx="0" cy="8636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1" name="Line 173"/>
            <p:cNvSpPr>
              <a:spLocks noChangeShapeType="1"/>
            </p:cNvSpPr>
            <p:nvPr/>
          </p:nvSpPr>
          <p:spPr bwMode="auto">
            <a:xfrm>
              <a:off x="956663" y="4312720"/>
              <a:ext cx="15648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2" name="Line 174"/>
            <p:cNvSpPr>
              <a:spLocks noChangeShapeType="1"/>
            </p:cNvSpPr>
            <p:nvPr/>
          </p:nvSpPr>
          <p:spPr bwMode="auto">
            <a:xfrm flipH="1">
              <a:off x="1269641" y="4312720"/>
              <a:ext cx="15648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3" name="AutoShape 175"/>
            <p:cNvSpPr>
              <a:spLocks noChangeArrowheads="1"/>
            </p:cNvSpPr>
            <p:nvPr/>
          </p:nvSpPr>
          <p:spPr bwMode="auto">
            <a:xfrm rot="16200000">
              <a:off x="1151215" y="3122133"/>
              <a:ext cx="914400" cy="9905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75 w 21600"/>
                <a:gd name="T13" fmla="*/ 0 h 21600"/>
                <a:gd name="T14" fmla="*/ 19725 w 21600"/>
                <a:gd name="T15" fmla="*/ 90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8699" y="8587"/>
                  </a:moveTo>
                  <a:cubicBezTo>
                    <a:pt x="9266" y="8049"/>
                    <a:pt x="10018" y="7748"/>
                    <a:pt x="10800" y="7749"/>
                  </a:cubicBezTo>
                  <a:cubicBezTo>
                    <a:pt x="11581" y="7749"/>
                    <a:pt x="12333" y="8049"/>
                    <a:pt x="12900" y="8587"/>
                  </a:cubicBezTo>
                  <a:lnTo>
                    <a:pt x="18235" y="2967"/>
                  </a:lnTo>
                  <a:cubicBezTo>
                    <a:pt x="16229" y="1062"/>
                    <a:pt x="13567" y="-1"/>
                    <a:pt x="10799" y="0"/>
                  </a:cubicBezTo>
                  <a:cubicBezTo>
                    <a:pt x="8032" y="0"/>
                    <a:pt x="5370" y="1062"/>
                    <a:pt x="3364" y="2967"/>
                  </a:cubicBezTo>
                  <a:lnTo>
                    <a:pt x="8699" y="8587"/>
                  </a:lnTo>
                  <a:close/>
                </a:path>
              </a:pathLst>
            </a:custGeom>
            <a:solidFill>
              <a:srgbClr val="FF66CC">
                <a:alpha val="67058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4" name="Text Box 176"/>
            <p:cNvSpPr txBox="1">
              <a:spLocks noChangeArrowheads="1"/>
            </p:cNvSpPr>
            <p:nvPr/>
          </p:nvSpPr>
          <p:spPr bwMode="auto">
            <a:xfrm>
              <a:off x="875551" y="4399504"/>
              <a:ext cx="93721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d1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＞ 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2d</a:t>
              </a:r>
            </a:p>
          </p:txBody>
        </p:sp>
        <p:sp>
          <p:nvSpPr>
            <p:cNvPr id="75" name="Line 177"/>
            <p:cNvSpPr>
              <a:spLocks noChangeShapeType="1"/>
            </p:cNvSpPr>
            <p:nvPr/>
          </p:nvSpPr>
          <p:spPr bwMode="auto">
            <a:xfrm flipH="1">
              <a:off x="1493197" y="3518970"/>
              <a:ext cx="0" cy="21590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6" name="Line 178"/>
            <p:cNvSpPr>
              <a:spLocks noChangeShapeType="1"/>
            </p:cNvSpPr>
            <p:nvPr/>
          </p:nvSpPr>
          <p:spPr bwMode="auto">
            <a:xfrm flipV="1">
              <a:off x="956663" y="3734870"/>
              <a:ext cx="546852" cy="50482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7" name="Line 179"/>
            <p:cNvSpPr>
              <a:spLocks noChangeShapeType="1"/>
            </p:cNvSpPr>
            <p:nvPr/>
          </p:nvSpPr>
          <p:spPr bwMode="auto">
            <a:xfrm>
              <a:off x="956663" y="3015732"/>
              <a:ext cx="546852" cy="50323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9" name="Arc 180"/>
            <p:cNvSpPr>
              <a:spLocks/>
            </p:cNvSpPr>
            <p:nvPr/>
          </p:nvSpPr>
          <p:spPr bwMode="auto">
            <a:xfrm rot="12539093">
              <a:off x="721070" y="3236395"/>
              <a:ext cx="990524" cy="981075"/>
            </a:xfrm>
            <a:custGeom>
              <a:avLst/>
              <a:gdLst>
                <a:gd name="T0" fmla="*/ 0 w 21600"/>
                <a:gd name="T1" fmla="*/ 0 h 23191"/>
                <a:gd name="T2" fmla="*/ 0 w 21600"/>
                <a:gd name="T3" fmla="*/ 0 h 23191"/>
                <a:gd name="T4" fmla="*/ 0 w 21600"/>
                <a:gd name="T5" fmla="*/ 0 h 231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191"/>
                <a:gd name="T11" fmla="*/ 21600 w 21600"/>
                <a:gd name="T12" fmla="*/ 23191 h 23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191" fill="none" extrusionOk="0">
                  <a:moveTo>
                    <a:pt x="9525" y="-1"/>
                  </a:moveTo>
                  <a:cubicBezTo>
                    <a:pt x="16916" y="3631"/>
                    <a:pt x="21600" y="11150"/>
                    <a:pt x="21600" y="19386"/>
                  </a:cubicBezTo>
                  <a:cubicBezTo>
                    <a:pt x="21600" y="20661"/>
                    <a:pt x="21486" y="21935"/>
                    <a:pt x="21262" y="23191"/>
                  </a:cubicBezTo>
                </a:path>
                <a:path w="21600" h="23191" stroke="0" extrusionOk="0">
                  <a:moveTo>
                    <a:pt x="9525" y="-1"/>
                  </a:moveTo>
                  <a:cubicBezTo>
                    <a:pt x="16916" y="3631"/>
                    <a:pt x="21600" y="11150"/>
                    <a:pt x="21600" y="19386"/>
                  </a:cubicBezTo>
                  <a:cubicBezTo>
                    <a:pt x="21600" y="20661"/>
                    <a:pt x="21486" y="21935"/>
                    <a:pt x="21262" y="23191"/>
                  </a:cubicBezTo>
                  <a:lnTo>
                    <a:pt x="0" y="19386"/>
                  </a:lnTo>
                  <a:lnTo>
                    <a:pt x="9525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0" name="Text Box 181"/>
            <p:cNvSpPr txBox="1">
              <a:spLocks noChangeArrowheads="1"/>
            </p:cNvSpPr>
            <p:nvPr/>
          </p:nvSpPr>
          <p:spPr bwMode="auto">
            <a:xfrm>
              <a:off x="416496" y="3160195"/>
              <a:ext cx="486618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90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도</a:t>
              </a:r>
            </a:p>
          </p:txBody>
        </p:sp>
        <p:sp>
          <p:nvSpPr>
            <p:cNvPr id="31" name="Oval 144"/>
            <p:cNvSpPr>
              <a:spLocks noChangeArrowheads="1"/>
            </p:cNvSpPr>
            <p:nvPr/>
          </p:nvSpPr>
          <p:spPr bwMode="auto">
            <a:xfrm>
              <a:off x="2631860" y="3417295"/>
              <a:ext cx="545132" cy="504825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3" name="Oval 146"/>
            <p:cNvSpPr>
              <a:spLocks noChangeArrowheads="1"/>
            </p:cNvSpPr>
            <p:nvPr/>
          </p:nvSpPr>
          <p:spPr bwMode="auto">
            <a:xfrm>
              <a:off x="2631860" y="4209458"/>
              <a:ext cx="545132" cy="504825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6" name="Oval 148"/>
            <p:cNvSpPr>
              <a:spLocks noChangeArrowheads="1"/>
            </p:cNvSpPr>
            <p:nvPr/>
          </p:nvSpPr>
          <p:spPr bwMode="auto">
            <a:xfrm>
              <a:off x="2631860" y="5096870"/>
              <a:ext cx="545132" cy="504825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1" name="Oval 153"/>
            <p:cNvSpPr>
              <a:spLocks noChangeArrowheads="1"/>
            </p:cNvSpPr>
            <p:nvPr/>
          </p:nvSpPr>
          <p:spPr bwMode="auto">
            <a:xfrm>
              <a:off x="2781471" y="3649070"/>
              <a:ext cx="233874" cy="215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2" name="Oval 154"/>
            <p:cNvSpPr>
              <a:spLocks noChangeArrowheads="1"/>
            </p:cNvSpPr>
            <p:nvPr/>
          </p:nvSpPr>
          <p:spPr bwMode="auto">
            <a:xfrm>
              <a:off x="2784910" y="4438058"/>
              <a:ext cx="233874" cy="215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3" name="Oval 155"/>
            <p:cNvSpPr>
              <a:spLocks noChangeArrowheads="1"/>
            </p:cNvSpPr>
            <p:nvPr/>
          </p:nvSpPr>
          <p:spPr bwMode="auto">
            <a:xfrm>
              <a:off x="2790069" y="5147670"/>
              <a:ext cx="233874" cy="215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4" name="Line 156"/>
            <p:cNvSpPr>
              <a:spLocks noChangeShapeType="1"/>
            </p:cNvSpPr>
            <p:nvPr/>
          </p:nvSpPr>
          <p:spPr bwMode="auto">
            <a:xfrm>
              <a:off x="2817584" y="5096870"/>
              <a:ext cx="70162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5" name="Line 157"/>
            <p:cNvSpPr>
              <a:spLocks noChangeShapeType="1"/>
            </p:cNvSpPr>
            <p:nvPr/>
          </p:nvSpPr>
          <p:spPr bwMode="auto">
            <a:xfrm>
              <a:off x="2817584" y="5155608"/>
              <a:ext cx="70162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6" name="Line 158"/>
            <p:cNvSpPr>
              <a:spLocks noChangeShapeType="1"/>
            </p:cNvSpPr>
            <p:nvPr/>
          </p:nvSpPr>
          <p:spPr bwMode="auto">
            <a:xfrm>
              <a:off x="3414306" y="4953995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7" name="Line 159"/>
            <p:cNvSpPr>
              <a:spLocks noChangeShapeType="1"/>
            </p:cNvSpPr>
            <p:nvPr/>
          </p:nvSpPr>
          <p:spPr bwMode="auto">
            <a:xfrm flipV="1">
              <a:off x="3414306" y="5169895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8" name="Line 160"/>
            <p:cNvSpPr>
              <a:spLocks noChangeShapeType="1"/>
            </p:cNvSpPr>
            <p:nvPr/>
          </p:nvSpPr>
          <p:spPr bwMode="auto">
            <a:xfrm>
              <a:off x="2817584" y="4653958"/>
              <a:ext cx="54513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9" name="Line 161"/>
            <p:cNvSpPr>
              <a:spLocks noChangeShapeType="1"/>
            </p:cNvSpPr>
            <p:nvPr/>
          </p:nvSpPr>
          <p:spPr bwMode="auto">
            <a:xfrm>
              <a:off x="2817584" y="4712695"/>
              <a:ext cx="54513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1" name="Line 162"/>
            <p:cNvSpPr>
              <a:spLocks noChangeShapeType="1"/>
            </p:cNvSpPr>
            <p:nvPr/>
          </p:nvSpPr>
          <p:spPr bwMode="auto">
            <a:xfrm>
              <a:off x="3242340" y="4511083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2" name="Line 163"/>
            <p:cNvSpPr>
              <a:spLocks noChangeShapeType="1"/>
            </p:cNvSpPr>
            <p:nvPr/>
          </p:nvSpPr>
          <p:spPr bwMode="auto">
            <a:xfrm flipV="1">
              <a:off x="3242340" y="4726983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9" name="Text Box 164"/>
            <p:cNvSpPr txBox="1">
              <a:spLocks noChangeArrowheads="1"/>
            </p:cNvSpPr>
            <p:nvPr/>
          </p:nvSpPr>
          <p:spPr bwMode="auto">
            <a:xfrm>
              <a:off x="3128842" y="4247558"/>
              <a:ext cx="233874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63" name="Text Box 165"/>
            <p:cNvSpPr txBox="1">
              <a:spLocks noChangeArrowheads="1"/>
            </p:cNvSpPr>
            <p:nvPr/>
          </p:nvSpPr>
          <p:spPr bwMode="auto">
            <a:xfrm>
              <a:off x="3285331" y="5293720"/>
              <a:ext cx="233874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64" name="Line 166"/>
            <p:cNvSpPr>
              <a:spLocks noChangeShapeType="1"/>
            </p:cNvSpPr>
            <p:nvPr/>
          </p:nvSpPr>
          <p:spPr bwMode="auto">
            <a:xfrm>
              <a:off x="2817584" y="3872908"/>
              <a:ext cx="70162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5" name="Line 167"/>
            <p:cNvSpPr>
              <a:spLocks noChangeShapeType="1"/>
            </p:cNvSpPr>
            <p:nvPr/>
          </p:nvSpPr>
          <p:spPr bwMode="auto">
            <a:xfrm>
              <a:off x="2817584" y="3931645"/>
              <a:ext cx="70162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6" name="Line 168"/>
            <p:cNvSpPr>
              <a:spLocks noChangeShapeType="1"/>
            </p:cNvSpPr>
            <p:nvPr/>
          </p:nvSpPr>
          <p:spPr bwMode="auto">
            <a:xfrm>
              <a:off x="3362716" y="3730033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7" name="Line 169"/>
            <p:cNvSpPr>
              <a:spLocks noChangeShapeType="1"/>
            </p:cNvSpPr>
            <p:nvPr/>
          </p:nvSpPr>
          <p:spPr bwMode="auto">
            <a:xfrm flipV="1">
              <a:off x="3362716" y="3945933"/>
              <a:ext cx="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8" name="Text Box 170"/>
            <p:cNvSpPr txBox="1">
              <a:spLocks noChangeArrowheads="1"/>
            </p:cNvSpPr>
            <p:nvPr/>
          </p:nvSpPr>
          <p:spPr bwMode="auto">
            <a:xfrm>
              <a:off x="3249218" y="3466508"/>
              <a:ext cx="233874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 flipH="1">
              <a:off x="1249006" y="2990332"/>
              <a:ext cx="232153" cy="5048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 Box 176"/>
            <p:cNvSpPr txBox="1">
              <a:spLocks noChangeArrowheads="1"/>
            </p:cNvSpPr>
            <p:nvPr/>
          </p:nvSpPr>
          <p:spPr bwMode="auto">
            <a:xfrm>
              <a:off x="1135466" y="2780928"/>
              <a:ext cx="762054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주의 범위</a:t>
              </a:r>
              <a:endParaRPr lang="en-US" altLang="ko-KR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82" name="그림 47" descr="land size.jp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54"/>
            <a:stretch>
              <a:fillRect/>
            </a:stretch>
          </p:blipFill>
          <p:spPr bwMode="auto">
            <a:xfrm>
              <a:off x="632520" y="4725144"/>
              <a:ext cx="1362323" cy="1236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" name="직사각형 5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604860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5818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PTH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46508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[34]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PTH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솔더링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부품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(Top side)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까지 완전 충진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(100%)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되어 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부품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(Top side)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완전히 덮고 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부식 방지 및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조립성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향상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99356" y="3068960"/>
            <a:ext cx="3357500" cy="2570177"/>
            <a:chOff x="241503" y="3180598"/>
            <a:chExt cx="3357500" cy="2570177"/>
          </a:xfrm>
        </p:grpSpPr>
        <p:sp>
          <p:nvSpPr>
            <p:cNvPr id="78" name="Text Box 92"/>
            <p:cNvSpPr txBox="1">
              <a:spLocks noChangeArrowheads="1"/>
            </p:cNvSpPr>
            <p:nvPr/>
          </p:nvSpPr>
          <p:spPr bwMode="auto">
            <a:xfrm>
              <a:off x="748610" y="3180598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83" name="Text Box 93"/>
            <p:cNvSpPr txBox="1">
              <a:spLocks noChangeArrowheads="1"/>
            </p:cNvSpPr>
            <p:nvPr/>
          </p:nvSpPr>
          <p:spPr bwMode="auto">
            <a:xfrm>
              <a:off x="2481611" y="3181069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241503" y="3645024"/>
              <a:ext cx="1698880" cy="2048603"/>
              <a:chOff x="1797770" y="3521218"/>
              <a:chExt cx="2308172" cy="2187892"/>
            </a:xfrm>
          </p:grpSpPr>
          <p:pic>
            <p:nvPicPr>
              <p:cNvPr id="31" name="Picture 67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85" r="14604"/>
              <a:stretch/>
            </p:blipFill>
            <p:spPr bwMode="auto">
              <a:xfrm>
                <a:off x="1981461" y="3875487"/>
                <a:ext cx="1995209" cy="1472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Rectangle 68"/>
              <p:cNvSpPr>
                <a:spLocks noChangeArrowheads="1"/>
              </p:cNvSpPr>
              <p:nvPr/>
            </p:nvSpPr>
            <p:spPr bwMode="auto">
              <a:xfrm>
                <a:off x="3117593" y="4982154"/>
                <a:ext cx="971713" cy="2239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3" name="Rectangle 69"/>
              <p:cNvSpPr>
                <a:spLocks noChangeArrowheads="1"/>
              </p:cNvSpPr>
              <p:nvPr/>
            </p:nvSpPr>
            <p:spPr bwMode="auto">
              <a:xfrm>
                <a:off x="2865497" y="5032181"/>
                <a:ext cx="348349" cy="2239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34" name="Text Box 70"/>
              <p:cNvSpPr txBox="1">
                <a:spLocks noChangeArrowheads="1"/>
              </p:cNvSpPr>
              <p:nvPr/>
            </p:nvSpPr>
            <p:spPr bwMode="auto">
              <a:xfrm>
                <a:off x="1797770" y="4046916"/>
                <a:ext cx="1209579" cy="265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latin typeface="현대하모니 L"/>
                    <a:ea typeface="현대하모니 L"/>
                  </a:rPr>
                  <a:t>Solder Land</a:t>
                </a:r>
              </a:p>
            </p:txBody>
          </p:sp>
          <p:sp>
            <p:nvSpPr>
              <p:cNvPr id="41" name="Freeform 71"/>
              <p:cNvSpPr>
                <a:spLocks/>
              </p:cNvSpPr>
              <p:nvPr/>
            </p:nvSpPr>
            <p:spPr bwMode="auto">
              <a:xfrm>
                <a:off x="2243662" y="4342740"/>
                <a:ext cx="201676" cy="223943"/>
              </a:xfrm>
              <a:custGeom>
                <a:avLst/>
                <a:gdLst>
                  <a:gd name="T0" fmla="*/ 0 w 132"/>
                  <a:gd name="T1" fmla="*/ 0 h 197"/>
                  <a:gd name="T2" fmla="*/ 5 w 132"/>
                  <a:gd name="T3" fmla="*/ 173 h 197"/>
                  <a:gd name="T4" fmla="*/ 132 w 132"/>
                  <a:gd name="T5" fmla="*/ 197 h 197"/>
                  <a:gd name="T6" fmla="*/ 0 60000 65536"/>
                  <a:gd name="T7" fmla="*/ 0 60000 65536"/>
                  <a:gd name="T8" fmla="*/ 0 60000 65536"/>
                  <a:gd name="T9" fmla="*/ 0 w 132"/>
                  <a:gd name="T10" fmla="*/ 0 h 197"/>
                  <a:gd name="T11" fmla="*/ 132 w 132"/>
                  <a:gd name="T12" fmla="*/ 197 h 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" h="197">
                    <a:moveTo>
                      <a:pt x="0" y="0"/>
                    </a:moveTo>
                    <a:lnTo>
                      <a:pt x="5" y="173"/>
                    </a:lnTo>
                    <a:lnTo>
                      <a:pt x="132" y="197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2" name="Text Box 72"/>
              <p:cNvSpPr txBox="1">
                <a:spLocks noChangeArrowheads="1"/>
              </p:cNvSpPr>
              <p:nvPr/>
            </p:nvSpPr>
            <p:spPr bwMode="auto">
              <a:xfrm>
                <a:off x="1870555" y="5443819"/>
                <a:ext cx="2035007" cy="265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ko-KR" altLang="en-US" sz="1000" b="0" dirty="0">
                    <a:latin typeface="현대하모니 L"/>
                    <a:ea typeface="현대하모니 L"/>
                  </a:rPr>
                  <a:t>부품 </a:t>
                </a:r>
                <a:r>
                  <a:rPr lang="en-US" altLang="ko-KR" sz="1000" b="0" dirty="0">
                    <a:latin typeface="현대하모니 L"/>
                    <a:ea typeface="현대하모니 L"/>
                  </a:rPr>
                  <a:t>or connector lead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3" name="Line 73"/>
              <p:cNvSpPr>
                <a:spLocks noChangeShapeType="1"/>
              </p:cNvSpPr>
              <p:nvPr/>
            </p:nvSpPr>
            <p:spPr bwMode="auto">
              <a:xfrm flipH="1" flipV="1">
                <a:off x="2909805" y="5008922"/>
                <a:ext cx="207788" cy="212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4" name="Line 74"/>
              <p:cNvSpPr>
                <a:spLocks noChangeShapeType="1"/>
              </p:cNvSpPr>
              <p:nvPr/>
            </p:nvSpPr>
            <p:spPr bwMode="auto">
              <a:xfrm flipH="1" flipV="1">
                <a:off x="2806667" y="5113668"/>
                <a:ext cx="0" cy="28453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5" name="Text Box 75"/>
              <p:cNvSpPr txBox="1">
                <a:spLocks noChangeArrowheads="1"/>
              </p:cNvSpPr>
              <p:nvPr/>
            </p:nvSpPr>
            <p:spPr bwMode="auto">
              <a:xfrm>
                <a:off x="3059705" y="5139702"/>
                <a:ext cx="1046237" cy="265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000" b="0">
                    <a:latin typeface="현대하모니 L"/>
                    <a:ea typeface="현대하모니 L"/>
                  </a:rPr>
                  <a:t>Solder Fill</a:t>
                </a:r>
              </a:p>
            </p:txBody>
          </p:sp>
          <p:sp>
            <p:nvSpPr>
              <p:cNvPr id="46" name="Line 76"/>
              <p:cNvSpPr>
                <a:spLocks noChangeShapeType="1"/>
              </p:cNvSpPr>
              <p:nvPr/>
            </p:nvSpPr>
            <p:spPr bwMode="auto">
              <a:xfrm>
                <a:off x="2463672" y="4583689"/>
                <a:ext cx="2322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49" name="Line 77"/>
              <p:cNvSpPr>
                <a:spLocks noChangeShapeType="1"/>
              </p:cNvSpPr>
              <p:nvPr/>
            </p:nvSpPr>
            <p:spPr bwMode="auto">
              <a:xfrm>
                <a:off x="2915916" y="4577435"/>
                <a:ext cx="2322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51" name="Text Box 78"/>
              <p:cNvSpPr txBox="1">
                <a:spLocks noChangeArrowheads="1"/>
              </p:cNvSpPr>
              <p:nvPr/>
            </p:nvSpPr>
            <p:spPr bwMode="auto">
              <a:xfrm>
                <a:off x="3038342" y="3521218"/>
                <a:ext cx="1065838" cy="5118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ko-KR" altLang="en-US" sz="1000" b="0" dirty="0">
                    <a:latin typeface="현대하모니 L"/>
                    <a:ea typeface="현대하모니 L"/>
                  </a:rPr>
                  <a:t>부품 </a:t>
                </a:r>
                <a:r>
                  <a:rPr lang="en-US" altLang="ko-KR" sz="1000" b="0" dirty="0">
                    <a:latin typeface="현대하모니 L"/>
                    <a:ea typeface="현대하모니 L"/>
                  </a:rPr>
                  <a:t>or </a:t>
                </a:r>
              </a:p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000" b="0" dirty="0">
                    <a:latin typeface="현대하모니 L"/>
                    <a:ea typeface="현대하모니 L"/>
                  </a:rPr>
                  <a:t>connector</a:t>
                </a:r>
              </a:p>
            </p:txBody>
          </p:sp>
        </p:grpSp>
        <p:pic>
          <p:nvPicPr>
            <p:cNvPr id="52" name="Picture 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27" t="5966" r="14771"/>
            <a:stretch>
              <a:fillRect/>
            </a:stretch>
          </p:blipFill>
          <p:spPr bwMode="auto">
            <a:xfrm>
              <a:off x="2142961" y="3573016"/>
              <a:ext cx="1385761" cy="1133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" name="Picture 6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97" r="36595"/>
            <a:stretch>
              <a:fillRect/>
            </a:stretch>
          </p:blipFill>
          <p:spPr bwMode="auto">
            <a:xfrm>
              <a:off x="2072680" y="4803380"/>
              <a:ext cx="1526323" cy="947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Oval 63"/>
            <p:cNvSpPr>
              <a:spLocks noChangeArrowheads="1"/>
            </p:cNvSpPr>
            <p:nvPr/>
          </p:nvSpPr>
          <p:spPr bwMode="auto">
            <a:xfrm>
              <a:off x="2627290" y="4085656"/>
              <a:ext cx="762398" cy="489615"/>
            </a:xfrm>
            <a:prstGeom prst="ellipse">
              <a:avLst/>
            </a:prstGeom>
            <a:noFill/>
            <a:ln w="1905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5258" tIns="27629" rIns="55258" bIns="27629" anchor="ctr">
              <a:spAutoFit/>
            </a:bodyPr>
            <a:lstStyle/>
            <a:p>
              <a:endParaRPr lang="ko-KR" altLang="en-US" b="0">
                <a:latin typeface="현대하모니 L"/>
                <a:ea typeface="현대하모니 L"/>
              </a:endParaRPr>
            </a:p>
          </p:txBody>
        </p:sp>
        <p:sp>
          <p:nvSpPr>
            <p:cNvPr id="67" name="Oval 64"/>
            <p:cNvSpPr>
              <a:spLocks noChangeArrowheads="1"/>
            </p:cNvSpPr>
            <p:nvPr/>
          </p:nvSpPr>
          <p:spPr bwMode="auto">
            <a:xfrm>
              <a:off x="2072680" y="5009601"/>
              <a:ext cx="1177973" cy="489615"/>
            </a:xfrm>
            <a:prstGeom prst="ellipse">
              <a:avLst/>
            </a:prstGeom>
            <a:noFill/>
            <a:ln w="1905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5258" tIns="27629" rIns="55258" bIns="27629" anchor="ctr">
              <a:spAutoFit/>
            </a:bodyPr>
            <a:lstStyle/>
            <a:p>
              <a:endParaRPr lang="ko-KR" altLang="en-US" b="0">
                <a:latin typeface="현대하모니 L"/>
                <a:ea typeface="현대하모니 L"/>
              </a:endParaRPr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662354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커넥터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14932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[35]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Lead Type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커넥터 및 헤더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(Header)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사이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충분히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이격하여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(B≥0.9mm)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1.4mm</a:t>
                      </a:r>
                      <a:r>
                        <a:rPr lang="en-US" altLang="ko-KR" sz="1000" baseline="0" dirty="0" smtClean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현대하모니 L"/>
                          <a:ea typeface="현대하모니 L"/>
                        </a:rPr>
                        <a:t>이상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커넥터 핀의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Pitch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간 최소 거리를 유지하도록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(A≥2.54mm)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현대하모니 L"/>
                          <a:ea typeface="현대하모니 L"/>
                        </a:rPr>
                        <a:t>CONNECTOR</a:t>
                      </a:r>
                      <a:r>
                        <a:rPr lang="en-US" altLang="ko-KR" sz="1000" baseline="0" dirty="0" smtClean="0">
                          <a:latin typeface="현대하모니 L"/>
                          <a:ea typeface="현대하모니 L"/>
                        </a:rPr>
                        <a:t> 3.5mm</a:t>
                      </a:r>
                      <a:endParaRPr lang="ko-KR" altLang="en-US" sz="1000" dirty="0" smtClean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사이에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Silk(Solder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댐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위에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Silk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도포되지 않았는가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내부 커넥터의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전자유니트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내장용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커넥터 신뢰성 규격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(ES91500-03)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을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규격 및 사양 비교 자료 첨부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6) Human error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방지하기 위해 자동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납땜기에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의한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솔더링을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실시하였는가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브릿지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9" name="그림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45" y="4077072"/>
            <a:ext cx="3227111" cy="195966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695824" y="4705853"/>
            <a:ext cx="13681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b="0" dirty="0" smtClean="0">
                <a:solidFill>
                  <a:srgbClr val="FF0000"/>
                </a:solidFill>
                <a:latin typeface="현대하모니 L"/>
                <a:ea typeface="현대하모니 L"/>
              </a:rPr>
              <a:t>A : 3.5mm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133" y="3983867"/>
            <a:ext cx="2369814" cy="72198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049616" y="52793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133" y="5059278"/>
            <a:ext cx="1286380" cy="139391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441873" y="5118656"/>
            <a:ext cx="13681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b="0" dirty="0" smtClean="0">
                <a:solidFill>
                  <a:srgbClr val="FF0000"/>
                </a:solidFill>
                <a:latin typeface="현대하모니 L"/>
                <a:ea typeface="현대하모니 L"/>
              </a:rPr>
              <a:t>B : 1.5mm</a:t>
            </a:r>
            <a:endParaRPr lang="en-US" altLang="ko-KR" sz="1000" b="0" dirty="0" smtClean="0">
              <a:solidFill>
                <a:srgbClr val="FF0000"/>
              </a:solidFill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2129215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896792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Lead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타입 커넥터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커넥터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pin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사이의 공간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확보하였는가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(d1 ≥2.54mm)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커넥터는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PCB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 최대한 밀착시켜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마운팅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-</a:t>
                      </a:r>
                      <a:endParaRPr lang="ko-KR" altLang="en-US" sz="1000" kern="12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커넥터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pin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아래에 부품 배치를 금지하였는가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d1〈 2.54mm</a:t>
                      </a:r>
                      <a:r>
                        <a:rPr lang="ko-KR" altLang="en-US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인 경우</a:t>
                      </a:r>
                      <a:r>
                        <a:rPr lang="en-US" altLang="ko-KR" sz="1000" strike="noStrike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커넥터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pin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아래에 다른 신호선의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Via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금지하였는가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d1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〈 2.54mm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인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커넥터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pin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주변을 실크 처리하였는가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수분 유입 등에 의한 쇼트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377130" y="3627562"/>
            <a:ext cx="3251151" cy="2304648"/>
            <a:chOff x="405705" y="3627562"/>
            <a:chExt cx="3251151" cy="2304648"/>
          </a:xfrm>
        </p:grpSpPr>
        <p:pic>
          <p:nvPicPr>
            <p:cNvPr id="19" name="Picture 2" descr="C:\Users\2652225\Desktop\16_업무계획\01_체크시트\01_connector 주변소자배치(작성중)\소자및비아금지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05" y="4836187"/>
              <a:ext cx="1536700" cy="1047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1464865" y="5164955"/>
              <a:ext cx="42722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하모니 L"/>
                  <a:ea typeface="현대하모니 L"/>
                </a:rPr>
                <a:t>4)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/>
                <a:ea typeface="현대하모니 L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467607" y="4980433"/>
              <a:ext cx="42722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하모니 L"/>
                  <a:ea typeface="현대하모니 L"/>
                </a:rPr>
                <a:t>3)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/>
                <a:ea typeface="현대하모니 L"/>
              </a:endParaRPr>
            </a:p>
          </p:txBody>
        </p:sp>
        <p:pic>
          <p:nvPicPr>
            <p:cNvPr id="22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1889" y="3627562"/>
              <a:ext cx="1594967" cy="990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286575" y="4262899"/>
              <a:ext cx="30489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하모니 L"/>
                  <a:ea typeface="현대하모니 L"/>
                </a:rPr>
                <a:t>2)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/>
                <a:ea typeface="현대하모니 L"/>
              </a:endParaRPr>
            </a:p>
          </p:txBody>
        </p:sp>
        <p:pic>
          <p:nvPicPr>
            <p:cNvPr id="24" name="Picture 4" descr="C:\Users\2652225\Desktop\16_업무계획\01_체크시트\01_connector 주변소자배치(작성중)\거리기준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897" y="4938031"/>
              <a:ext cx="1422441" cy="939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493937" y="4653136"/>
              <a:ext cx="556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&lt;NG&gt;</a:t>
              </a:r>
              <a:endParaRPr lang="ko-KR" altLang="en-US" sz="12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601" y="3645024"/>
              <a:ext cx="1472272" cy="1094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직사각형 17"/>
            <p:cNvSpPr/>
            <p:nvPr/>
          </p:nvSpPr>
          <p:spPr>
            <a:xfrm>
              <a:off x="1206455" y="3974867"/>
              <a:ext cx="30489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현대하모니 L"/>
                  <a:ea typeface="현대하모니 L"/>
                </a:rPr>
                <a:t>1)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/>
                <a:ea typeface="현대하모니 L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123107" y="4888210"/>
              <a:ext cx="1476000" cy="1044000"/>
            </a:xfrm>
            <a:prstGeom prst="rect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27" name="제목 1"/>
          <p:cNvSpPr>
            <a:spLocks/>
          </p:cNvSpPr>
          <p:nvPr/>
        </p:nvSpPr>
        <p:spPr bwMode="auto">
          <a:xfrm>
            <a:off x="273050" y="232847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커넥터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2520403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커넥터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3817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[37]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와이어 </a:t>
                      </a:r>
                      <a:r>
                        <a:rPr lang="ko-KR" altLang="en-US" sz="1200" b="1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수납부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설계 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(PQR 38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번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. 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원칙적으로 </a:t>
                      </a:r>
                      <a:r>
                        <a:rPr lang="ko-KR" altLang="en-US" sz="1200" b="1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수납땜</a:t>
                      </a:r>
                      <a:r>
                        <a:rPr lang="ko-KR" altLang="en-US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금지</a:t>
                      </a:r>
                      <a:r>
                        <a:rPr lang="en-US" altLang="ko-KR" sz="1200" b="1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ko-KR" altLang="en-US" sz="1200" b="1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사이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절연피복두께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따라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피복두께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2㎜ 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2×d3,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피복두께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(d3) ≥ 2㎜ :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＞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d3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사이 최소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(w)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보다 넓게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?(d1≥w)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Land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(w)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심선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굵기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(d2)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배 이상이 되도록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(w≥2×d2)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Land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주위에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via hole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을 배치할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Land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최소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거리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(d1)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보다 멀리 배치하였는가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와이어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솔더링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시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과납으로 인한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solder bridge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발생하지 않도록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커넥터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미적용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사유 첨부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과납에 의한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브릿지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416496" y="3718716"/>
            <a:ext cx="3312368" cy="2374580"/>
            <a:chOff x="344488" y="3718716"/>
            <a:chExt cx="3312368" cy="2374580"/>
          </a:xfrm>
        </p:grpSpPr>
        <p:sp>
          <p:nvSpPr>
            <p:cNvPr id="104" name="Text Box 92"/>
            <p:cNvSpPr txBox="1">
              <a:spLocks noChangeArrowheads="1"/>
            </p:cNvSpPr>
            <p:nvPr/>
          </p:nvSpPr>
          <p:spPr bwMode="auto">
            <a:xfrm>
              <a:off x="829923" y="3718716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105" name="Text Box 93"/>
            <p:cNvSpPr txBox="1">
              <a:spLocks noChangeArrowheads="1"/>
            </p:cNvSpPr>
            <p:nvPr/>
          </p:nvSpPr>
          <p:spPr bwMode="auto">
            <a:xfrm>
              <a:off x="2539297" y="3719198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344488" y="4005733"/>
              <a:ext cx="1707395" cy="2087563"/>
              <a:chOff x="344488" y="4005733"/>
              <a:chExt cx="1707395" cy="2087563"/>
            </a:xfrm>
          </p:grpSpPr>
          <p:sp>
            <p:nvSpPr>
              <p:cNvPr id="78" name="Rectangle 203"/>
              <p:cNvSpPr>
                <a:spLocks noChangeArrowheads="1"/>
              </p:cNvSpPr>
              <p:nvPr/>
            </p:nvSpPr>
            <p:spPr bwMode="auto">
              <a:xfrm>
                <a:off x="396884" y="4150196"/>
                <a:ext cx="408053" cy="6445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79" name="Rectangle 204"/>
              <p:cNvSpPr>
                <a:spLocks noChangeArrowheads="1"/>
              </p:cNvSpPr>
              <p:nvPr/>
            </p:nvSpPr>
            <p:spPr bwMode="auto">
              <a:xfrm>
                <a:off x="1399316" y="4150196"/>
                <a:ext cx="406465" cy="6445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0" name="Text Box 205"/>
              <p:cNvSpPr txBox="1">
                <a:spLocks noChangeArrowheads="1"/>
              </p:cNvSpPr>
              <p:nvPr/>
            </p:nvSpPr>
            <p:spPr bwMode="auto">
              <a:xfrm>
                <a:off x="848544" y="4005733"/>
                <a:ext cx="523959" cy="246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d1</a:t>
                </a:r>
              </a:p>
            </p:txBody>
          </p:sp>
          <p:sp>
            <p:nvSpPr>
              <p:cNvPr id="81" name="Line 206"/>
              <p:cNvSpPr>
                <a:spLocks noChangeShapeType="1"/>
              </p:cNvSpPr>
              <p:nvPr/>
            </p:nvSpPr>
            <p:spPr bwMode="auto">
              <a:xfrm>
                <a:off x="819348" y="4221088"/>
                <a:ext cx="57600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2" name="Rectangle 207"/>
              <p:cNvSpPr>
                <a:spLocks noChangeArrowheads="1"/>
              </p:cNvSpPr>
              <p:nvPr/>
            </p:nvSpPr>
            <p:spPr bwMode="auto">
              <a:xfrm>
                <a:off x="455631" y="4794721"/>
                <a:ext cx="290559" cy="1227138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Rectangle 208"/>
              <p:cNvSpPr>
                <a:spLocks noChangeArrowheads="1"/>
              </p:cNvSpPr>
              <p:nvPr/>
            </p:nvSpPr>
            <p:spPr bwMode="auto">
              <a:xfrm>
                <a:off x="1458063" y="4794721"/>
                <a:ext cx="290559" cy="1227138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4" name="Oval 209"/>
              <p:cNvSpPr>
                <a:spLocks noChangeArrowheads="1"/>
              </p:cNvSpPr>
              <p:nvPr/>
            </p:nvSpPr>
            <p:spPr bwMode="auto">
              <a:xfrm>
                <a:off x="1051597" y="4475633"/>
                <a:ext cx="180000" cy="18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5" name="Rectangle 210"/>
              <p:cNvSpPr>
                <a:spLocks noChangeArrowheads="1"/>
              </p:cNvSpPr>
              <p:nvPr/>
            </p:nvSpPr>
            <p:spPr bwMode="auto">
              <a:xfrm>
                <a:off x="1108757" y="4653136"/>
                <a:ext cx="57159" cy="973138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6" name="Text Box 211"/>
              <p:cNvSpPr txBox="1">
                <a:spLocks noChangeArrowheads="1"/>
              </p:cNvSpPr>
              <p:nvPr/>
            </p:nvSpPr>
            <p:spPr bwMode="auto">
              <a:xfrm>
                <a:off x="1396140" y="4393083"/>
                <a:ext cx="431869" cy="246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b="0" kern="0" dirty="0">
                    <a:solidFill>
                      <a:srgbClr val="000000"/>
                    </a:solidFill>
                    <a:latin typeface="현대하모니 L"/>
                    <a:ea typeface="현대하모니 L"/>
                  </a:rPr>
                  <a:t>w</a:t>
                </a:r>
                <a:endParaRPr kumimoji="1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7" name="Line 212"/>
              <p:cNvSpPr>
                <a:spLocks noChangeShapeType="1"/>
              </p:cNvSpPr>
              <p:nvPr/>
            </p:nvSpPr>
            <p:spPr bwMode="auto">
              <a:xfrm>
                <a:off x="1405667" y="4421790"/>
                <a:ext cx="42234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8" name="Line 213"/>
              <p:cNvSpPr>
                <a:spLocks noChangeShapeType="1"/>
              </p:cNvSpPr>
              <p:nvPr/>
            </p:nvSpPr>
            <p:spPr bwMode="auto">
              <a:xfrm>
                <a:off x="458806" y="5069358"/>
                <a:ext cx="287384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89" name="Text Box 214"/>
              <p:cNvSpPr txBox="1">
                <a:spLocks noChangeArrowheads="1"/>
              </p:cNvSpPr>
              <p:nvPr/>
            </p:nvSpPr>
            <p:spPr bwMode="auto">
              <a:xfrm>
                <a:off x="1383438" y="4853458"/>
                <a:ext cx="436632" cy="215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심선</a:t>
                </a:r>
                <a:endParaRPr kumimoji="1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0" name="Line 215"/>
              <p:cNvSpPr>
                <a:spLocks noChangeShapeType="1"/>
              </p:cNvSpPr>
              <p:nvPr/>
            </p:nvSpPr>
            <p:spPr bwMode="auto">
              <a:xfrm>
                <a:off x="999875" y="4437533"/>
                <a:ext cx="287384" cy="28733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1" name="Line 216"/>
              <p:cNvSpPr>
                <a:spLocks noChangeShapeType="1"/>
              </p:cNvSpPr>
              <p:nvPr/>
            </p:nvSpPr>
            <p:spPr bwMode="auto">
              <a:xfrm flipH="1">
                <a:off x="973798" y="4437533"/>
                <a:ext cx="287384" cy="28733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5258" tIns="27629" rIns="55258" bIns="27629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4" name="Rectangle 217"/>
              <p:cNvSpPr>
                <a:spLocks noChangeArrowheads="1"/>
              </p:cNvSpPr>
              <p:nvPr/>
            </p:nvSpPr>
            <p:spPr bwMode="auto">
              <a:xfrm>
                <a:off x="1351683" y="5158258"/>
                <a:ext cx="504906" cy="935038"/>
              </a:xfrm>
              <a:prstGeom prst="rect">
                <a:avLst/>
              </a:prstGeom>
              <a:solidFill>
                <a:srgbClr val="99CC00"/>
              </a:solidFill>
              <a:ln w="12700" algn="ctr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6" name="Rectangle 219"/>
              <p:cNvSpPr>
                <a:spLocks noChangeArrowheads="1"/>
              </p:cNvSpPr>
              <p:nvPr/>
            </p:nvSpPr>
            <p:spPr bwMode="auto">
              <a:xfrm>
                <a:off x="344488" y="5158258"/>
                <a:ext cx="504906" cy="935038"/>
              </a:xfrm>
              <a:prstGeom prst="rect">
                <a:avLst/>
              </a:prstGeom>
              <a:solidFill>
                <a:srgbClr val="99CC00"/>
              </a:solidFill>
              <a:ln w="12700" algn="ctr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lIns="55258" tIns="27629" rIns="55258" bIns="27629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7" name="Line 220"/>
              <p:cNvSpPr>
                <a:spLocks noChangeShapeType="1"/>
              </p:cNvSpPr>
              <p:nvPr/>
            </p:nvSpPr>
            <p:spPr bwMode="auto">
              <a:xfrm>
                <a:off x="344488" y="5590058"/>
                <a:ext cx="50490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8" name="Rectangle 221"/>
              <p:cNvSpPr>
                <a:spLocks noChangeArrowheads="1"/>
              </p:cNvSpPr>
              <p:nvPr/>
            </p:nvSpPr>
            <p:spPr bwMode="auto">
              <a:xfrm>
                <a:off x="999747" y="4299434"/>
                <a:ext cx="283117" cy="20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>
                <a:spAutoFit/>
              </a:bodyPr>
              <a:lstStyle/>
              <a:p>
                <a:pPr marL="0" marR="0" lvl="0" indent="0" algn="ctr" defTabSz="958850" eaLnBrk="1" fontAlgn="ctr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kern="0" dirty="0">
                    <a:solidFill>
                      <a:srgbClr val="000000"/>
                    </a:solidFill>
                    <a:latin typeface="현대하모니 L"/>
                    <a:ea typeface="현대하모니 L"/>
                  </a:rPr>
                  <a:t>via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99" name="Text Box 222"/>
              <p:cNvSpPr txBox="1">
                <a:spLocks noChangeArrowheads="1"/>
              </p:cNvSpPr>
              <p:nvPr/>
            </p:nvSpPr>
            <p:spPr bwMode="auto">
              <a:xfrm>
                <a:off x="1135749" y="5646050"/>
                <a:ext cx="916134" cy="215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 </a:t>
                </a:r>
                <a:r>
                  <a:rPr kumimoji="1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절연피복 </a:t>
                </a:r>
              </a:p>
            </p:txBody>
          </p:sp>
          <p:sp>
            <p:nvSpPr>
              <p:cNvPr id="100" name="Text Box 224"/>
              <p:cNvSpPr txBox="1">
                <a:spLocks noChangeArrowheads="1"/>
              </p:cNvSpPr>
              <p:nvPr/>
            </p:nvSpPr>
            <p:spPr bwMode="auto">
              <a:xfrm>
                <a:off x="395296" y="4391496"/>
                <a:ext cx="431869" cy="246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w</a:t>
                </a:r>
              </a:p>
            </p:txBody>
          </p:sp>
          <p:sp>
            <p:nvSpPr>
              <p:cNvPr id="101" name="Line 225"/>
              <p:cNvSpPr>
                <a:spLocks noChangeShapeType="1"/>
              </p:cNvSpPr>
              <p:nvPr/>
            </p:nvSpPr>
            <p:spPr bwMode="auto">
              <a:xfrm>
                <a:off x="404823" y="4421790"/>
                <a:ext cx="42234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현대하모니 L"/>
                  <a:ea typeface="현대하모니 L"/>
                </a:endParaRPr>
              </a:p>
            </p:txBody>
          </p:sp>
          <p:sp>
            <p:nvSpPr>
              <p:cNvPr id="102" name="Text Box 226"/>
              <p:cNvSpPr txBox="1">
                <a:spLocks noChangeArrowheads="1"/>
              </p:cNvSpPr>
              <p:nvPr/>
            </p:nvSpPr>
            <p:spPr bwMode="auto">
              <a:xfrm>
                <a:off x="396884" y="5307483"/>
                <a:ext cx="431869" cy="246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d3</a:t>
                </a:r>
              </a:p>
            </p:txBody>
          </p:sp>
          <p:sp>
            <p:nvSpPr>
              <p:cNvPr id="106" name="Text Box 226"/>
              <p:cNvSpPr txBox="1">
                <a:spLocks noChangeArrowheads="1"/>
              </p:cNvSpPr>
              <p:nvPr/>
            </p:nvSpPr>
            <p:spPr bwMode="auto">
              <a:xfrm>
                <a:off x="395387" y="4781830"/>
                <a:ext cx="431869" cy="246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현대하모니 L"/>
                    <a:ea typeface="현대하모니 L"/>
                  </a:rPr>
                  <a:t>d2</a:t>
                </a:r>
              </a:p>
            </p:txBody>
          </p:sp>
        </p:grpSp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0664" y="4122638"/>
              <a:ext cx="1536192" cy="1676400"/>
            </a:xfrm>
            <a:prstGeom prst="rect">
              <a:avLst/>
            </a:prstGeom>
          </p:spPr>
        </p:pic>
      </p:grpSp>
      <p:sp>
        <p:nvSpPr>
          <p:cNvPr id="39" name="직사각형 38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427141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803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커넥터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31775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[38]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Press-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F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Drilled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Hole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직경은 공정 편차 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Press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Fit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제조사의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권장안을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고려하여 최적 설계하였는가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표면처리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Hole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직경은 공정 편차 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Press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Fit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제조사의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권장안을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고려하여 최적 설계하였는가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Hole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간 최소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Pitch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간격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PCB Edge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거리는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Press fit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종류별 제조사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권장안을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고려하여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설계하였는가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Hole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동도금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두께는 공정 편차를 고려하여 최소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25um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양산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조건에서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Microsection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을 통해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Press fit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적합성을 검증하였는가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(IEC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60352-5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참조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※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적용된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Press fit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종류별 근거 자료 첨부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1. Press fit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제조사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권장안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 실제 설계 사양 첨부</a:t>
                      </a:r>
                      <a:endParaRPr lang="en-US" altLang="ko-KR" sz="1000" baseline="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- Drill hole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직경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공정 편차</a:t>
                      </a:r>
                      <a:endParaRPr lang="en-US" altLang="ko-KR" sz="1000" baseline="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표면처리 후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hole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직경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공정 편차</a:t>
                      </a:r>
                      <a:endParaRPr lang="en-US" altLang="ko-KR" sz="1000" baseline="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- pitch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간격</a:t>
                      </a:r>
                      <a:endParaRPr lang="en-US" altLang="ko-KR" sz="1000" baseline="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-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표면처리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2. </a:t>
                      </a:r>
                      <a:r>
                        <a:rPr lang="en-US" altLang="ko-KR" sz="1000" dirty="0" err="1">
                          <a:latin typeface="현대하모니 L"/>
                          <a:ea typeface="현대하모니 L"/>
                        </a:rPr>
                        <a:t>Microsection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결과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Press fit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신뢰성 확보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944888" y="5415027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897216" y="5373216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91" name="그룹 90"/>
          <p:cNvGrpSpPr/>
          <p:nvPr/>
        </p:nvGrpSpPr>
        <p:grpSpPr>
          <a:xfrm>
            <a:off x="280379" y="3717032"/>
            <a:ext cx="3592501" cy="2304256"/>
            <a:chOff x="280379" y="3717032"/>
            <a:chExt cx="3592501" cy="2304256"/>
          </a:xfrm>
        </p:grpSpPr>
        <p:grpSp>
          <p:nvGrpSpPr>
            <p:cNvPr id="68" name="그룹 67"/>
            <p:cNvGrpSpPr/>
            <p:nvPr/>
          </p:nvGrpSpPr>
          <p:grpSpPr>
            <a:xfrm>
              <a:off x="280379" y="4044340"/>
              <a:ext cx="1504269" cy="1688916"/>
              <a:chOff x="5032907" y="1985144"/>
              <a:chExt cx="1504269" cy="1688916"/>
            </a:xfrm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5385048" y="2220229"/>
                <a:ext cx="972000" cy="468000"/>
              </a:xfrm>
              <a:prstGeom prst="roundRect">
                <a:avLst/>
              </a:prstGeom>
              <a:noFill/>
              <a:ln w="57150">
                <a:solidFill>
                  <a:schemeClr val="accent6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5385048" y="1985144"/>
                <a:ext cx="936000" cy="9360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6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5404098" y="2245122"/>
                <a:ext cx="936000" cy="43200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 w="3810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72" name="타원 71"/>
              <p:cNvSpPr/>
              <p:nvPr/>
            </p:nvSpPr>
            <p:spPr>
              <a:xfrm>
                <a:off x="5399848" y="2014240"/>
                <a:ext cx="900000" cy="900000"/>
              </a:xfrm>
              <a:prstGeom prst="ellipse">
                <a:avLst/>
              </a:prstGeom>
              <a:noFill/>
              <a:ln w="12700">
                <a:solidFill>
                  <a:srgbClr val="0000FF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cxnSp>
            <p:nvCxnSpPr>
              <p:cNvPr id="73" name="직선 연결선 72"/>
              <p:cNvCxnSpPr/>
              <p:nvPr/>
            </p:nvCxnSpPr>
            <p:spPr>
              <a:xfrm flipH="1">
                <a:off x="5980162" y="2139588"/>
                <a:ext cx="504056" cy="1145396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연결선 73"/>
              <p:cNvCxnSpPr/>
              <p:nvPr/>
            </p:nvCxnSpPr>
            <p:spPr>
              <a:xfrm flipH="1">
                <a:off x="6033120" y="2145938"/>
                <a:ext cx="504056" cy="1145396"/>
              </a:xfrm>
              <a:prstGeom prst="line">
                <a:avLst/>
              </a:prstGeom>
              <a:ln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/>
              <p:cNvCxnSpPr/>
              <p:nvPr/>
            </p:nvCxnSpPr>
            <p:spPr>
              <a:xfrm flipV="1">
                <a:off x="5241032" y="2677122"/>
                <a:ext cx="144016" cy="33583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75"/>
              <p:cNvSpPr txBox="1"/>
              <p:nvPr/>
            </p:nvSpPr>
            <p:spPr>
              <a:xfrm>
                <a:off x="5032907" y="2975466"/>
                <a:ext cx="78418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0" dirty="0">
                    <a:latin typeface="현대하모니 L"/>
                    <a:ea typeface="현대하모니 L"/>
                  </a:rPr>
                  <a:t>홀 도금의 </a:t>
                </a:r>
                <a:endParaRPr lang="en-US" altLang="ko-KR" sz="800" b="0" dirty="0">
                  <a:latin typeface="현대하모니 L"/>
                  <a:ea typeface="현대하모니 L"/>
                </a:endParaRPr>
              </a:p>
              <a:p>
                <a:r>
                  <a:rPr lang="ko-KR" altLang="en-US" sz="800" b="0" dirty="0">
                    <a:latin typeface="현대하모니 L"/>
                    <a:ea typeface="현대하모니 L"/>
                  </a:rPr>
                  <a:t>최소 유지 두께</a:t>
                </a:r>
                <a:endParaRPr lang="en-US" altLang="ko-KR" sz="800" b="0" dirty="0">
                  <a:latin typeface="현대하모니 L"/>
                  <a:ea typeface="현대하모니 L"/>
                </a:endParaRPr>
              </a:p>
              <a:p>
                <a:r>
                  <a:rPr lang="en-US" altLang="ko-KR" sz="800" b="0" dirty="0">
                    <a:latin typeface="현대하모니 L"/>
                    <a:ea typeface="현대하모니 L"/>
                  </a:rPr>
                  <a:t>B </a:t>
                </a:r>
                <a:r>
                  <a:rPr lang="ko-KR" altLang="en-US" sz="800" b="0" dirty="0">
                    <a:latin typeface="현대하모니 L"/>
                    <a:ea typeface="현대하모니 L"/>
                  </a:rPr>
                  <a:t>＞ </a:t>
                </a:r>
                <a:r>
                  <a:rPr lang="en-US" altLang="ko-KR" sz="800" b="0" dirty="0">
                    <a:latin typeface="현대하모니 L"/>
                    <a:ea typeface="현대하모니 L"/>
                  </a:rPr>
                  <a:t>8</a:t>
                </a:r>
                <a:r>
                  <a:rPr lang="ko-KR" altLang="en-US" sz="800" b="0" dirty="0">
                    <a:latin typeface="현대하모니 L"/>
                    <a:ea typeface="현대하모니 L"/>
                  </a:rPr>
                  <a:t>㎛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752987" y="3335506"/>
                <a:ext cx="78418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0" dirty="0">
                    <a:latin typeface="현대하모니 L"/>
                    <a:ea typeface="현대하모니 L"/>
                  </a:rPr>
                  <a:t>홀의 외형 변형</a:t>
                </a:r>
                <a:endParaRPr lang="en-US" altLang="ko-KR" sz="800" b="0" dirty="0">
                  <a:latin typeface="현대하모니 L"/>
                  <a:ea typeface="현대하모니 L"/>
                </a:endParaRPr>
              </a:p>
              <a:p>
                <a:r>
                  <a:rPr lang="en-US" altLang="ko-KR" sz="800" b="0" dirty="0">
                    <a:latin typeface="현대하모니 L"/>
                    <a:ea typeface="현대하모니 L"/>
                  </a:rPr>
                  <a:t>A &lt;</a:t>
                </a:r>
                <a:r>
                  <a:rPr lang="ko-KR" altLang="en-US" sz="800" b="0" dirty="0">
                    <a:latin typeface="현대하모니 L"/>
                    <a:ea typeface="현대하모니 L"/>
                  </a:rPr>
                  <a:t> </a:t>
                </a:r>
                <a:r>
                  <a:rPr lang="en-US" altLang="ko-KR" sz="800" b="0" dirty="0">
                    <a:latin typeface="현대하모니 L"/>
                    <a:ea typeface="현대하모니 L"/>
                  </a:rPr>
                  <a:t>70</a:t>
                </a:r>
                <a:r>
                  <a:rPr lang="ko-KR" altLang="en-US" sz="800" b="0" dirty="0">
                    <a:latin typeface="현대하모니 L"/>
                    <a:ea typeface="현대하모니 L"/>
                  </a:rPr>
                  <a:t>㎛</a:t>
                </a:r>
              </a:p>
            </p:txBody>
          </p:sp>
        </p:grpSp>
        <p:sp>
          <p:nvSpPr>
            <p:cNvPr id="84" name="TextBox 83"/>
            <p:cNvSpPr txBox="1"/>
            <p:nvPr/>
          </p:nvSpPr>
          <p:spPr>
            <a:xfrm>
              <a:off x="724819" y="5805264"/>
              <a:ext cx="192392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800" b="0" dirty="0">
                  <a:latin typeface="현대하모니 L"/>
                  <a:ea typeface="현대하모니 L"/>
                </a:rPr>
                <a:t>홀 </a:t>
              </a:r>
              <a:r>
                <a:rPr lang="ko-KR" altLang="en-US" sz="800" b="0" dirty="0" err="1">
                  <a:latin typeface="현대하모니 L"/>
                  <a:ea typeface="현대하모니 L"/>
                </a:rPr>
                <a:t>동도금</a:t>
              </a:r>
              <a:r>
                <a:rPr lang="ko-KR" altLang="en-US" sz="800" b="0" dirty="0">
                  <a:latin typeface="현대하모니 L"/>
                  <a:ea typeface="현대하모니 L"/>
                </a:rPr>
                <a:t> 부분과 홀 전체에 균열이 없을 것</a:t>
              </a:r>
              <a:endParaRPr lang="en-US" altLang="ko-KR" sz="800" b="0" dirty="0">
                <a:latin typeface="현대하모니 L"/>
                <a:ea typeface="현대하모니 L"/>
              </a:endParaRP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1748832" y="3717032"/>
              <a:ext cx="2124048" cy="2304256"/>
              <a:chOff x="1748832" y="3717032"/>
              <a:chExt cx="2124048" cy="2304256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1748832" y="3954542"/>
                <a:ext cx="2124048" cy="2066746"/>
                <a:chOff x="1742776" y="3954542"/>
                <a:chExt cx="2124048" cy="2066746"/>
              </a:xfrm>
            </p:grpSpPr>
            <p:grpSp>
              <p:nvGrpSpPr>
                <p:cNvPr id="15" name="그룹 14"/>
                <p:cNvGrpSpPr/>
                <p:nvPr/>
              </p:nvGrpSpPr>
              <p:grpSpPr>
                <a:xfrm>
                  <a:off x="2467991" y="3954542"/>
                  <a:ext cx="407939" cy="1584176"/>
                  <a:chOff x="2981677" y="1575460"/>
                  <a:chExt cx="407939" cy="1584176"/>
                </a:xfrm>
              </p:grpSpPr>
              <p:grpSp>
                <p:nvGrpSpPr>
                  <p:cNvPr id="50" name="그룹 49"/>
                  <p:cNvGrpSpPr/>
                  <p:nvPr/>
                </p:nvGrpSpPr>
                <p:grpSpPr>
                  <a:xfrm>
                    <a:off x="2981677" y="1575460"/>
                    <a:ext cx="407939" cy="1584176"/>
                    <a:chOff x="6105128" y="1340768"/>
                    <a:chExt cx="504056" cy="1944216"/>
                  </a:xfrm>
                </p:grpSpPr>
                <p:cxnSp>
                  <p:nvCxnSpPr>
                    <p:cNvPr id="60" name="직선 연결선 59"/>
                    <p:cNvCxnSpPr/>
                    <p:nvPr/>
                  </p:nvCxnSpPr>
                  <p:spPr>
                    <a:xfrm flipH="1">
                      <a:off x="6105128" y="1340768"/>
                      <a:ext cx="126014" cy="43204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1" name="직선 연결선 60"/>
                    <p:cNvCxnSpPr/>
                    <p:nvPr/>
                  </p:nvCxnSpPr>
                  <p:spPr>
                    <a:xfrm>
                      <a:off x="6105128" y="1772816"/>
                      <a:ext cx="0" cy="115212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2" name="직선 연결선 61"/>
                    <p:cNvCxnSpPr/>
                    <p:nvPr/>
                  </p:nvCxnSpPr>
                  <p:spPr>
                    <a:xfrm>
                      <a:off x="6105128" y="2924944"/>
                      <a:ext cx="126014" cy="36004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직선 연결선 62"/>
                    <p:cNvCxnSpPr/>
                    <p:nvPr/>
                  </p:nvCxnSpPr>
                  <p:spPr>
                    <a:xfrm>
                      <a:off x="6231142" y="1340768"/>
                      <a:ext cx="252029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직선 연결선 63"/>
                    <p:cNvCxnSpPr/>
                    <p:nvPr/>
                  </p:nvCxnSpPr>
                  <p:spPr>
                    <a:xfrm>
                      <a:off x="6483170" y="1340768"/>
                      <a:ext cx="126014" cy="43204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직선 연결선 64"/>
                    <p:cNvCxnSpPr/>
                    <p:nvPr/>
                  </p:nvCxnSpPr>
                  <p:spPr>
                    <a:xfrm>
                      <a:off x="6609184" y="1772816"/>
                      <a:ext cx="0" cy="115212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직선 연결선 65"/>
                    <p:cNvCxnSpPr/>
                    <p:nvPr/>
                  </p:nvCxnSpPr>
                  <p:spPr>
                    <a:xfrm flipH="1">
                      <a:off x="6483170" y="2924944"/>
                      <a:ext cx="126014" cy="36004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직선 연결선 66"/>
                    <p:cNvCxnSpPr/>
                    <p:nvPr/>
                  </p:nvCxnSpPr>
                  <p:spPr>
                    <a:xfrm>
                      <a:off x="6231142" y="3284984"/>
                      <a:ext cx="252028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1" name="그룹 50"/>
                  <p:cNvGrpSpPr/>
                  <p:nvPr/>
                </p:nvGrpSpPr>
                <p:grpSpPr>
                  <a:xfrm>
                    <a:off x="3111511" y="1897782"/>
                    <a:ext cx="153555" cy="1020812"/>
                    <a:chOff x="6105128" y="1340768"/>
                    <a:chExt cx="504056" cy="1944216"/>
                  </a:xfrm>
                </p:grpSpPr>
                <p:cxnSp>
                  <p:nvCxnSpPr>
                    <p:cNvPr id="52" name="직선 연결선 51"/>
                    <p:cNvCxnSpPr/>
                    <p:nvPr/>
                  </p:nvCxnSpPr>
                  <p:spPr>
                    <a:xfrm flipH="1">
                      <a:off x="6105128" y="1340768"/>
                      <a:ext cx="126014" cy="43204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직선 연결선 52"/>
                    <p:cNvCxnSpPr/>
                    <p:nvPr/>
                  </p:nvCxnSpPr>
                  <p:spPr>
                    <a:xfrm>
                      <a:off x="6105128" y="1772816"/>
                      <a:ext cx="0" cy="115212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직선 연결선 53"/>
                    <p:cNvCxnSpPr/>
                    <p:nvPr/>
                  </p:nvCxnSpPr>
                  <p:spPr>
                    <a:xfrm>
                      <a:off x="6105128" y="2924944"/>
                      <a:ext cx="126014" cy="36004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직선 연결선 54"/>
                    <p:cNvCxnSpPr/>
                    <p:nvPr/>
                  </p:nvCxnSpPr>
                  <p:spPr>
                    <a:xfrm>
                      <a:off x="6231142" y="1340768"/>
                      <a:ext cx="252029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직선 연결선 55"/>
                    <p:cNvCxnSpPr/>
                    <p:nvPr/>
                  </p:nvCxnSpPr>
                  <p:spPr>
                    <a:xfrm>
                      <a:off x="6483170" y="1340768"/>
                      <a:ext cx="126014" cy="43204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" name="직선 연결선 56"/>
                    <p:cNvCxnSpPr/>
                    <p:nvPr/>
                  </p:nvCxnSpPr>
                  <p:spPr>
                    <a:xfrm>
                      <a:off x="6609184" y="1772816"/>
                      <a:ext cx="0" cy="1152128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직선 연결선 57"/>
                    <p:cNvCxnSpPr/>
                    <p:nvPr/>
                  </p:nvCxnSpPr>
                  <p:spPr>
                    <a:xfrm flipH="1">
                      <a:off x="6483170" y="2924944"/>
                      <a:ext cx="126014" cy="36004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직선 연결선 58"/>
                    <p:cNvCxnSpPr/>
                    <p:nvPr/>
                  </p:nvCxnSpPr>
                  <p:spPr>
                    <a:xfrm>
                      <a:off x="6231142" y="3284984"/>
                      <a:ext cx="252028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6" name="TextBox 15"/>
                <p:cNvSpPr txBox="1"/>
                <p:nvPr/>
              </p:nvSpPr>
              <p:spPr>
                <a:xfrm>
                  <a:off x="3381482" y="4393322"/>
                  <a:ext cx="332142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800" b="0" dirty="0">
                      <a:latin typeface="현대하모니 L"/>
                      <a:ea typeface="현대하모니 L"/>
                    </a:rPr>
                    <a:t>0.3</a:t>
                  </a:r>
                  <a:endParaRPr lang="ko-KR" altLang="en-US" sz="800" b="0" dirty="0">
                    <a:latin typeface="현대하모니 L"/>
                    <a:ea typeface="현대하모니 L"/>
                  </a:endParaRPr>
                </a:p>
              </p:txBody>
            </p:sp>
            <p:grpSp>
              <p:nvGrpSpPr>
                <p:cNvPr id="17" name="그룹 16"/>
                <p:cNvGrpSpPr/>
                <p:nvPr/>
              </p:nvGrpSpPr>
              <p:grpSpPr>
                <a:xfrm>
                  <a:off x="1930254" y="4295914"/>
                  <a:ext cx="535186" cy="960884"/>
                  <a:chOff x="2443940" y="1916832"/>
                  <a:chExt cx="535186" cy="960884"/>
                </a:xfrm>
              </p:grpSpPr>
              <p:sp>
                <p:nvSpPr>
                  <p:cNvPr id="38" name="직사각형 37"/>
                  <p:cNvSpPr/>
                  <p:nvPr/>
                </p:nvSpPr>
                <p:spPr>
                  <a:xfrm>
                    <a:off x="2943126" y="1958554"/>
                    <a:ext cx="3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9" name="직사각형 38"/>
                  <p:cNvSpPr/>
                  <p:nvPr/>
                </p:nvSpPr>
                <p:spPr>
                  <a:xfrm>
                    <a:off x="2443940" y="1944992"/>
                    <a:ext cx="504000" cy="900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40" name="직사각형 39"/>
                  <p:cNvSpPr/>
                  <p:nvPr/>
                </p:nvSpPr>
                <p:spPr>
                  <a:xfrm>
                    <a:off x="2720752" y="2841716"/>
                    <a:ext cx="252000" cy="36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grpSp>
                <p:nvGrpSpPr>
                  <p:cNvPr id="41" name="그룹 40"/>
                  <p:cNvGrpSpPr/>
                  <p:nvPr/>
                </p:nvGrpSpPr>
                <p:grpSpPr>
                  <a:xfrm>
                    <a:off x="2636044" y="2204864"/>
                    <a:ext cx="318566" cy="47735"/>
                    <a:chOff x="2636044" y="2204864"/>
                    <a:chExt cx="318566" cy="47735"/>
                  </a:xfrm>
                </p:grpSpPr>
                <p:sp>
                  <p:nvSpPr>
                    <p:cNvPr id="48" name="직사각형 47"/>
                    <p:cNvSpPr/>
                    <p:nvPr/>
                  </p:nvSpPr>
                  <p:spPr>
                    <a:xfrm>
                      <a:off x="2636044" y="2204864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49" name="직사각형 48"/>
                    <p:cNvSpPr/>
                    <p:nvPr/>
                  </p:nvSpPr>
                  <p:spPr>
                    <a:xfrm rot="1171625">
                      <a:off x="2878202" y="2216599"/>
                      <a:ext cx="76408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grpSp>
                <p:nvGrpSpPr>
                  <p:cNvPr id="42" name="그룹 41"/>
                  <p:cNvGrpSpPr/>
                  <p:nvPr/>
                </p:nvGrpSpPr>
                <p:grpSpPr>
                  <a:xfrm>
                    <a:off x="2648744" y="2517169"/>
                    <a:ext cx="318566" cy="47735"/>
                    <a:chOff x="2636044" y="2204864"/>
                    <a:chExt cx="318566" cy="47735"/>
                  </a:xfrm>
                </p:grpSpPr>
                <p:sp>
                  <p:nvSpPr>
                    <p:cNvPr id="46" name="직사각형 45"/>
                    <p:cNvSpPr/>
                    <p:nvPr/>
                  </p:nvSpPr>
                  <p:spPr>
                    <a:xfrm>
                      <a:off x="2636044" y="2204864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47" name="직사각형 46"/>
                    <p:cNvSpPr/>
                    <p:nvPr/>
                  </p:nvSpPr>
                  <p:spPr>
                    <a:xfrm rot="1171625">
                      <a:off x="2878202" y="2216599"/>
                      <a:ext cx="76408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grpSp>
                <p:nvGrpSpPr>
                  <p:cNvPr id="43" name="그룹 42"/>
                  <p:cNvGrpSpPr/>
                  <p:nvPr/>
                </p:nvGrpSpPr>
                <p:grpSpPr>
                  <a:xfrm>
                    <a:off x="2648744" y="1916832"/>
                    <a:ext cx="318566" cy="47735"/>
                    <a:chOff x="2636044" y="2204864"/>
                    <a:chExt cx="318566" cy="47735"/>
                  </a:xfrm>
                </p:grpSpPr>
                <p:sp>
                  <p:nvSpPr>
                    <p:cNvPr id="44" name="직사각형 43"/>
                    <p:cNvSpPr/>
                    <p:nvPr/>
                  </p:nvSpPr>
                  <p:spPr>
                    <a:xfrm>
                      <a:off x="2636044" y="2204864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45" name="직사각형 44"/>
                    <p:cNvSpPr/>
                    <p:nvPr/>
                  </p:nvSpPr>
                  <p:spPr>
                    <a:xfrm rot="1171625">
                      <a:off x="2878202" y="2216599"/>
                      <a:ext cx="76408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</p:grpSp>
            <p:grpSp>
              <p:nvGrpSpPr>
                <p:cNvPr id="18" name="그룹 17"/>
                <p:cNvGrpSpPr/>
                <p:nvPr/>
              </p:nvGrpSpPr>
              <p:grpSpPr>
                <a:xfrm>
                  <a:off x="2885560" y="4301524"/>
                  <a:ext cx="540056" cy="966494"/>
                  <a:chOff x="3404856" y="1922442"/>
                  <a:chExt cx="540056" cy="966494"/>
                </a:xfrm>
              </p:grpSpPr>
              <p:sp>
                <p:nvSpPr>
                  <p:cNvPr id="24" name="직사각형 23"/>
                  <p:cNvSpPr/>
                  <p:nvPr/>
                </p:nvSpPr>
                <p:spPr>
                  <a:xfrm>
                    <a:off x="3404856" y="1977620"/>
                    <a:ext cx="36000" cy="900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5" name="직사각형 24"/>
                  <p:cNvSpPr/>
                  <p:nvPr/>
                </p:nvSpPr>
                <p:spPr>
                  <a:xfrm>
                    <a:off x="3440912" y="1952936"/>
                    <a:ext cx="504000" cy="900000"/>
                  </a:xfrm>
                  <a:prstGeom prst="rect">
                    <a:avLst/>
                  </a:prstGeom>
                  <a:solidFill>
                    <a:srgbClr val="92D050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8" name="직사각형 27"/>
                  <p:cNvSpPr/>
                  <p:nvPr/>
                </p:nvSpPr>
                <p:spPr>
                  <a:xfrm>
                    <a:off x="3404856" y="2852936"/>
                    <a:ext cx="252000" cy="36000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9050">
                    <a:noFill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</a:pP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grpSp>
                <p:nvGrpSpPr>
                  <p:cNvPr id="29" name="그룹 28"/>
                  <p:cNvGrpSpPr/>
                  <p:nvPr/>
                </p:nvGrpSpPr>
                <p:grpSpPr>
                  <a:xfrm>
                    <a:off x="3421114" y="2193644"/>
                    <a:ext cx="334878" cy="60596"/>
                    <a:chOff x="3421114" y="2193644"/>
                    <a:chExt cx="334878" cy="60596"/>
                  </a:xfrm>
                </p:grpSpPr>
                <p:sp>
                  <p:nvSpPr>
                    <p:cNvPr id="36" name="직사각형 35"/>
                    <p:cNvSpPr/>
                    <p:nvPr/>
                  </p:nvSpPr>
                  <p:spPr>
                    <a:xfrm>
                      <a:off x="3503992" y="2193644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7" name="직사각형 36"/>
                    <p:cNvSpPr/>
                    <p:nvPr/>
                  </p:nvSpPr>
                  <p:spPr>
                    <a:xfrm rot="19533079">
                      <a:off x="3421114" y="2218240"/>
                      <a:ext cx="108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grpSp>
                <p:nvGrpSpPr>
                  <p:cNvPr id="30" name="그룹 29"/>
                  <p:cNvGrpSpPr/>
                  <p:nvPr/>
                </p:nvGrpSpPr>
                <p:grpSpPr>
                  <a:xfrm>
                    <a:off x="3410816" y="2504308"/>
                    <a:ext cx="334878" cy="60596"/>
                    <a:chOff x="3573514" y="2476918"/>
                    <a:chExt cx="334878" cy="60596"/>
                  </a:xfrm>
                </p:grpSpPr>
                <p:sp>
                  <p:nvSpPr>
                    <p:cNvPr id="34" name="직사각형 33"/>
                    <p:cNvSpPr/>
                    <p:nvPr/>
                  </p:nvSpPr>
                  <p:spPr>
                    <a:xfrm>
                      <a:off x="3656392" y="2476918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5" name="직사각형 34"/>
                    <p:cNvSpPr/>
                    <p:nvPr/>
                  </p:nvSpPr>
                  <p:spPr>
                    <a:xfrm rot="19533079">
                      <a:off x="3573514" y="2501514"/>
                      <a:ext cx="108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grpSp>
                <p:nvGrpSpPr>
                  <p:cNvPr id="31" name="그룹 30"/>
                  <p:cNvGrpSpPr/>
                  <p:nvPr/>
                </p:nvGrpSpPr>
                <p:grpSpPr>
                  <a:xfrm>
                    <a:off x="3405206" y="1922442"/>
                    <a:ext cx="334878" cy="60596"/>
                    <a:chOff x="3573514" y="2207658"/>
                    <a:chExt cx="334878" cy="60596"/>
                  </a:xfrm>
                </p:grpSpPr>
                <p:sp>
                  <p:nvSpPr>
                    <p:cNvPr id="32" name="직사각형 31"/>
                    <p:cNvSpPr/>
                    <p:nvPr/>
                  </p:nvSpPr>
                  <p:spPr>
                    <a:xfrm>
                      <a:off x="3656392" y="2207658"/>
                      <a:ext cx="252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33" name="직사각형 32"/>
                    <p:cNvSpPr/>
                    <p:nvPr/>
                  </p:nvSpPr>
                  <p:spPr>
                    <a:xfrm rot="19533079">
                      <a:off x="3573514" y="2232254"/>
                      <a:ext cx="108000" cy="36000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9050">
                      <a:noFill/>
                    </a:ln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ko-KR" altLang="en-US" sz="1000" b="0" dirty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</p:grpSp>
            <p:cxnSp>
              <p:nvCxnSpPr>
                <p:cNvPr id="19" name="직선 연결선 18"/>
                <p:cNvCxnSpPr/>
                <p:nvPr/>
              </p:nvCxnSpPr>
              <p:spPr>
                <a:xfrm>
                  <a:off x="1742776" y="4499238"/>
                  <a:ext cx="1692000" cy="0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연결선 19"/>
                <p:cNvCxnSpPr/>
                <p:nvPr/>
              </p:nvCxnSpPr>
              <p:spPr>
                <a:xfrm flipH="1">
                  <a:off x="2932755" y="4883390"/>
                  <a:ext cx="540000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직선 연결선 20"/>
                <p:cNvCxnSpPr/>
                <p:nvPr/>
              </p:nvCxnSpPr>
              <p:spPr>
                <a:xfrm flipH="1">
                  <a:off x="2932755" y="4959474"/>
                  <a:ext cx="540000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/>
                <p:cNvSpPr txBox="1"/>
                <p:nvPr/>
              </p:nvSpPr>
              <p:spPr>
                <a:xfrm>
                  <a:off x="2983683" y="5344180"/>
                  <a:ext cx="87395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b="0" dirty="0">
                      <a:latin typeface="현대하모니 L"/>
                      <a:ea typeface="현대하모니 L"/>
                    </a:rPr>
                    <a:t>연결 패턴의 변형</a:t>
                  </a:r>
                  <a:endParaRPr lang="en-US" altLang="ko-KR" sz="800" b="0" dirty="0">
                    <a:latin typeface="현대하모니 L"/>
                    <a:ea typeface="현대하모니 L"/>
                  </a:endParaRPr>
                </a:p>
                <a:p>
                  <a:r>
                    <a:rPr lang="en-US" altLang="ko-KR" sz="800" b="0" dirty="0">
                      <a:latin typeface="현대하모니 L"/>
                      <a:ea typeface="현대하모니 L"/>
                    </a:rPr>
                    <a:t>C &lt;</a:t>
                  </a:r>
                  <a:r>
                    <a:rPr lang="ko-KR" altLang="en-US" sz="800" b="0" dirty="0">
                      <a:latin typeface="현대하모니 L"/>
                      <a:ea typeface="현대하모니 L"/>
                    </a:rPr>
                    <a:t> </a:t>
                  </a:r>
                  <a:r>
                    <a:rPr lang="en-US" altLang="ko-KR" sz="800" b="0" dirty="0">
                      <a:latin typeface="현대하모니 L"/>
                      <a:ea typeface="현대하모니 L"/>
                    </a:rPr>
                    <a:t>50</a:t>
                  </a:r>
                  <a:r>
                    <a:rPr lang="ko-KR" altLang="en-US" sz="800" b="0" dirty="0">
                      <a:latin typeface="현대하모니 L"/>
                      <a:ea typeface="현대하모니 L"/>
                    </a:rPr>
                    <a:t>㎛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3550712" y="4378955"/>
                  <a:ext cx="316112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500" b="0" dirty="0">
                      <a:latin typeface="현대하모니 L"/>
                      <a:ea typeface="현대하모니 L"/>
                    </a:rPr>
                    <a:t>+0.2</a:t>
                  </a:r>
                </a:p>
                <a:p>
                  <a:r>
                    <a:rPr lang="en-US" altLang="ko-KR" sz="500" b="0" dirty="0">
                      <a:latin typeface="현대하모니 L"/>
                      <a:ea typeface="현대하모니 L"/>
                    </a:rPr>
                    <a:t>-0.1</a:t>
                  </a:r>
                  <a:endParaRPr lang="ko-KR" altLang="en-US" sz="500" b="0" dirty="0">
                    <a:latin typeface="현대하모니 L"/>
                    <a:ea typeface="현대하모니 L"/>
                  </a:endParaRPr>
                </a:p>
              </p:txBody>
            </p:sp>
            <p:cxnSp>
              <p:nvCxnSpPr>
                <p:cNvPr id="78" name="직선 화살표 연결선 77"/>
                <p:cNvCxnSpPr/>
                <p:nvPr/>
              </p:nvCxnSpPr>
              <p:spPr>
                <a:xfrm flipH="1" flipV="1">
                  <a:off x="3368824" y="4889859"/>
                  <a:ext cx="3160" cy="48335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/>
                <p:cNvSpPr txBox="1"/>
                <p:nvPr/>
              </p:nvSpPr>
              <p:spPr>
                <a:xfrm>
                  <a:off x="2648744" y="5805844"/>
                  <a:ext cx="981359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b="0" dirty="0" err="1">
                      <a:latin typeface="현대하모니 L"/>
                      <a:ea typeface="현대하모니 L"/>
                    </a:rPr>
                    <a:t>동도금</a:t>
                  </a:r>
                  <a:r>
                    <a:rPr lang="ko-KR" altLang="en-US" sz="800" b="0" dirty="0">
                      <a:latin typeface="현대하모니 L"/>
                      <a:ea typeface="현대하모니 L"/>
                    </a:rPr>
                    <a:t> 두께 </a:t>
                  </a:r>
                  <a:r>
                    <a:rPr lang="en-US" altLang="ko-KR" sz="800" b="0" dirty="0">
                      <a:latin typeface="현대하모니 L"/>
                      <a:ea typeface="현대하모니 L"/>
                    </a:rPr>
                    <a:t>&gt; 25</a:t>
                  </a:r>
                  <a:r>
                    <a:rPr lang="ko-KR" altLang="en-US" sz="800" b="0" dirty="0">
                      <a:latin typeface="현대하모니 L"/>
                      <a:ea typeface="현대하모니 L"/>
                    </a:rPr>
                    <a:t>㎛</a:t>
                  </a:r>
                  <a:endParaRPr lang="en-US" altLang="ko-KR" sz="800" b="0" dirty="0">
                    <a:latin typeface="현대하모니 L"/>
                    <a:ea typeface="현대하모니 L"/>
                  </a:endParaRPr>
                </a:p>
              </p:txBody>
            </p:sp>
            <p:cxnSp>
              <p:nvCxnSpPr>
                <p:cNvPr id="83" name="직선 화살표 연결선 82"/>
                <p:cNvCxnSpPr/>
                <p:nvPr/>
              </p:nvCxnSpPr>
              <p:spPr>
                <a:xfrm flipH="1" flipV="1">
                  <a:off x="2897489" y="5292801"/>
                  <a:ext cx="3160" cy="48335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6" name="직선 연결선 85"/>
              <p:cNvCxnSpPr/>
              <p:nvPr/>
            </p:nvCxnSpPr>
            <p:spPr>
              <a:xfrm flipV="1">
                <a:off x="2680659" y="3861048"/>
                <a:ext cx="0" cy="43200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/>
              <p:cNvSpPr txBox="1"/>
              <p:nvPr/>
            </p:nvSpPr>
            <p:spPr>
              <a:xfrm>
                <a:off x="2638883" y="3717032"/>
                <a:ext cx="1010213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0" dirty="0">
                    <a:latin typeface="현대하모니 L"/>
                    <a:ea typeface="현대하모니 L"/>
                  </a:rPr>
                  <a:t>Press Fit</a:t>
                </a:r>
                <a:r>
                  <a:rPr lang="ko-KR" altLang="en-US" sz="800" b="0" dirty="0">
                    <a:latin typeface="현대하모니 L"/>
                    <a:ea typeface="현대하모니 L"/>
                  </a:rPr>
                  <a:t> 삽입 방향</a:t>
                </a:r>
                <a:endParaRPr lang="en-US" altLang="ko-KR" sz="800" b="0" dirty="0">
                  <a:latin typeface="현대하모니 L"/>
                  <a:ea typeface="현대하모니 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6244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443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[39]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패턴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(Trace)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결손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패턴의 결손 폭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(a ≤W×2)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패턴의 결손 깊이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(b)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(b ≤W×0.3)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패턴내의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Pin Hole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폭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(c)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(c ≤W×0.3)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패턴내의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Pin Hole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길이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(d ≤W×2)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패턴의 돌출 폭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(e)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(e ≤W×2)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6)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패턴의 돌출 정도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(f)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기준치를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(f ≤W×0.3)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7)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위와 같은 일부 패턴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결손이 있더라도 최대 허용 </a:t>
                      </a:r>
                      <a:r>
                        <a:rPr lang="ko-KR" altLang="en-US" sz="10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전류량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고려시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문제가 없도록 설계되었는가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결손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366433" y="4365104"/>
            <a:ext cx="3259841" cy="1623876"/>
            <a:chOff x="366433" y="4221088"/>
            <a:chExt cx="3259841" cy="1623876"/>
          </a:xfrm>
        </p:grpSpPr>
        <p:sp>
          <p:nvSpPr>
            <p:cNvPr id="53" name="Rectangle 112"/>
            <p:cNvSpPr>
              <a:spLocks noChangeArrowheads="1"/>
            </p:cNvSpPr>
            <p:nvPr/>
          </p:nvSpPr>
          <p:spPr bwMode="auto">
            <a:xfrm>
              <a:off x="757556" y="4581655"/>
              <a:ext cx="2477594" cy="782112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4" name="Oval 113"/>
            <p:cNvSpPr>
              <a:spLocks noChangeArrowheads="1"/>
            </p:cNvSpPr>
            <p:nvPr/>
          </p:nvSpPr>
          <p:spPr bwMode="auto">
            <a:xfrm>
              <a:off x="2126488" y="4380162"/>
              <a:ext cx="979246" cy="360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5" name="Oval 114"/>
            <p:cNvSpPr>
              <a:spLocks noChangeArrowheads="1"/>
            </p:cNvSpPr>
            <p:nvPr/>
          </p:nvSpPr>
          <p:spPr bwMode="auto">
            <a:xfrm>
              <a:off x="1866219" y="5162273"/>
              <a:ext cx="979246" cy="360567"/>
            </a:xfrm>
            <a:prstGeom prst="ellipse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6" name="Line 115"/>
            <p:cNvSpPr>
              <a:spLocks noChangeShapeType="1"/>
            </p:cNvSpPr>
            <p:nvPr/>
          </p:nvSpPr>
          <p:spPr bwMode="auto">
            <a:xfrm>
              <a:off x="3235151" y="5363766"/>
              <a:ext cx="26027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7" name="Line 116"/>
            <p:cNvSpPr>
              <a:spLocks noChangeShapeType="1"/>
            </p:cNvSpPr>
            <p:nvPr/>
          </p:nvSpPr>
          <p:spPr bwMode="auto">
            <a:xfrm>
              <a:off x="3235151" y="4581655"/>
              <a:ext cx="26027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8" name="Line 117"/>
            <p:cNvSpPr>
              <a:spLocks noChangeShapeType="1"/>
            </p:cNvSpPr>
            <p:nvPr/>
          </p:nvSpPr>
          <p:spPr bwMode="auto">
            <a:xfrm>
              <a:off x="3364566" y="4581655"/>
              <a:ext cx="0" cy="78211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0" name="Text Box 118"/>
            <p:cNvSpPr txBox="1">
              <a:spLocks noChangeArrowheads="1"/>
            </p:cNvSpPr>
            <p:nvPr/>
          </p:nvSpPr>
          <p:spPr bwMode="auto">
            <a:xfrm>
              <a:off x="3299859" y="4882569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w</a:t>
              </a:r>
            </a:p>
          </p:txBody>
        </p:sp>
        <p:sp>
          <p:nvSpPr>
            <p:cNvPr id="61" name="Text Box 119"/>
            <p:cNvSpPr txBox="1">
              <a:spLocks noChangeArrowheads="1"/>
            </p:cNvSpPr>
            <p:nvPr/>
          </p:nvSpPr>
          <p:spPr bwMode="auto">
            <a:xfrm>
              <a:off x="2452904" y="4221088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a</a:t>
              </a:r>
            </a:p>
          </p:txBody>
        </p:sp>
        <p:sp>
          <p:nvSpPr>
            <p:cNvPr id="62" name="Line 120"/>
            <p:cNvSpPr>
              <a:spLocks noChangeShapeType="1"/>
            </p:cNvSpPr>
            <p:nvPr/>
          </p:nvSpPr>
          <p:spPr bwMode="auto">
            <a:xfrm>
              <a:off x="504477" y="5143715"/>
              <a:ext cx="110003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8" name="Line 121"/>
            <p:cNvSpPr>
              <a:spLocks noChangeShapeType="1"/>
            </p:cNvSpPr>
            <p:nvPr/>
          </p:nvSpPr>
          <p:spPr bwMode="auto">
            <a:xfrm>
              <a:off x="495849" y="4759287"/>
              <a:ext cx="71753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3" name="Line 122"/>
            <p:cNvSpPr>
              <a:spLocks noChangeShapeType="1"/>
            </p:cNvSpPr>
            <p:nvPr/>
          </p:nvSpPr>
          <p:spPr bwMode="auto">
            <a:xfrm>
              <a:off x="626703" y="4761938"/>
              <a:ext cx="0" cy="3605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4" name="Text Box 123"/>
            <p:cNvSpPr txBox="1">
              <a:spLocks noChangeArrowheads="1"/>
            </p:cNvSpPr>
            <p:nvPr/>
          </p:nvSpPr>
          <p:spPr bwMode="auto">
            <a:xfrm>
              <a:off x="366433" y="4865336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c</a:t>
              </a:r>
            </a:p>
          </p:txBody>
        </p:sp>
        <p:sp>
          <p:nvSpPr>
            <p:cNvPr id="85" name="Line 124"/>
            <p:cNvSpPr>
              <a:spLocks noChangeShapeType="1"/>
            </p:cNvSpPr>
            <p:nvPr/>
          </p:nvSpPr>
          <p:spPr bwMode="auto">
            <a:xfrm>
              <a:off x="2126488" y="4341719"/>
              <a:ext cx="0" cy="2399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6" name="Line 125"/>
            <p:cNvSpPr>
              <a:spLocks noChangeShapeType="1"/>
            </p:cNvSpPr>
            <p:nvPr/>
          </p:nvSpPr>
          <p:spPr bwMode="auto">
            <a:xfrm>
              <a:off x="3104297" y="4341719"/>
              <a:ext cx="0" cy="2399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7" name="Line 126"/>
            <p:cNvSpPr>
              <a:spLocks noChangeShapeType="1"/>
            </p:cNvSpPr>
            <p:nvPr/>
          </p:nvSpPr>
          <p:spPr bwMode="auto">
            <a:xfrm>
              <a:off x="2126488" y="4461024"/>
              <a:ext cx="97780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8" name="Line 127"/>
            <p:cNvSpPr>
              <a:spLocks noChangeShapeType="1"/>
            </p:cNvSpPr>
            <p:nvPr/>
          </p:nvSpPr>
          <p:spPr bwMode="auto">
            <a:xfrm>
              <a:off x="909979" y="4871964"/>
              <a:ext cx="0" cy="72113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9" name="Line 128"/>
            <p:cNvSpPr>
              <a:spLocks noChangeShapeType="1"/>
            </p:cNvSpPr>
            <p:nvPr/>
          </p:nvSpPr>
          <p:spPr bwMode="auto">
            <a:xfrm>
              <a:off x="1653402" y="5003200"/>
              <a:ext cx="0" cy="60050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0" name="Line 129"/>
            <p:cNvSpPr>
              <a:spLocks noChangeShapeType="1"/>
            </p:cNvSpPr>
            <p:nvPr/>
          </p:nvSpPr>
          <p:spPr bwMode="auto">
            <a:xfrm>
              <a:off x="921483" y="5522840"/>
              <a:ext cx="71753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1" name="Text Box 130"/>
            <p:cNvSpPr txBox="1">
              <a:spLocks noChangeArrowheads="1"/>
            </p:cNvSpPr>
            <p:nvPr/>
          </p:nvSpPr>
          <p:spPr bwMode="auto">
            <a:xfrm>
              <a:off x="1082534" y="5346533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94" name="Line 131"/>
            <p:cNvSpPr>
              <a:spLocks noChangeShapeType="1"/>
            </p:cNvSpPr>
            <p:nvPr/>
          </p:nvSpPr>
          <p:spPr bwMode="auto">
            <a:xfrm>
              <a:off x="1864781" y="5363766"/>
              <a:ext cx="0" cy="48119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5" name="Line 132"/>
            <p:cNvSpPr>
              <a:spLocks noChangeShapeType="1"/>
            </p:cNvSpPr>
            <p:nvPr/>
          </p:nvSpPr>
          <p:spPr bwMode="auto">
            <a:xfrm>
              <a:off x="2844027" y="5363766"/>
              <a:ext cx="0" cy="48119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6" name="Line 133"/>
            <p:cNvSpPr>
              <a:spLocks noChangeShapeType="1"/>
            </p:cNvSpPr>
            <p:nvPr/>
          </p:nvSpPr>
          <p:spPr bwMode="auto">
            <a:xfrm>
              <a:off x="1864781" y="5783986"/>
              <a:ext cx="97924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7" name="Text Box 134"/>
            <p:cNvSpPr txBox="1">
              <a:spLocks noChangeArrowheads="1"/>
            </p:cNvSpPr>
            <p:nvPr/>
          </p:nvSpPr>
          <p:spPr bwMode="auto">
            <a:xfrm>
              <a:off x="2191196" y="5586469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e</a:t>
              </a:r>
            </a:p>
          </p:txBody>
        </p:sp>
        <p:sp>
          <p:nvSpPr>
            <p:cNvPr id="98" name="Line 135"/>
            <p:cNvSpPr>
              <a:spLocks noChangeShapeType="1"/>
            </p:cNvSpPr>
            <p:nvPr/>
          </p:nvSpPr>
          <p:spPr bwMode="auto">
            <a:xfrm>
              <a:off x="1800073" y="4751333"/>
              <a:ext cx="913101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9" name="Line 136"/>
            <p:cNvSpPr>
              <a:spLocks noChangeShapeType="1"/>
            </p:cNvSpPr>
            <p:nvPr/>
          </p:nvSpPr>
          <p:spPr bwMode="auto">
            <a:xfrm>
              <a:off x="1800073" y="4581655"/>
              <a:ext cx="32641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0" name="Line 137"/>
            <p:cNvSpPr>
              <a:spLocks noChangeShapeType="1"/>
            </p:cNvSpPr>
            <p:nvPr/>
          </p:nvSpPr>
          <p:spPr bwMode="auto">
            <a:xfrm>
              <a:off x="1930927" y="4581655"/>
              <a:ext cx="0" cy="1802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1" name="Text Box 138"/>
            <p:cNvSpPr txBox="1">
              <a:spLocks noChangeArrowheads="1"/>
            </p:cNvSpPr>
            <p:nvPr/>
          </p:nvSpPr>
          <p:spPr bwMode="auto">
            <a:xfrm>
              <a:off x="1473657" y="4564422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b</a:t>
              </a:r>
            </a:p>
          </p:txBody>
        </p:sp>
        <p:sp>
          <p:nvSpPr>
            <p:cNvPr id="102" name="Line 139"/>
            <p:cNvSpPr>
              <a:spLocks noChangeShapeType="1"/>
            </p:cNvSpPr>
            <p:nvPr/>
          </p:nvSpPr>
          <p:spPr bwMode="auto">
            <a:xfrm>
              <a:off x="2844027" y="5363766"/>
              <a:ext cx="26027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3" name="Line 140"/>
            <p:cNvSpPr>
              <a:spLocks noChangeShapeType="1"/>
            </p:cNvSpPr>
            <p:nvPr/>
          </p:nvSpPr>
          <p:spPr bwMode="auto">
            <a:xfrm>
              <a:off x="2386758" y="5522840"/>
              <a:ext cx="71753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4" name="Line 141"/>
            <p:cNvSpPr>
              <a:spLocks noChangeShapeType="1"/>
            </p:cNvSpPr>
            <p:nvPr/>
          </p:nvSpPr>
          <p:spPr bwMode="auto">
            <a:xfrm flipV="1">
              <a:off x="3039589" y="5363766"/>
              <a:ext cx="0" cy="18028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5" name="Text Box 142"/>
            <p:cNvSpPr txBox="1">
              <a:spLocks noChangeArrowheads="1"/>
            </p:cNvSpPr>
            <p:nvPr/>
          </p:nvSpPr>
          <p:spPr bwMode="auto">
            <a:xfrm>
              <a:off x="2908735" y="5544050"/>
              <a:ext cx="326415" cy="209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f</a:t>
              </a:r>
            </a:p>
          </p:txBody>
        </p:sp>
        <p:sp>
          <p:nvSpPr>
            <p:cNvPr id="106" name="Freeform 143"/>
            <p:cNvSpPr>
              <a:spLocks/>
            </p:cNvSpPr>
            <p:nvPr/>
          </p:nvSpPr>
          <p:spPr bwMode="auto">
            <a:xfrm>
              <a:off x="911417" y="4761938"/>
              <a:ext cx="743422" cy="381777"/>
            </a:xfrm>
            <a:custGeom>
              <a:avLst/>
              <a:gdLst>
                <a:gd name="T0" fmla="*/ 3241192 w 312"/>
                <a:gd name="T1" fmla="*/ 3 h 332"/>
                <a:gd name="T2" fmla="*/ 530517 w 312"/>
                <a:gd name="T3" fmla="*/ 4 h 332"/>
                <a:gd name="T4" fmla="*/ 0 w 312"/>
                <a:gd name="T5" fmla="*/ 6 h 332"/>
                <a:gd name="T6" fmla="*/ 13355855 w 312"/>
                <a:gd name="T7" fmla="*/ 14 h 332"/>
                <a:gd name="T8" fmla="*/ 20876604 w 312"/>
                <a:gd name="T9" fmla="*/ 12 h 332"/>
                <a:gd name="T10" fmla="*/ 15500782 w 312"/>
                <a:gd name="T11" fmla="*/ 4 h 332"/>
                <a:gd name="T12" fmla="*/ 11791842 w 312"/>
                <a:gd name="T13" fmla="*/ 3 h 332"/>
                <a:gd name="T14" fmla="*/ 5370821 w 312"/>
                <a:gd name="T15" fmla="*/ 0 h 332"/>
                <a:gd name="T16" fmla="*/ 3241192 w 312"/>
                <a:gd name="T17" fmla="*/ 3 h 3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2"/>
                <a:gd name="T28" fmla="*/ 0 h 332"/>
                <a:gd name="T29" fmla="*/ 312 w 312"/>
                <a:gd name="T30" fmla="*/ 332 h 3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2" h="332">
                  <a:moveTo>
                    <a:pt x="48" y="24"/>
                  </a:moveTo>
                  <a:cubicBezTo>
                    <a:pt x="14" y="69"/>
                    <a:pt x="28" y="43"/>
                    <a:pt x="8" y="104"/>
                  </a:cubicBezTo>
                  <a:cubicBezTo>
                    <a:pt x="5" y="112"/>
                    <a:pt x="0" y="128"/>
                    <a:pt x="0" y="128"/>
                  </a:cubicBezTo>
                  <a:cubicBezTo>
                    <a:pt x="24" y="246"/>
                    <a:pt x="87" y="300"/>
                    <a:pt x="200" y="328"/>
                  </a:cubicBezTo>
                  <a:cubicBezTo>
                    <a:pt x="256" y="322"/>
                    <a:pt x="283" y="332"/>
                    <a:pt x="312" y="288"/>
                  </a:cubicBezTo>
                  <a:cubicBezTo>
                    <a:pt x="300" y="214"/>
                    <a:pt x="275" y="157"/>
                    <a:pt x="232" y="96"/>
                  </a:cubicBezTo>
                  <a:cubicBezTo>
                    <a:pt x="193" y="40"/>
                    <a:pt x="219" y="54"/>
                    <a:pt x="176" y="40"/>
                  </a:cubicBezTo>
                  <a:cubicBezTo>
                    <a:pt x="146" y="10"/>
                    <a:pt x="120" y="10"/>
                    <a:pt x="80" y="0"/>
                  </a:cubicBezTo>
                  <a:cubicBezTo>
                    <a:pt x="50" y="10"/>
                    <a:pt x="60" y="0"/>
                    <a:pt x="48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40985470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26256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[40]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패턴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(Trace)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결손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톱니모양이 한쪽인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T1 ≤ W × 0.5, W1≥W × 0.7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톱니모양이 양쪽인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W2 ≥ W × 0.7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톱니모양이 양쪽인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T2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W × 1.3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결손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351580" y="3356992"/>
            <a:ext cx="3233268" cy="2207766"/>
            <a:chOff x="488504" y="3501008"/>
            <a:chExt cx="3024336" cy="2063750"/>
          </a:xfrm>
        </p:grpSpPr>
        <p:sp>
          <p:nvSpPr>
            <p:cNvPr id="24" name="Rectangle 159"/>
            <p:cNvSpPr>
              <a:spLocks noChangeArrowheads="1"/>
            </p:cNvSpPr>
            <p:nvPr/>
          </p:nvSpPr>
          <p:spPr bwMode="auto">
            <a:xfrm>
              <a:off x="908228" y="3887872"/>
              <a:ext cx="2088052" cy="386864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5" name="Rectangle 160"/>
            <p:cNvSpPr>
              <a:spLocks noChangeArrowheads="1"/>
            </p:cNvSpPr>
            <p:nvPr/>
          </p:nvSpPr>
          <p:spPr bwMode="auto">
            <a:xfrm>
              <a:off x="908228" y="5048465"/>
              <a:ext cx="2088052" cy="386864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6" name="Text Box 161"/>
            <p:cNvSpPr txBox="1">
              <a:spLocks noChangeArrowheads="1"/>
            </p:cNvSpPr>
            <p:nvPr/>
          </p:nvSpPr>
          <p:spPr bwMode="auto">
            <a:xfrm>
              <a:off x="2789057" y="5125269"/>
              <a:ext cx="326663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w2</a:t>
              </a:r>
            </a:p>
          </p:txBody>
        </p:sp>
        <p:sp>
          <p:nvSpPr>
            <p:cNvPr id="27" name="Line 162"/>
            <p:cNvSpPr>
              <a:spLocks noChangeShapeType="1"/>
            </p:cNvSpPr>
            <p:nvPr/>
          </p:nvSpPr>
          <p:spPr bwMode="auto">
            <a:xfrm>
              <a:off x="3191989" y="4017301"/>
              <a:ext cx="0" cy="25743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8" name="Rectangle 163"/>
            <p:cNvSpPr>
              <a:spLocks noChangeArrowheads="1"/>
            </p:cNvSpPr>
            <p:nvPr/>
          </p:nvSpPr>
          <p:spPr bwMode="auto">
            <a:xfrm>
              <a:off x="1270867" y="3794001"/>
              <a:ext cx="1073526" cy="322861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9" name="Freeform 164"/>
            <p:cNvSpPr>
              <a:spLocks/>
            </p:cNvSpPr>
            <p:nvPr/>
          </p:nvSpPr>
          <p:spPr bwMode="auto">
            <a:xfrm>
              <a:off x="1162938" y="3794001"/>
              <a:ext cx="1310968" cy="351307"/>
            </a:xfrm>
            <a:custGeom>
              <a:avLst/>
              <a:gdLst>
                <a:gd name="T0" fmla="*/ 0 w 816"/>
                <a:gd name="T1" fmla="*/ 88 h 247"/>
                <a:gd name="T2" fmla="*/ 547 w 816"/>
                <a:gd name="T3" fmla="*/ 24 h 247"/>
                <a:gd name="T4" fmla="*/ 1448 w 816"/>
                <a:gd name="T5" fmla="*/ 80 h 247"/>
                <a:gd name="T6" fmla="*/ 1805 w 816"/>
                <a:gd name="T7" fmla="*/ 96 h 247"/>
                <a:gd name="T8" fmla="*/ 1893 w 816"/>
                <a:gd name="T9" fmla="*/ 72 h 247"/>
                <a:gd name="T10" fmla="*/ 2073 w 816"/>
                <a:gd name="T11" fmla="*/ 48 h 247"/>
                <a:gd name="T12" fmla="*/ 2250 w 816"/>
                <a:gd name="T13" fmla="*/ 0 h 247"/>
                <a:gd name="T14" fmla="*/ 2513 w 816"/>
                <a:gd name="T15" fmla="*/ 8 h 247"/>
                <a:gd name="T16" fmla="*/ 2972 w 816"/>
                <a:gd name="T17" fmla="*/ 152 h 247"/>
                <a:gd name="T18" fmla="*/ 3514 w 816"/>
                <a:gd name="T19" fmla="*/ 88 h 247"/>
                <a:gd name="T20" fmla="*/ 3974 w 816"/>
                <a:gd name="T21" fmla="*/ 24 h 247"/>
                <a:gd name="T22" fmla="*/ 4060 w 816"/>
                <a:gd name="T23" fmla="*/ 96 h 247"/>
                <a:gd name="T24" fmla="*/ 4246 w 816"/>
                <a:gd name="T25" fmla="*/ 144 h 247"/>
                <a:gd name="T26" fmla="*/ 4514 w 816"/>
                <a:gd name="T27" fmla="*/ 32 h 247"/>
                <a:gd name="T28" fmla="*/ 4786 w 816"/>
                <a:gd name="T29" fmla="*/ 16 h 247"/>
                <a:gd name="T30" fmla="*/ 5418 w 816"/>
                <a:gd name="T31" fmla="*/ 136 h 247"/>
                <a:gd name="T32" fmla="*/ 5693 w 816"/>
                <a:gd name="T33" fmla="*/ 56 h 247"/>
                <a:gd name="T34" fmla="*/ 5777 w 816"/>
                <a:gd name="T35" fmla="*/ 32 h 247"/>
                <a:gd name="T36" fmla="*/ 6139 w 816"/>
                <a:gd name="T37" fmla="*/ 48 h 247"/>
                <a:gd name="T38" fmla="*/ 6594 w 816"/>
                <a:gd name="T39" fmla="*/ 152 h 247"/>
                <a:gd name="T40" fmla="*/ 6766 w 816"/>
                <a:gd name="T41" fmla="*/ 80 h 247"/>
                <a:gd name="T42" fmla="*/ 7042 w 816"/>
                <a:gd name="T43" fmla="*/ 32 h 247"/>
                <a:gd name="T44" fmla="*/ 7851 w 816"/>
                <a:gd name="T45" fmla="*/ 160 h 247"/>
                <a:gd name="T46" fmla="*/ 8398 w 816"/>
                <a:gd name="T47" fmla="*/ 56 h 247"/>
                <a:gd name="T48" fmla="*/ 9111 w 816"/>
                <a:gd name="T49" fmla="*/ 144 h 247"/>
                <a:gd name="T50" fmla="*/ 9024 w 816"/>
                <a:gd name="T51" fmla="*/ 224 h 247"/>
                <a:gd name="T52" fmla="*/ 2798 w 816"/>
                <a:gd name="T53" fmla="*/ 232 h 247"/>
                <a:gd name="T54" fmla="*/ 1180 w 816"/>
                <a:gd name="T55" fmla="*/ 232 h 247"/>
                <a:gd name="T56" fmla="*/ 366 w 816"/>
                <a:gd name="T57" fmla="*/ 208 h 247"/>
                <a:gd name="T58" fmla="*/ 87 w 816"/>
                <a:gd name="T59" fmla="*/ 200 h 247"/>
                <a:gd name="T60" fmla="*/ 0 w 816"/>
                <a:gd name="T61" fmla="*/ 88 h 2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16"/>
                <a:gd name="T94" fmla="*/ 0 h 247"/>
                <a:gd name="T95" fmla="*/ 816 w 816"/>
                <a:gd name="T96" fmla="*/ 247 h 247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16" h="247">
                  <a:moveTo>
                    <a:pt x="0" y="88"/>
                  </a:moveTo>
                  <a:cubicBezTo>
                    <a:pt x="18" y="61"/>
                    <a:pt x="38" y="54"/>
                    <a:pt x="48" y="24"/>
                  </a:cubicBezTo>
                  <a:cubicBezTo>
                    <a:pt x="102" y="46"/>
                    <a:pt x="85" y="52"/>
                    <a:pt x="128" y="80"/>
                  </a:cubicBezTo>
                  <a:cubicBezTo>
                    <a:pt x="133" y="96"/>
                    <a:pt x="133" y="123"/>
                    <a:pt x="160" y="96"/>
                  </a:cubicBezTo>
                  <a:cubicBezTo>
                    <a:pt x="166" y="90"/>
                    <a:pt x="164" y="80"/>
                    <a:pt x="168" y="72"/>
                  </a:cubicBezTo>
                  <a:cubicBezTo>
                    <a:pt x="172" y="63"/>
                    <a:pt x="180" y="57"/>
                    <a:pt x="184" y="48"/>
                  </a:cubicBezTo>
                  <a:cubicBezTo>
                    <a:pt x="191" y="33"/>
                    <a:pt x="200" y="0"/>
                    <a:pt x="200" y="0"/>
                  </a:cubicBezTo>
                  <a:cubicBezTo>
                    <a:pt x="208" y="3"/>
                    <a:pt x="219" y="1"/>
                    <a:pt x="224" y="8"/>
                  </a:cubicBezTo>
                  <a:cubicBezTo>
                    <a:pt x="248" y="42"/>
                    <a:pt x="254" y="112"/>
                    <a:pt x="264" y="152"/>
                  </a:cubicBezTo>
                  <a:cubicBezTo>
                    <a:pt x="283" y="124"/>
                    <a:pt x="283" y="107"/>
                    <a:pt x="312" y="88"/>
                  </a:cubicBezTo>
                  <a:cubicBezTo>
                    <a:pt x="331" y="31"/>
                    <a:pt x="314" y="49"/>
                    <a:pt x="352" y="24"/>
                  </a:cubicBezTo>
                  <a:cubicBezTo>
                    <a:pt x="355" y="48"/>
                    <a:pt x="355" y="72"/>
                    <a:pt x="360" y="96"/>
                  </a:cubicBezTo>
                  <a:cubicBezTo>
                    <a:pt x="363" y="113"/>
                    <a:pt x="376" y="144"/>
                    <a:pt x="376" y="144"/>
                  </a:cubicBezTo>
                  <a:cubicBezTo>
                    <a:pt x="382" y="116"/>
                    <a:pt x="386" y="57"/>
                    <a:pt x="400" y="32"/>
                  </a:cubicBezTo>
                  <a:cubicBezTo>
                    <a:pt x="405" y="24"/>
                    <a:pt x="416" y="21"/>
                    <a:pt x="424" y="16"/>
                  </a:cubicBezTo>
                  <a:cubicBezTo>
                    <a:pt x="440" y="63"/>
                    <a:pt x="445" y="101"/>
                    <a:pt x="480" y="136"/>
                  </a:cubicBezTo>
                  <a:cubicBezTo>
                    <a:pt x="492" y="88"/>
                    <a:pt x="485" y="114"/>
                    <a:pt x="504" y="56"/>
                  </a:cubicBezTo>
                  <a:cubicBezTo>
                    <a:pt x="507" y="48"/>
                    <a:pt x="512" y="32"/>
                    <a:pt x="512" y="32"/>
                  </a:cubicBezTo>
                  <a:cubicBezTo>
                    <a:pt x="523" y="37"/>
                    <a:pt x="536" y="40"/>
                    <a:pt x="544" y="48"/>
                  </a:cubicBezTo>
                  <a:cubicBezTo>
                    <a:pt x="553" y="57"/>
                    <a:pt x="568" y="128"/>
                    <a:pt x="584" y="152"/>
                  </a:cubicBezTo>
                  <a:cubicBezTo>
                    <a:pt x="592" y="129"/>
                    <a:pt x="592" y="103"/>
                    <a:pt x="600" y="80"/>
                  </a:cubicBezTo>
                  <a:cubicBezTo>
                    <a:pt x="606" y="63"/>
                    <a:pt x="618" y="49"/>
                    <a:pt x="624" y="32"/>
                  </a:cubicBezTo>
                  <a:cubicBezTo>
                    <a:pt x="674" y="66"/>
                    <a:pt x="678" y="106"/>
                    <a:pt x="696" y="160"/>
                  </a:cubicBezTo>
                  <a:cubicBezTo>
                    <a:pt x="718" y="126"/>
                    <a:pt x="722" y="89"/>
                    <a:pt x="744" y="56"/>
                  </a:cubicBezTo>
                  <a:cubicBezTo>
                    <a:pt x="784" y="82"/>
                    <a:pt x="772" y="108"/>
                    <a:pt x="808" y="144"/>
                  </a:cubicBezTo>
                  <a:cubicBezTo>
                    <a:pt x="811" y="153"/>
                    <a:pt x="816" y="223"/>
                    <a:pt x="800" y="224"/>
                  </a:cubicBezTo>
                  <a:cubicBezTo>
                    <a:pt x="616" y="237"/>
                    <a:pt x="432" y="229"/>
                    <a:pt x="248" y="232"/>
                  </a:cubicBezTo>
                  <a:cubicBezTo>
                    <a:pt x="187" y="247"/>
                    <a:pt x="203" y="247"/>
                    <a:pt x="104" y="232"/>
                  </a:cubicBezTo>
                  <a:cubicBezTo>
                    <a:pt x="79" y="228"/>
                    <a:pt x="56" y="216"/>
                    <a:pt x="32" y="208"/>
                  </a:cubicBezTo>
                  <a:cubicBezTo>
                    <a:pt x="24" y="205"/>
                    <a:pt x="8" y="200"/>
                    <a:pt x="8" y="200"/>
                  </a:cubicBezTo>
                  <a:cubicBezTo>
                    <a:pt x="0" y="160"/>
                    <a:pt x="13" y="126"/>
                    <a:pt x="0" y="88"/>
                  </a:cubicBezTo>
                  <a:close/>
                </a:path>
              </a:pathLst>
            </a:custGeom>
            <a:solidFill>
              <a:srgbClr val="00CC99"/>
            </a:solidFill>
            <a:ln w="12700">
              <a:solidFill>
                <a:srgbClr val="00CC99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0" name="Rectangle 165"/>
            <p:cNvSpPr>
              <a:spLocks noChangeArrowheads="1"/>
            </p:cNvSpPr>
            <p:nvPr/>
          </p:nvSpPr>
          <p:spPr bwMode="auto">
            <a:xfrm>
              <a:off x="1337063" y="4890590"/>
              <a:ext cx="1072087" cy="322861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1" name="Freeform 166"/>
            <p:cNvSpPr>
              <a:spLocks/>
            </p:cNvSpPr>
            <p:nvPr/>
          </p:nvSpPr>
          <p:spPr bwMode="auto">
            <a:xfrm>
              <a:off x="1227695" y="4890590"/>
              <a:ext cx="1310968" cy="351307"/>
            </a:xfrm>
            <a:custGeom>
              <a:avLst/>
              <a:gdLst>
                <a:gd name="T0" fmla="*/ 0 w 816"/>
                <a:gd name="T1" fmla="*/ 88 h 247"/>
                <a:gd name="T2" fmla="*/ 547 w 816"/>
                <a:gd name="T3" fmla="*/ 24 h 247"/>
                <a:gd name="T4" fmla="*/ 1448 w 816"/>
                <a:gd name="T5" fmla="*/ 80 h 247"/>
                <a:gd name="T6" fmla="*/ 1805 w 816"/>
                <a:gd name="T7" fmla="*/ 96 h 247"/>
                <a:gd name="T8" fmla="*/ 1893 w 816"/>
                <a:gd name="T9" fmla="*/ 72 h 247"/>
                <a:gd name="T10" fmla="*/ 2073 w 816"/>
                <a:gd name="T11" fmla="*/ 48 h 247"/>
                <a:gd name="T12" fmla="*/ 2250 w 816"/>
                <a:gd name="T13" fmla="*/ 0 h 247"/>
                <a:gd name="T14" fmla="*/ 2513 w 816"/>
                <a:gd name="T15" fmla="*/ 8 h 247"/>
                <a:gd name="T16" fmla="*/ 2972 w 816"/>
                <a:gd name="T17" fmla="*/ 152 h 247"/>
                <a:gd name="T18" fmla="*/ 3514 w 816"/>
                <a:gd name="T19" fmla="*/ 88 h 247"/>
                <a:gd name="T20" fmla="*/ 3974 w 816"/>
                <a:gd name="T21" fmla="*/ 24 h 247"/>
                <a:gd name="T22" fmla="*/ 4060 w 816"/>
                <a:gd name="T23" fmla="*/ 96 h 247"/>
                <a:gd name="T24" fmla="*/ 4246 w 816"/>
                <a:gd name="T25" fmla="*/ 144 h 247"/>
                <a:gd name="T26" fmla="*/ 4514 w 816"/>
                <a:gd name="T27" fmla="*/ 32 h 247"/>
                <a:gd name="T28" fmla="*/ 4786 w 816"/>
                <a:gd name="T29" fmla="*/ 16 h 247"/>
                <a:gd name="T30" fmla="*/ 5418 w 816"/>
                <a:gd name="T31" fmla="*/ 136 h 247"/>
                <a:gd name="T32" fmla="*/ 5693 w 816"/>
                <a:gd name="T33" fmla="*/ 56 h 247"/>
                <a:gd name="T34" fmla="*/ 5777 w 816"/>
                <a:gd name="T35" fmla="*/ 32 h 247"/>
                <a:gd name="T36" fmla="*/ 6139 w 816"/>
                <a:gd name="T37" fmla="*/ 48 h 247"/>
                <a:gd name="T38" fmla="*/ 6594 w 816"/>
                <a:gd name="T39" fmla="*/ 152 h 247"/>
                <a:gd name="T40" fmla="*/ 6766 w 816"/>
                <a:gd name="T41" fmla="*/ 80 h 247"/>
                <a:gd name="T42" fmla="*/ 7042 w 816"/>
                <a:gd name="T43" fmla="*/ 32 h 247"/>
                <a:gd name="T44" fmla="*/ 7851 w 816"/>
                <a:gd name="T45" fmla="*/ 160 h 247"/>
                <a:gd name="T46" fmla="*/ 8398 w 816"/>
                <a:gd name="T47" fmla="*/ 56 h 247"/>
                <a:gd name="T48" fmla="*/ 9111 w 816"/>
                <a:gd name="T49" fmla="*/ 144 h 247"/>
                <a:gd name="T50" fmla="*/ 9024 w 816"/>
                <a:gd name="T51" fmla="*/ 224 h 247"/>
                <a:gd name="T52" fmla="*/ 2798 w 816"/>
                <a:gd name="T53" fmla="*/ 232 h 247"/>
                <a:gd name="T54" fmla="*/ 1180 w 816"/>
                <a:gd name="T55" fmla="*/ 232 h 247"/>
                <a:gd name="T56" fmla="*/ 366 w 816"/>
                <a:gd name="T57" fmla="*/ 208 h 247"/>
                <a:gd name="T58" fmla="*/ 87 w 816"/>
                <a:gd name="T59" fmla="*/ 200 h 247"/>
                <a:gd name="T60" fmla="*/ 0 w 816"/>
                <a:gd name="T61" fmla="*/ 88 h 2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16"/>
                <a:gd name="T94" fmla="*/ 0 h 247"/>
                <a:gd name="T95" fmla="*/ 816 w 816"/>
                <a:gd name="T96" fmla="*/ 247 h 247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16" h="247">
                  <a:moveTo>
                    <a:pt x="0" y="88"/>
                  </a:moveTo>
                  <a:cubicBezTo>
                    <a:pt x="18" y="61"/>
                    <a:pt x="38" y="54"/>
                    <a:pt x="48" y="24"/>
                  </a:cubicBezTo>
                  <a:cubicBezTo>
                    <a:pt x="102" y="46"/>
                    <a:pt x="85" y="52"/>
                    <a:pt x="128" y="80"/>
                  </a:cubicBezTo>
                  <a:cubicBezTo>
                    <a:pt x="133" y="96"/>
                    <a:pt x="133" y="123"/>
                    <a:pt x="160" y="96"/>
                  </a:cubicBezTo>
                  <a:cubicBezTo>
                    <a:pt x="166" y="90"/>
                    <a:pt x="164" y="80"/>
                    <a:pt x="168" y="72"/>
                  </a:cubicBezTo>
                  <a:cubicBezTo>
                    <a:pt x="172" y="63"/>
                    <a:pt x="180" y="57"/>
                    <a:pt x="184" y="48"/>
                  </a:cubicBezTo>
                  <a:cubicBezTo>
                    <a:pt x="191" y="33"/>
                    <a:pt x="200" y="0"/>
                    <a:pt x="200" y="0"/>
                  </a:cubicBezTo>
                  <a:cubicBezTo>
                    <a:pt x="208" y="3"/>
                    <a:pt x="219" y="1"/>
                    <a:pt x="224" y="8"/>
                  </a:cubicBezTo>
                  <a:cubicBezTo>
                    <a:pt x="248" y="42"/>
                    <a:pt x="254" y="112"/>
                    <a:pt x="264" y="152"/>
                  </a:cubicBezTo>
                  <a:cubicBezTo>
                    <a:pt x="283" y="124"/>
                    <a:pt x="283" y="107"/>
                    <a:pt x="312" y="88"/>
                  </a:cubicBezTo>
                  <a:cubicBezTo>
                    <a:pt x="331" y="31"/>
                    <a:pt x="314" y="49"/>
                    <a:pt x="352" y="24"/>
                  </a:cubicBezTo>
                  <a:cubicBezTo>
                    <a:pt x="355" y="48"/>
                    <a:pt x="355" y="72"/>
                    <a:pt x="360" y="96"/>
                  </a:cubicBezTo>
                  <a:cubicBezTo>
                    <a:pt x="363" y="113"/>
                    <a:pt x="376" y="144"/>
                    <a:pt x="376" y="144"/>
                  </a:cubicBezTo>
                  <a:cubicBezTo>
                    <a:pt x="382" y="116"/>
                    <a:pt x="386" y="57"/>
                    <a:pt x="400" y="32"/>
                  </a:cubicBezTo>
                  <a:cubicBezTo>
                    <a:pt x="405" y="24"/>
                    <a:pt x="416" y="21"/>
                    <a:pt x="424" y="16"/>
                  </a:cubicBezTo>
                  <a:cubicBezTo>
                    <a:pt x="440" y="63"/>
                    <a:pt x="445" y="101"/>
                    <a:pt x="480" y="136"/>
                  </a:cubicBezTo>
                  <a:cubicBezTo>
                    <a:pt x="492" y="88"/>
                    <a:pt x="485" y="114"/>
                    <a:pt x="504" y="56"/>
                  </a:cubicBezTo>
                  <a:cubicBezTo>
                    <a:pt x="507" y="48"/>
                    <a:pt x="512" y="32"/>
                    <a:pt x="512" y="32"/>
                  </a:cubicBezTo>
                  <a:cubicBezTo>
                    <a:pt x="523" y="37"/>
                    <a:pt x="536" y="40"/>
                    <a:pt x="544" y="48"/>
                  </a:cubicBezTo>
                  <a:cubicBezTo>
                    <a:pt x="553" y="57"/>
                    <a:pt x="568" y="128"/>
                    <a:pt x="584" y="152"/>
                  </a:cubicBezTo>
                  <a:cubicBezTo>
                    <a:pt x="592" y="129"/>
                    <a:pt x="592" y="103"/>
                    <a:pt x="600" y="80"/>
                  </a:cubicBezTo>
                  <a:cubicBezTo>
                    <a:pt x="606" y="63"/>
                    <a:pt x="618" y="49"/>
                    <a:pt x="624" y="32"/>
                  </a:cubicBezTo>
                  <a:cubicBezTo>
                    <a:pt x="674" y="66"/>
                    <a:pt x="678" y="106"/>
                    <a:pt x="696" y="160"/>
                  </a:cubicBezTo>
                  <a:cubicBezTo>
                    <a:pt x="718" y="126"/>
                    <a:pt x="722" y="89"/>
                    <a:pt x="744" y="56"/>
                  </a:cubicBezTo>
                  <a:cubicBezTo>
                    <a:pt x="784" y="82"/>
                    <a:pt x="772" y="108"/>
                    <a:pt x="808" y="144"/>
                  </a:cubicBezTo>
                  <a:cubicBezTo>
                    <a:pt x="811" y="153"/>
                    <a:pt x="816" y="223"/>
                    <a:pt x="800" y="224"/>
                  </a:cubicBezTo>
                  <a:cubicBezTo>
                    <a:pt x="616" y="237"/>
                    <a:pt x="432" y="229"/>
                    <a:pt x="248" y="232"/>
                  </a:cubicBezTo>
                  <a:cubicBezTo>
                    <a:pt x="187" y="247"/>
                    <a:pt x="203" y="247"/>
                    <a:pt x="104" y="232"/>
                  </a:cubicBezTo>
                  <a:cubicBezTo>
                    <a:pt x="79" y="228"/>
                    <a:pt x="56" y="216"/>
                    <a:pt x="32" y="208"/>
                  </a:cubicBezTo>
                  <a:cubicBezTo>
                    <a:pt x="24" y="205"/>
                    <a:pt x="8" y="200"/>
                    <a:pt x="8" y="200"/>
                  </a:cubicBezTo>
                  <a:cubicBezTo>
                    <a:pt x="0" y="160"/>
                    <a:pt x="13" y="126"/>
                    <a:pt x="0" y="88"/>
                  </a:cubicBezTo>
                  <a:close/>
                </a:path>
              </a:pathLst>
            </a:custGeom>
            <a:solidFill>
              <a:srgbClr val="00CC99"/>
            </a:solidFill>
            <a:ln w="12700">
              <a:solidFill>
                <a:srgbClr val="00CC99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2" name="Rectangle 167"/>
            <p:cNvSpPr>
              <a:spLocks noChangeArrowheads="1"/>
            </p:cNvSpPr>
            <p:nvPr/>
          </p:nvSpPr>
          <p:spPr bwMode="auto">
            <a:xfrm rot="10800000">
              <a:off x="1269428" y="5241897"/>
              <a:ext cx="1073526" cy="322861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3" name="Freeform 168"/>
            <p:cNvSpPr>
              <a:spLocks/>
            </p:cNvSpPr>
            <p:nvPr/>
          </p:nvSpPr>
          <p:spPr bwMode="auto">
            <a:xfrm rot="10800000">
              <a:off x="1161499" y="5177894"/>
              <a:ext cx="1310968" cy="351307"/>
            </a:xfrm>
            <a:custGeom>
              <a:avLst/>
              <a:gdLst>
                <a:gd name="T0" fmla="*/ 0 w 816"/>
                <a:gd name="T1" fmla="*/ 88 h 247"/>
                <a:gd name="T2" fmla="*/ 547 w 816"/>
                <a:gd name="T3" fmla="*/ 24 h 247"/>
                <a:gd name="T4" fmla="*/ 1448 w 816"/>
                <a:gd name="T5" fmla="*/ 80 h 247"/>
                <a:gd name="T6" fmla="*/ 1805 w 816"/>
                <a:gd name="T7" fmla="*/ 96 h 247"/>
                <a:gd name="T8" fmla="*/ 1893 w 816"/>
                <a:gd name="T9" fmla="*/ 72 h 247"/>
                <a:gd name="T10" fmla="*/ 2073 w 816"/>
                <a:gd name="T11" fmla="*/ 48 h 247"/>
                <a:gd name="T12" fmla="*/ 2250 w 816"/>
                <a:gd name="T13" fmla="*/ 0 h 247"/>
                <a:gd name="T14" fmla="*/ 2513 w 816"/>
                <a:gd name="T15" fmla="*/ 8 h 247"/>
                <a:gd name="T16" fmla="*/ 2972 w 816"/>
                <a:gd name="T17" fmla="*/ 152 h 247"/>
                <a:gd name="T18" fmla="*/ 3514 w 816"/>
                <a:gd name="T19" fmla="*/ 88 h 247"/>
                <a:gd name="T20" fmla="*/ 3974 w 816"/>
                <a:gd name="T21" fmla="*/ 24 h 247"/>
                <a:gd name="T22" fmla="*/ 4060 w 816"/>
                <a:gd name="T23" fmla="*/ 96 h 247"/>
                <a:gd name="T24" fmla="*/ 4246 w 816"/>
                <a:gd name="T25" fmla="*/ 144 h 247"/>
                <a:gd name="T26" fmla="*/ 4514 w 816"/>
                <a:gd name="T27" fmla="*/ 32 h 247"/>
                <a:gd name="T28" fmla="*/ 4786 w 816"/>
                <a:gd name="T29" fmla="*/ 16 h 247"/>
                <a:gd name="T30" fmla="*/ 5418 w 816"/>
                <a:gd name="T31" fmla="*/ 136 h 247"/>
                <a:gd name="T32" fmla="*/ 5693 w 816"/>
                <a:gd name="T33" fmla="*/ 56 h 247"/>
                <a:gd name="T34" fmla="*/ 5777 w 816"/>
                <a:gd name="T35" fmla="*/ 32 h 247"/>
                <a:gd name="T36" fmla="*/ 6139 w 816"/>
                <a:gd name="T37" fmla="*/ 48 h 247"/>
                <a:gd name="T38" fmla="*/ 6594 w 816"/>
                <a:gd name="T39" fmla="*/ 152 h 247"/>
                <a:gd name="T40" fmla="*/ 6766 w 816"/>
                <a:gd name="T41" fmla="*/ 80 h 247"/>
                <a:gd name="T42" fmla="*/ 7042 w 816"/>
                <a:gd name="T43" fmla="*/ 32 h 247"/>
                <a:gd name="T44" fmla="*/ 7851 w 816"/>
                <a:gd name="T45" fmla="*/ 160 h 247"/>
                <a:gd name="T46" fmla="*/ 8398 w 816"/>
                <a:gd name="T47" fmla="*/ 56 h 247"/>
                <a:gd name="T48" fmla="*/ 9111 w 816"/>
                <a:gd name="T49" fmla="*/ 144 h 247"/>
                <a:gd name="T50" fmla="*/ 9024 w 816"/>
                <a:gd name="T51" fmla="*/ 224 h 247"/>
                <a:gd name="T52" fmla="*/ 2798 w 816"/>
                <a:gd name="T53" fmla="*/ 232 h 247"/>
                <a:gd name="T54" fmla="*/ 1180 w 816"/>
                <a:gd name="T55" fmla="*/ 232 h 247"/>
                <a:gd name="T56" fmla="*/ 366 w 816"/>
                <a:gd name="T57" fmla="*/ 208 h 247"/>
                <a:gd name="T58" fmla="*/ 87 w 816"/>
                <a:gd name="T59" fmla="*/ 200 h 247"/>
                <a:gd name="T60" fmla="*/ 0 w 816"/>
                <a:gd name="T61" fmla="*/ 88 h 2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16"/>
                <a:gd name="T94" fmla="*/ 0 h 247"/>
                <a:gd name="T95" fmla="*/ 816 w 816"/>
                <a:gd name="T96" fmla="*/ 247 h 247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16" h="247">
                  <a:moveTo>
                    <a:pt x="0" y="88"/>
                  </a:moveTo>
                  <a:cubicBezTo>
                    <a:pt x="18" y="61"/>
                    <a:pt x="38" y="54"/>
                    <a:pt x="48" y="24"/>
                  </a:cubicBezTo>
                  <a:cubicBezTo>
                    <a:pt x="102" y="46"/>
                    <a:pt x="85" y="52"/>
                    <a:pt x="128" y="80"/>
                  </a:cubicBezTo>
                  <a:cubicBezTo>
                    <a:pt x="133" y="96"/>
                    <a:pt x="133" y="123"/>
                    <a:pt x="160" y="96"/>
                  </a:cubicBezTo>
                  <a:cubicBezTo>
                    <a:pt x="166" y="90"/>
                    <a:pt x="164" y="80"/>
                    <a:pt x="168" y="72"/>
                  </a:cubicBezTo>
                  <a:cubicBezTo>
                    <a:pt x="172" y="63"/>
                    <a:pt x="180" y="57"/>
                    <a:pt x="184" y="48"/>
                  </a:cubicBezTo>
                  <a:cubicBezTo>
                    <a:pt x="191" y="33"/>
                    <a:pt x="200" y="0"/>
                    <a:pt x="200" y="0"/>
                  </a:cubicBezTo>
                  <a:cubicBezTo>
                    <a:pt x="208" y="3"/>
                    <a:pt x="219" y="1"/>
                    <a:pt x="224" y="8"/>
                  </a:cubicBezTo>
                  <a:cubicBezTo>
                    <a:pt x="248" y="42"/>
                    <a:pt x="254" y="112"/>
                    <a:pt x="264" y="152"/>
                  </a:cubicBezTo>
                  <a:cubicBezTo>
                    <a:pt x="283" y="124"/>
                    <a:pt x="283" y="107"/>
                    <a:pt x="312" y="88"/>
                  </a:cubicBezTo>
                  <a:cubicBezTo>
                    <a:pt x="331" y="31"/>
                    <a:pt x="314" y="49"/>
                    <a:pt x="352" y="24"/>
                  </a:cubicBezTo>
                  <a:cubicBezTo>
                    <a:pt x="355" y="48"/>
                    <a:pt x="355" y="72"/>
                    <a:pt x="360" y="96"/>
                  </a:cubicBezTo>
                  <a:cubicBezTo>
                    <a:pt x="363" y="113"/>
                    <a:pt x="376" y="144"/>
                    <a:pt x="376" y="144"/>
                  </a:cubicBezTo>
                  <a:cubicBezTo>
                    <a:pt x="382" y="116"/>
                    <a:pt x="386" y="57"/>
                    <a:pt x="400" y="32"/>
                  </a:cubicBezTo>
                  <a:cubicBezTo>
                    <a:pt x="405" y="24"/>
                    <a:pt x="416" y="21"/>
                    <a:pt x="424" y="16"/>
                  </a:cubicBezTo>
                  <a:cubicBezTo>
                    <a:pt x="440" y="63"/>
                    <a:pt x="445" y="101"/>
                    <a:pt x="480" y="136"/>
                  </a:cubicBezTo>
                  <a:cubicBezTo>
                    <a:pt x="492" y="88"/>
                    <a:pt x="485" y="114"/>
                    <a:pt x="504" y="56"/>
                  </a:cubicBezTo>
                  <a:cubicBezTo>
                    <a:pt x="507" y="48"/>
                    <a:pt x="512" y="32"/>
                    <a:pt x="512" y="32"/>
                  </a:cubicBezTo>
                  <a:cubicBezTo>
                    <a:pt x="523" y="37"/>
                    <a:pt x="536" y="40"/>
                    <a:pt x="544" y="48"/>
                  </a:cubicBezTo>
                  <a:cubicBezTo>
                    <a:pt x="553" y="57"/>
                    <a:pt x="568" y="128"/>
                    <a:pt x="584" y="152"/>
                  </a:cubicBezTo>
                  <a:cubicBezTo>
                    <a:pt x="592" y="129"/>
                    <a:pt x="592" y="103"/>
                    <a:pt x="600" y="80"/>
                  </a:cubicBezTo>
                  <a:cubicBezTo>
                    <a:pt x="606" y="63"/>
                    <a:pt x="618" y="49"/>
                    <a:pt x="624" y="32"/>
                  </a:cubicBezTo>
                  <a:cubicBezTo>
                    <a:pt x="674" y="66"/>
                    <a:pt x="678" y="106"/>
                    <a:pt x="696" y="160"/>
                  </a:cubicBezTo>
                  <a:cubicBezTo>
                    <a:pt x="718" y="126"/>
                    <a:pt x="722" y="89"/>
                    <a:pt x="744" y="56"/>
                  </a:cubicBezTo>
                  <a:cubicBezTo>
                    <a:pt x="784" y="82"/>
                    <a:pt x="772" y="108"/>
                    <a:pt x="808" y="144"/>
                  </a:cubicBezTo>
                  <a:cubicBezTo>
                    <a:pt x="811" y="153"/>
                    <a:pt x="816" y="223"/>
                    <a:pt x="800" y="224"/>
                  </a:cubicBezTo>
                  <a:cubicBezTo>
                    <a:pt x="616" y="237"/>
                    <a:pt x="432" y="229"/>
                    <a:pt x="248" y="232"/>
                  </a:cubicBezTo>
                  <a:cubicBezTo>
                    <a:pt x="187" y="247"/>
                    <a:pt x="203" y="247"/>
                    <a:pt x="104" y="232"/>
                  </a:cubicBezTo>
                  <a:cubicBezTo>
                    <a:pt x="79" y="228"/>
                    <a:pt x="56" y="216"/>
                    <a:pt x="32" y="208"/>
                  </a:cubicBezTo>
                  <a:cubicBezTo>
                    <a:pt x="24" y="205"/>
                    <a:pt x="8" y="200"/>
                    <a:pt x="8" y="200"/>
                  </a:cubicBezTo>
                  <a:cubicBezTo>
                    <a:pt x="0" y="160"/>
                    <a:pt x="13" y="126"/>
                    <a:pt x="0" y="88"/>
                  </a:cubicBezTo>
                  <a:close/>
                </a:path>
              </a:pathLst>
            </a:custGeom>
            <a:solidFill>
              <a:srgbClr val="00CC99"/>
            </a:solidFill>
            <a:ln w="12700">
              <a:solidFill>
                <a:srgbClr val="00CC99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Line 169"/>
            <p:cNvSpPr>
              <a:spLocks noChangeShapeType="1"/>
            </p:cNvSpPr>
            <p:nvPr/>
          </p:nvSpPr>
          <p:spPr bwMode="auto">
            <a:xfrm>
              <a:off x="1886777" y="4017301"/>
              <a:ext cx="143616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5" name="Line 170"/>
            <p:cNvSpPr>
              <a:spLocks noChangeShapeType="1"/>
            </p:cNvSpPr>
            <p:nvPr/>
          </p:nvSpPr>
          <p:spPr bwMode="auto">
            <a:xfrm>
              <a:off x="1886777" y="4274736"/>
              <a:ext cx="143616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1" name="Line 171"/>
            <p:cNvSpPr>
              <a:spLocks noChangeShapeType="1"/>
            </p:cNvSpPr>
            <p:nvPr/>
          </p:nvSpPr>
          <p:spPr bwMode="auto">
            <a:xfrm>
              <a:off x="647761" y="4274736"/>
              <a:ext cx="26046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2" name="Line 172"/>
            <p:cNvSpPr>
              <a:spLocks noChangeShapeType="1"/>
            </p:cNvSpPr>
            <p:nvPr/>
          </p:nvSpPr>
          <p:spPr bwMode="auto">
            <a:xfrm>
              <a:off x="647761" y="3887872"/>
              <a:ext cx="26046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3" name="Line 173"/>
            <p:cNvSpPr>
              <a:spLocks noChangeShapeType="1"/>
            </p:cNvSpPr>
            <p:nvPr/>
          </p:nvSpPr>
          <p:spPr bwMode="auto">
            <a:xfrm>
              <a:off x="777275" y="3887872"/>
              <a:ext cx="1439" cy="386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4" name="Text Box 174"/>
            <p:cNvSpPr txBox="1">
              <a:spLocks noChangeArrowheads="1"/>
            </p:cNvSpPr>
            <p:nvPr/>
          </p:nvSpPr>
          <p:spPr bwMode="auto">
            <a:xfrm>
              <a:off x="488504" y="3951876"/>
              <a:ext cx="326663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w</a:t>
              </a:r>
            </a:p>
          </p:txBody>
        </p:sp>
        <p:sp>
          <p:nvSpPr>
            <p:cNvPr id="45" name="Line 175"/>
            <p:cNvSpPr>
              <a:spLocks noChangeShapeType="1"/>
            </p:cNvSpPr>
            <p:nvPr/>
          </p:nvSpPr>
          <p:spPr bwMode="auto">
            <a:xfrm>
              <a:off x="1886777" y="3823869"/>
              <a:ext cx="143616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6" name="Line 176"/>
            <p:cNvSpPr>
              <a:spLocks noChangeShapeType="1"/>
            </p:cNvSpPr>
            <p:nvPr/>
          </p:nvSpPr>
          <p:spPr bwMode="auto">
            <a:xfrm>
              <a:off x="646322" y="5435329"/>
              <a:ext cx="26046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7" name="Line 177"/>
            <p:cNvSpPr>
              <a:spLocks noChangeShapeType="1"/>
            </p:cNvSpPr>
            <p:nvPr/>
          </p:nvSpPr>
          <p:spPr bwMode="auto">
            <a:xfrm>
              <a:off x="646322" y="5048465"/>
              <a:ext cx="26046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8" name="Line 178"/>
            <p:cNvSpPr>
              <a:spLocks noChangeShapeType="1"/>
            </p:cNvSpPr>
            <p:nvPr/>
          </p:nvSpPr>
          <p:spPr bwMode="auto">
            <a:xfrm>
              <a:off x="775836" y="5048465"/>
              <a:ext cx="1439" cy="386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9" name="Text Box 179"/>
            <p:cNvSpPr txBox="1">
              <a:spLocks noChangeArrowheads="1"/>
            </p:cNvSpPr>
            <p:nvPr/>
          </p:nvSpPr>
          <p:spPr bwMode="auto">
            <a:xfrm>
              <a:off x="521881" y="5112468"/>
              <a:ext cx="326663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w</a:t>
              </a:r>
            </a:p>
          </p:txBody>
        </p:sp>
        <p:sp>
          <p:nvSpPr>
            <p:cNvPr id="50" name="Line 180"/>
            <p:cNvSpPr>
              <a:spLocks noChangeShapeType="1"/>
            </p:cNvSpPr>
            <p:nvPr/>
          </p:nvSpPr>
          <p:spPr bwMode="auto">
            <a:xfrm>
              <a:off x="2671056" y="5113890"/>
              <a:ext cx="0" cy="25743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1" name="Line 181"/>
            <p:cNvSpPr>
              <a:spLocks noChangeShapeType="1"/>
            </p:cNvSpPr>
            <p:nvPr/>
          </p:nvSpPr>
          <p:spPr bwMode="auto">
            <a:xfrm>
              <a:off x="2082487" y="4920458"/>
              <a:ext cx="117569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2" name="Line 182"/>
            <p:cNvSpPr>
              <a:spLocks noChangeShapeType="1"/>
            </p:cNvSpPr>
            <p:nvPr/>
          </p:nvSpPr>
          <p:spPr bwMode="auto">
            <a:xfrm>
              <a:off x="2082487" y="5512133"/>
              <a:ext cx="117569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9" name="Text Box 183"/>
            <p:cNvSpPr txBox="1">
              <a:spLocks noChangeArrowheads="1"/>
            </p:cNvSpPr>
            <p:nvPr/>
          </p:nvSpPr>
          <p:spPr bwMode="auto">
            <a:xfrm>
              <a:off x="3186177" y="4017301"/>
              <a:ext cx="326663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w1</a:t>
              </a:r>
            </a:p>
          </p:txBody>
        </p:sp>
        <p:sp>
          <p:nvSpPr>
            <p:cNvPr id="63" name="Line 184"/>
            <p:cNvSpPr>
              <a:spLocks noChangeShapeType="1"/>
            </p:cNvSpPr>
            <p:nvPr/>
          </p:nvSpPr>
          <p:spPr bwMode="auto">
            <a:xfrm flipV="1">
              <a:off x="3062475" y="3823869"/>
              <a:ext cx="0" cy="19343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4" name="Text Box 185"/>
            <p:cNvSpPr txBox="1">
              <a:spLocks noChangeArrowheads="1"/>
            </p:cNvSpPr>
            <p:nvPr/>
          </p:nvSpPr>
          <p:spPr bwMode="auto">
            <a:xfrm>
              <a:off x="2931522" y="3565011"/>
              <a:ext cx="326663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T1</a:t>
              </a:r>
            </a:p>
          </p:txBody>
        </p:sp>
        <p:sp>
          <p:nvSpPr>
            <p:cNvPr id="65" name="Text Box 186"/>
            <p:cNvSpPr txBox="1">
              <a:spLocks noChangeArrowheads="1"/>
            </p:cNvSpPr>
            <p:nvPr/>
          </p:nvSpPr>
          <p:spPr bwMode="auto">
            <a:xfrm>
              <a:off x="583831" y="3501008"/>
              <a:ext cx="2024734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톱니 모양이 한쪽인 경우</a:t>
              </a:r>
            </a:p>
          </p:txBody>
        </p:sp>
        <p:sp>
          <p:nvSpPr>
            <p:cNvPr id="66" name="Text Box 187"/>
            <p:cNvSpPr txBox="1">
              <a:spLocks noChangeArrowheads="1"/>
            </p:cNvSpPr>
            <p:nvPr/>
          </p:nvSpPr>
          <p:spPr bwMode="auto">
            <a:xfrm>
              <a:off x="587919" y="4643111"/>
              <a:ext cx="2024734" cy="196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톱니 모양이 양쪽인 경우</a:t>
              </a:r>
            </a:p>
          </p:txBody>
        </p:sp>
        <p:sp>
          <p:nvSpPr>
            <p:cNvPr id="67" name="Text Box 188"/>
            <p:cNvSpPr txBox="1">
              <a:spLocks noChangeArrowheads="1"/>
            </p:cNvSpPr>
            <p:nvPr/>
          </p:nvSpPr>
          <p:spPr bwMode="auto">
            <a:xfrm>
              <a:off x="3114169" y="5113890"/>
              <a:ext cx="326663" cy="1960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T2</a:t>
              </a:r>
            </a:p>
          </p:txBody>
        </p:sp>
        <p:sp>
          <p:nvSpPr>
            <p:cNvPr id="68" name="Line 189"/>
            <p:cNvSpPr>
              <a:spLocks noChangeShapeType="1"/>
            </p:cNvSpPr>
            <p:nvPr/>
          </p:nvSpPr>
          <p:spPr bwMode="auto">
            <a:xfrm>
              <a:off x="2082487" y="5371326"/>
              <a:ext cx="849035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9" name="Line 190"/>
            <p:cNvSpPr>
              <a:spLocks noChangeShapeType="1"/>
            </p:cNvSpPr>
            <p:nvPr/>
          </p:nvSpPr>
          <p:spPr bwMode="auto">
            <a:xfrm>
              <a:off x="2082487" y="5113890"/>
              <a:ext cx="78283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Line 191"/>
            <p:cNvSpPr>
              <a:spLocks noChangeShapeType="1"/>
            </p:cNvSpPr>
            <p:nvPr/>
          </p:nvSpPr>
          <p:spPr bwMode="auto">
            <a:xfrm>
              <a:off x="3152799" y="4941168"/>
              <a:ext cx="1" cy="58029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300093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9407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찌꺼기 패턴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간격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1mm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이하일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찌꺼기 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(c)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패턴간격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20%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패턴 간격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(a)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1mm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이상일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찌꺼기 폭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(c)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은 패턴간격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(a)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30%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  (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단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최대 크기는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를 넘지 않을 것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찌꺼기 패턴 길이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(b)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0.5mm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  <a:endParaRPr lang="en-US" altLang="ko-KR" sz="1000" strike="sngStrike" dirty="0">
                        <a:solidFill>
                          <a:srgbClr val="FF0000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100*100mm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이내에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개 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쇼트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490813" y="4005064"/>
            <a:ext cx="3058269" cy="1608932"/>
            <a:chOff x="490813" y="4005064"/>
            <a:chExt cx="3058269" cy="1608932"/>
          </a:xfrm>
        </p:grpSpPr>
        <p:sp>
          <p:nvSpPr>
            <p:cNvPr id="27" name="Line 121"/>
            <p:cNvSpPr>
              <a:spLocks noChangeShapeType="1"/>
            </p:cNvSpPr>
            <p:nvPr/>
          </p:nvSpPr>
          <p:spPr bwMode="auto">
            <a:xfrm>
              <a:off x="1874660" y="5046659"/>
              <a:ext cx="167442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8" name="Line 122"/>
            <p:cNvSpPr>
              <a:spLocks noChangeShapeType="1"/>
            </p:cNvSpPr>
            <p:nvPr/>
          </p:nvSpPr>
          <p:spPr bwMode="auto">
            <a:xfrm>
              <a:off x="3133286" y="4836863"/>
              <a:ext cx="0" cy="20684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9" name="Rectangle 123"/>
            <p:cNvSpPr>
              <a:spLocks noChangeArrowheads="1"/>
            </p:cNvSpPr>
            <p:nvPr/>
          </p:nvSpPr>
          <p:spPr bwMode="auto">
            <a:xfrm>
              <a:off x="490813" y="5231339"/>
              <a:ext cx="2549360" cy="13297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0" name="Line 124"/>
            <p:cNvSpPr>
              <a:spLocks noChangeShapeType="1"/>
            </p:cNvSpPr>
            <p:nvPr/>
          </p:nvSpPr>
          <p:spPr bwMode="auto">
            <a:xfrm>
              <a:off x="1730175" y="4823566"/>
              <a:ext cx="181890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1" name="Rectangle 125"/>
            <p:cNvSpPr>
              <a:spLocks noChangeArrowheads="1"/>
            </p:cNvSpPr>
            <p:nvPr/>
          </p:nvSpPr>
          <p:spPr bwMode="auto">
            <a:xfrm>
              <a:off x="490813" y="4492619"/>
              <a:ext cx="2549360" cy="13297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2" name="Text Box 126"/>
            <p:cNvSpPr txBox="1">
              <a:spLocks noChangeArrowheads="1"/>
            </p:cNvSpPr>
            <p:nvPr/>
          </p:nvSpPr>
          <p:spPr bwMode="auto">
            <a:xfrm>
              <a:off x="2966325" y="5065866"/>
              <a:ext cx="364424" cy="20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c</a:t>
              </a:r>
            </a:p>
          </p:txBody>
        </p:sp>
        <p:sp>
          <p:nvSpPr>
            <p:cNvPr id="33" name="Line 127"/>
            <p:cNvSpPr>
              <a:spLocks noChangeShapeType="1"/>
            </p:cNvSpPr>
            <p:nvPr/>
          </p:nvSpPr>
          <p:spPr bwMode="auto">
            <a:xfrm flipV="1">
              <a:off x="636904" y="4615247"/>
              <a:ext cx="0" cy="60279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Freeform 128"/>
            <p:cNvSpPr>
              <a:spLocks/>
            </p:cNvSpPr>
            <p:nvPr/>
          </p:nvSpPr>
          <p:spPr bwMode="auto">
            <a:xfrm>
              <a:off x="1669170" y="4816178"/>
              <a:ext cx="423823" cy="227526"/>
            </a:xfrm>
            <a:custGeom>
              <a:avLst/>
              <a:gdLst>
                <a:gd name="T0" fmla="*/ 264 w 264"/>
                <a:gd name="T1" fmla="*/ 116 h 154"/>
                <a:gd name="T2" fmla="*/ 128 w 264"/>
                <a:gd name="T3" fmla="*/ 12 h 154"/>
                <a:gd name="T4" fmla="*/ 16 w 264"/>
                <a:gd name="T5" fmla="*/ 20 h 154"/>
                <a:gd name="T6" fmla="*/ 24 w 264"/>
                <a:gd name="T7" fmla="*/ 76 h 154"/>
                <a:gd name="T8" fmla="*/ 144 w 264"/>
                <a:gd name="T9" fmla="*/ 116 h 154"/>
                <a:gd name="T10" fmla="*/ 248 w 264"/>
                <a:gd name="T11" fmla="*/ 140 h 154"/>
                <a:gd name="T12" fmla="*/ 264 w 264"/>
                <a:gd name="T13" fmla="*/ 116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4"/>
                <a:gd name="T22" fmla="*/ 0 h 154"/>
                <a:gd name="T23" fmla="*/ 264 w 264"/>
                <a:gd name="T24" fmla="*/ 154 h 1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4" h="154">
                  <a:moveTo>
                    <a:pt x="264" y="116"/>
                  </a:moveTo>
                  <a:cubicBezTo>
                    <a:pt x="214" y="41"/>
                    <a:pt x="216" y="34"/>
                    <a:pt x="128" y="12"/>
                  </a:cubicBezTo>
                  <a:cubicBezTo>
                    <a:pt x="91" y="15"/>
                    <a:pt x="48" y="0"/>
                    <a:pt x="16" y="20"/>
                  </a:cubicBezTo>
                  <a:cubicBezTo>
                    <a:pt x="0" y="30"/>
                    <a:pt x="15" y="60"/>
                    <a:pt x="24" y="76"/>
                  </a:cubicBezTo>
                  <a:cubicBezTo>
                    <a:pt x="34" y="95"/>
                    <a:pt x="119" y="111"/>
                    <a:pt x="144" y="116"/>
                  </a:cubicBezTo>
                  <a:cubicBezTo>
                    <a:pt x="220" y="154"/>
                    <a:pt x="185" y="153"/>
                    <a:pt x="248" y="140"/>
                  </a:cubicBezTo>
                  <a:cubicBezTo>
                    <a:pt x="257" y="113"/>
                    <a:pt x="248" y="116"/>
                    <a:pt x="264" y="116"/>
                  </a:cubicBezTo>
                  <a:close/>
                </a:path>
              </a:pathLst>
            </a:custGeom>
            <a:solidFill>
              <a:srgbClr val="00CC99"/>
            </a:solidFill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5" name="Text Box 129"/>
            <p:cNvSpPr txBox="1">
              <a:spLocks noChangeArrowheads="1"/>
            </p:cNvSpPr>
            <p:nvPr/>
          </p:nvSpPr>
          <p:spPr bwMode="auto">
            <a:xfrm>
              <a:off x="556634" y="4808791"/>
              <a:ext cx="436666" cy="20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a</a:t>
              </a:r>
            </a:p>
          </p:txBody>
        </p:sp>
        <p:sp>
          <p:nvSpPr>
            <p:cNvPr id="41" name="Text Box 130"/>
            <p:cNvSpPr txBox="1">
              <a:spLocks noChangeArrowheads="1"/>
            </p:cNvSpPr>
            <p:nvPr/>
          </p:nvSpPr>
          <p:spPr bwMode="auto">
            <a:xfrm>
              <a:off x="1437993" y="4005064"/>
              <a:ext cx="1674422" cy="20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찌꺼기 패턴</a:t>
              </a:r>
              <a:endParaRPr lang="en-US" altLang="ko-KR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2" name="Line 131"/>
            <p:cNvSpPr>
              <a:spLocks noChangeShapeType="1"/>
            </p:cNvSpPr>
            <p:nvPr/>
          </p:nvSpPr>
          <p:spPr bwMode="auto">
            <a:xfrm flipH="1">
              <a:off x="2020750" y="4291687"/>
              <a:ext cx="218333" cy="60279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3" name="Line 132"/>
            <p:cNvSpPr>
              <a:spLocks noChangeShapeType="1"/>
            </p:cNvSpPr>
            <p:nvPr/>
          </p:nvSpPr>
          <p:spPr bwMode="auto">
            <a:xfrm>
              <a:off x="1704488" y="4884141"/>
              <a:ext cx="0" cy="72985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4" name="Line 133"/>
            <p:cNvSpPr>
              <a:spLocks noChangeShapeType="1"/>
            </p:cNvSpPr>
            <p:nvPr/>
          </p:nvSpPr>
          <p:spPr bwMode="auto">
            <a:xfrm>
              <a:off x="2080150" y="4943238"/>
              <a:ext cx="0" cy="67075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5" name="Line 134"/>
            <p:cNvSpPr>
              <a:spLocks noChangeShapeType="1"/>
            </p:cNvSpPr>
            <p:nvPr/>
          </p:nvSpPr>
          <p:spPr bwMode="auto">
            <a:xfrm>
              <a:off x="1717331" y="5547511"/>
              <a:ext cx="36281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6" name="Text Box 135"/>
            <p:cNvSpPr txBox="1">
              <a:spLocks noChangeArrowheads="1"/>
            </p:cNvSpPr>
            <p:nvPr/>
          </p:nvSpPr>
          <p:spPr bwMode="auto">
            <a:xfrm>
              <a:off x="1730175" y="5327373"/>
              <a:ext cx="364424" cy="20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b</a:t>
              </a: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4053259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6422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[42]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Jumper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Carbon Jumper,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Silver paste Jumper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등을 적용하여 내부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패턴을 연결하지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금지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Jumper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Wire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등을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적용하여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패턴을 연결하지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금지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결손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3" name="Picture 38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60" y="3068960"/>
            <a:ext cx="2016125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389"/>
          <p:cNvSpPr>
            <a:spLocks noChangeArrowheads="1"/>
          </p:cNvSpPr>
          <p:nvPr/>
        </p:nvSpPr>
        <p:spPr bwMode="auto">
          <a:xfrm>
            <a:off x="1351335" y="3938089"/>
            <a:ext cx="1314753" cy="209686"/>
          </a:xfrm>
          <a:prstGeom prst="rect">
            <a:avLst/>
          </a:prstGeom>
          <a:noFill/>
          <a:ln w="19050" algn="ctr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5258" tIns="27629" rIns="55258" bIns="27629" anchor="ctr">
            <a:spAutoFit/>
          </a:bodyPr>
          <a:lstStyle/>
          <a:p>
            <a:endParaRPr lang="ko-KR" altLang="en-US" sz="1000" b="0">
              <a:latin typeface="현대하모니 L"/>
              <a:ea typeface="현대하모니 L"/>
            </a:endParaRPr>
          </a:p>
        </p:txBody>
      </p:sp>
      <p:sp>
        <p:nvSpPr>
          <p:cNvPr id="25" name="Text Box 104"/>
          <p:cNvSpPr txBox="1">
            <a:spLocks noChangeArrowheads="1"/>
          </p:cNvSpPr>
          <p:nvPr/>
        </p:nvSpPr>
        <p:spPr bwMode="auto">
          <a:xfrm>
            <a:off x="1584828" y="2636912"/>
            <a:ext cx="648232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b="0" dirty="0">
                <a:solidFill>
                  <a:srgbClr val="FF0000"/>
                </a:solidFill>
                <a:latin typeface="현대하모니 L"/>
                <a:ea typeface="현대하모니 L"/>
              </a:rPr>
              <a:t>&lt; NG &gt;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992660" y="4653136"/>
            <a:ext cx="2016124" cy="1352036"/>
            <a:chOff x="992660" y="4669252"/>
            <a:chExt cx="2016124" cy="135203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2660" y="4669252"/>
              <a:ext cx="2016124" cy="1352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1640632" y="5516106"/>
              <a:ext cx="1224136" cy="246221"/>
            </a:xfrm>
            <a:prstGeom prst="rect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428541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3022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Land(Pad)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결손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원둘레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원주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결손폭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(a)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 원주의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10%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잔여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동박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폭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(b, c)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0.1mm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이상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Pin Hole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의 길이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원주의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20%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돌출 길이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(e)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원둘레의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10%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결손이 하나의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랜드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내에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개 이하인가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Land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결손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560512" y="3789366"/>
            <a:ext cx="2730938" cy="2060575"/>
            <a:chOff x="560512" y="3789366"/>
            <a:chExt cx="2730938" cy="2060575"/>
          </a:xfrm>
        </p:grpSpPr>
        <p:sp>
          <p:nvSpPr>
            <p:cNvPr id="41" name="Oval 162"/>
            <p:cNvSpPr>
              <a:spLocks noChangeArrowheads="1"/>
            </p:cNvSpPr>
            <p:nvPr/>
          </p:nvSpPr>
          <p:spPr bwMode="auto">
            <a:xfrm>
              <a:off x="2199419" y="4221166"/>
              <a:ext cx="312992" cy="287338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2" name="Oval 163"/>
            <p:cNvSpPr>
              <a:spLocks noChangeArrowheads="1"/>
            </p:cNvSpPr>
            <p:nvPr/>
          </p:nvSpPr>
          <p:spPr bwMode="auto">
            <a:xfrm>
              <a:off x="1107387" y="4149729"/>
              <a:ext cx="1482411" cy="1439863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3" name="Oval 164"/>
            <p:cNvSpPr>
              <a:spLocks noChangeArrowheads="1"/>
            </p:cNvSpPr>
            <p:nvPr/>
          </p:nvSpPr>
          <p:spPr bwMode="auto">
            <a:xfrm>
              <a:off x="1600951" y="4652966"/>
              <a:ext cx="493564" cy="46196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4" name="Line 165"/>
            <p:cNvSpPr>
              <a:spLocks noChangeShapeType="1"/>
            </p:cNvSpPr>
            <p:nvPr/>
          </p:nvSpPr>
          <p:spPr bwMode="auto">
            <a:xfrm>
              <a:off x="2122031" y="4868866"/>
              <a:ext cx="0" cy="93503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5" name="Line 166"/>
            <p:cNvSpPr>
              <a:spLocks noChangeShapeType="1"/>
            </p:cNvSpPr>
            <p:nvPr/>
          </p:nvSpPr>
          <p:spPr bwMode="auto">
            <a:xfrm>
              <a:off x="2276807" y="4868866"/>
              <a:ext cx="0" cy="93503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6" name="Line 167"/>
            <p:cNvSpPr>
              <a:spLocks noChangeShapeType="1"/>
            </p:cNvSpPr>
            <p:nvPr/>
          </p:nvSpPr>
          <p:spPr bwMode="auto">
            <a:xfrm>
              <a:off x="1888147" y="5734054"/>
              <a:ext cx="23388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7" name="Line 168"/>
            <p:cNvSpPr>
              <a:spLocks noChangeShapeType="1"/>
            </p:cNvSpPr>
            <p:nvPr/>
          </p:nvSpPr>
          <p:spPr bwMode="auto">
            <a:xfrm flipH="1">
              <a:off x="2276807" y="5734054"/>
              <a:ext cx="235604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8" name="Line 169"/>
            <p:cNvSpPr>
              <a:spLocks noChangeShapeType="1"/>
            </p:cNvSpPr>
            <p:nvPr/>
          </p:nvSpPr>
          <p:spPr bwMode="auto">
            <a:xfrm>
              <a:off x="2512410" y="5157791"/>
              <a:ext cx="46776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9" name="Line 170"/>
            <p:cNvSpPr>
              <a:spLocks noChangeShapeType="1"/>
            </p:cNvSpPr>
            <p:nvPr/>
          </p:nvSpPr>
          <p:spPr bwMode="auto">
            <a:xfrm>
              <a:off x="2512410" y="4652966"/>
              <a:ext cx="46776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0" name="Line 171"/>
            <p:cNvSpPr>
              <a:spLocks noChangeShapeType="1"/>
            </p:cNvSpPr>
            <p:nvPr/>
          </p:nvSpPr>
          <p:spPr bwMode="auto">
            <a:xfrm>
              <a:off x="2823682" y="4652966"/>
              <a:ext cx="0" cy="50482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1" name="Line 172"/>
            <p:cNvSpPr>
              <a:spLocks noChangeShapeType="1"/>
            </p:cNvSpPr>
            <p:nvPr/>
          </p:nvSpPr>
          <p:spPr bwMode="auto">
            <a:xfrm flipH="1">
              <a:off x="920552" y="4653136"/>
              <a:ext cx="545156" cy="8651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2" name="Line 173"/>
            <p:cNvSpPr>
              <a:spLocks noChangeShapeType="1"/>
            </p:cNvSpPr>
            <p:nvPr/>
          </p:nvSpPr>
          <p:spPr bwMode="auto">
            <a:xfrm flipH="1">
              <a:off x="1095349" y="4795841"/>
              <a:ext cx="545156" cy="8651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9" name="Line 174"/>
            <p:cNvSpPr>
              <a:spLocks noChangeShapeType="1"/>
            </p:cNvSpPr>
            <p:nvPr/>
          </p:nvSpPr>
          <p:spPr bwMode="auto">
            <a:xfrm>
              <a:off x="836064" y="5228753"/>
              <a:ext cx="156496" cy="1444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3" name="Line 175"/>
            <p:cNvSpPr>
              <a:spLocks noChangeShapeType="1"/>
            </p:cNvSpPr>
            <p:nvPr/>
          </p:nvSpPr>
          <p:spPr bwMode="auto">
            <a:xfrm flipH="1" flipV="1">
              <a:off x="1184776" y="5516566"/>
              <a:ext cx="156496" cy="1444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4" name="Line 176"/>
            <p:cNvSpPr>
              <a:spLocks noChangeShapeType="1"/>
            </p:cNvSpPr>
            <p:nvPr/>
          </p:nvSpPr>
          <p:spPr bwMode="auto">
            <a:xfrm flipH="1" flipV="1">
              <a:off x="884832" y="4435772"/>
              <a:ext cx="467768" cy="4333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5" name="Line 177"/>
            <p:cNvSpPr>
              <a:spLocks noChangeShapeType="1"/>
            </p:cNvSpPr>
            <p:nvPr/>
          </p:nvSpPr>
          <p:spPr bwMode="auto">
            <a:xfrm flipH="1" flipV="1">
              <a:off x="1263883" y="4147740"/>
              <a:ext cx="467768" cy="43338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6" name="Line 178"/>
            <p:cNvSpPr>
              <a:spLocks noChangeShapeType="1"/>
            </p:cNvSpPr>
            <p:nvPr/>
          </p:nvSpPr>
          <p:spPr bwMode="auto">
            <a:xfrm flipV="1">
              <a:off x="1014672" y="4233465"/>
              <a:ext cx="337928" cy="34766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7" name="Line 179"/>
            <p:cNvSpPr>
              <a:spLocks noChangeShapeType="1"/>
            </p:cNvSpPr>
            <p:nvPr/>
          </p:nvSpPr>
          <p:spPr bwMode="auto">
            <a:xfrm flipV="1">
              <a:off x="2276807" y="3933829"/>
              <a:ext cx="312992" cy="28733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8" name="Line 180"/>
            <p:cNvSpPr>
              <a:spLocks noChangeShapeType="1"/>
            </p:cNvSpPr>
            <p:nvPr/>
          </p:nvSpPr>
          <p:spPr bwMode="auto">
            <a:xfrm flipV="1">
              <a:off x="2512410" y="4149729"/>
              <a:ext cx="311272" cy="28733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9" name="Line 181"/>
            <p:cNvSpPr>
              <a:spLocks noChangeShapeType="1"/>
            </p:cNvSpPr>
            <p:nvPr/>
          </p:nvSpPr>
          <p:spPr bwMode="auto">
            <a:xfrm>
              <a:off x="2512410" y="4005266"/>
              <a:ext cx="233884" cy="21590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Text Box 182"/>
            <p:cNvSpPr txBox="1">
              <a:spLocks noChangeArrowheads="1"/>
            </p:cNvSpPr>
            <p:nvPr/>
          </p:nvSpPr>
          <p:spPr bwMode="auto">
            <a:xfrm>
              <a:off x="2901070" y="4797429"/>
              <a:ext cx="39038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a</a:t>
              </a:r>
            </a:p>
          </p:txBody>
        </p:sp>
        <p:sp>
          <p:nvSpPr>
            <p:cNvPr id="71" name="Text Box 183"/>
            <p:cNvSpPr txBox="1">
              <a:spLocks noChangeArrowheads="1"/>
            </p:cNvSpPr>
            <p:nvPr/>
          </p:nvSpPr>
          <p:spPr bwMode="auto">
            <a:xfrm>
              <a:off x="2512410" y="5640391"/>
              <a:ext cx="39038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b</a:t>
              </a:r>
            </a:p>
          </p:txBody>
        </p:sp>
        <p:sp>
          <p:nvSpPr>
            <p:cNvPr id="72" name="Text Box 184"/>
            <p:cNvSpPr txBox="1">
              <a:spLocks noChangeArrowheads="1"/>
            </p:cNvSpPr>
            <p:nvPr/>
          </p:nvSpPr>
          <p:spPr bwMode="auto">
            <a:xfrm>
              <a:off x="2746294" y="3789366"/>
              <a:ext cx="39038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e</a:t>
              </a:r>
            </a:p>
          </p:txBody>
        </p:sp>
        <p:sp>
          <p:nvSpPr>
            <p:cNvPr id="73" name="Text Box 185"/>
            <p:cNvSpPr txBox="1">
              <a:spLocks noChangeArrowheads="1"/>
            </p:cNvSpPr>
            <p:nvPr/>
          </p:nvSpPr>
          <p:spPr bwMode="auto">
            <a:xfrm>
              <a:off x="717008" y="4056066"/>
              <a:ext cx="39038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74" name="Text Box 186"/>
            <p:cNvSpPr txBox="1">
              <a:spLocks noChangeArrowheads="1"/>
            </p:cNvSpPr>
            <p:nvPr/>
          </p:nvSpPr>
          <p:spPr bwMode="auto">
            <a:xfrm>
              <a:off x="560512" y="5137154"/>
              <a:ext cx="39038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c</a:t>
              </a:r>
            </a:p>
          </p:txBody>
        </p:sp>
        <p:sp>
          <p:nvSpPr>
            <p:cNvPr id="75" name="Freeform 187"/>
            <p:cNvSpPr>
              <a:spLocks/>
            </p:cNvSpPr>
            <p:nvPr/>
          </p:nvSpPr>
          <p:spPr bwMode="auto">
            <a:xfrm>
              <a:off x="1229836" y="4365104"/>
              <a:ext cx="338788" cy="420688"/>
            </a:xfrm>
            <a:custGeom>
              <a:avLst/>
              <a:gdLst>
                <a:gd name="T0" fmla="*/ 18810 w 219"/>
                <a:gd name="T1" fmla="*/ 0 h 232"/>
                <a:gd name="T2" fmla="*/ 7551 w 219"/>
                <a:gd name="T3" fmla="*/ 767912 h 232"/>
                <a:gd name="T4" fmla="*/ 2822 w 219"/>
                <a:gd name="T5" fmla="*/ 1672632 h 232"/>
                <a:gd name="T6" fmla="*/ 0 w 219"/>
                <a:gd name="T7" fmla="*/ 3327424 h 232"/>
                <a:gd name="T8" fmla="*/ 3825 w 219"/>
                <a:gd name="T9" fmla="*/ 4094847 h 232"/>
                <a:gd name="T10" fmla="*/ 9391 w 219"/>
                <a:gd name="T11" fmla="*/ 4393572 h 232"/>
                <a:gd name="T12" fmla="*/ 14153 w 219"/>
                <a:gd name="T13" fmla="*/ 4236683 h 232"/>
                <a:gd name="T14" fmla="*/ 16941 w 219"/>
                <a:gd name="T15" fmla="*/ 2573587 h 232"/>
                <a:gd name="T16" fmla="*/ 20784 w 219"/>
                <a:gd name="T17" fmla="*/ 2423136 h 232"/>
                <a:gd name="T18" fmla="*/ 22603 w 219"/>
                <a:gd name="T19" fmla="*/ 1970419 h 232"/>
                <a:gd name="T20" fmla="*/ 25402 w 219"/>
                <a:gd name="T21" fmla="*/ 1672632 h 232"/>
                <a:gd name="T22" fmla="*/ 24374 w 219"/>
                <a:gd name="T23" fmla="*/ 1207950 h 232"/>
                <a:gd name="T24" fmla="*/ 23544 w 219"/>
                <a:gd name="T25" fmla="*/ 603610 h 232"/>
                <a:gd name="T26" fmla="*/ 18810 w 219"/>
                <a:gd name="T27" fmla="*/ 0 h 2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9"/>
                <a:gd name="T43" fmla="*/ 0 h 232"/>
                <a:gd name="T44" fmla="*/ 219 w 219"/>
                <a:gd name="T45" fmla="*/ 232 h 23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9" h="232">
                  <a:moveTo>
                    <a:pt x="160" y="0"/>
                  </a:moveTo>
                  <a:cubicBezTo>
                    <a:pt x="123" y="12"/>
                    <a:pt x="95" y="19"/>
                    <a:pt x="64" y="40"/>
                  </a:cubicBezTo>
                  <a:cubicBezTo>
                    <a:pt x="52" y="57"/>
                    <a:pt x="34" y="70"/>
                    <a:pt x="24" y="88"/>
                  </a:cubicBezTo>
                  <a:cubicBezTo>
                    <a:pt x="12" y="109"/>
                    <a:pt x="6" y="153"/>
                    <a:pt x="0" y="176"/>
                  </a:cubicBezTo>
                  <a:cubicBezTo>
                    <a:pt x="9" y="202"/>
                    <a:pt x="4" y="203"/>
                    <a:pt x="32" y="216"/>
                  </a:cubicBezTo>
                  <a:cubicBezTo>
                    <a:pt x="47" y="223"/>
                    <a:pt x="80" y="232"/>
                    <a:pt x="80" y="232"/>
                  </a:cubicBezTo>
                  <a:cubicBezTo>
                    <a:pt x="93" y="229"/>
                    <a:pt x="108" y="231"/>
                    <a:pt x="120" y="224"/>
                  </a:cubicBezTo>
                  <a:cubicBezTo>
                    <a:pt x="148" y="208"/>
                    <a:pt x="136" y="151"/>
                    <a:pt x="144" y="136"/>
                  </a:cubicBezTo>
                  <a:cubicBezTo>
                    <a:pt x="149" y="126"/>
                    <a:pt x="165" y="131"/>
                    <a:pt x="176" y="128"/>
                  </a:cubicBezTo>
                  <a:cubicBezTo>
                    <a:pt x="181" y="120"/>
                    <a:pt x="185" y="111"/>
                    <a:pt x="192" y="104"/>
                  </a:cubicBezTo>
                  <a:cubicBezTo>
                    <a:pt x="199" y="97"/>
                    <a:pt x="212" y="97"/>
                    <a:pt x="216" y="88"/>
                  </a:cubicBezTo>
                  <a:cubicBezTo>
                    <a:pt x="219" y="80"/>
                    <a:pt x="210" y="72"/>
                    <a:pt x="208" y="64"/>
                  </a:cubicBezTo>
                  <a:cubicBezTo>
                    <a:pt x="205" y="53"/>
                    <a:pt x="206" y="41"/>
                    <a:pt x="200" y="32"/>
                  </a:cubicBezTo>
                  <a:cubicBezTo>
                    <a:pt x="189" y="15"/>
                    <a:pt x="142" y="18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6" name="Freeform 188"/>
            <p:cNvSpPr>
              <a:spLocks/>
            </p:cNvSpPr>
            <p:nvPr/>
          </p:nvSpPr>
          <p:spPr bwMode="auto">
            <a:xfrm>
              <a:off x="2275087" y="4699004"/>
              <a:ext cx="338788" cy="469900"/>
            </a:xfrm>
            <a:custGeom>
              <a:avLst/>
              <a:gdLst>
                <a:gd name="T0" fmla="*/ 173 w 197"/>
                <a:gd name="T1" fmla="*/ 0 h 296"/>
                <a:gd name="T2" fmla="*/ 101 w 197"/>
                <a:gd name="T3" fmla="*/ 48 h 296"/>
                <a:gd name="T4" fmla="*/ 53 w 197"/>
                <a:gd name="T5" fmla="*/ 64 h 296"/>
                <a:gd name="T6" fmla="*/ 37 w 197"/>
                <a:gd name="T7" fmla="*/ 88 h 296"/>
                <a:gd name="T8" fmla="*/ 13 w 197"/>
                <a:gd name="T9" fmla="*/ 96 h 296"/>
                <a:gd name="T10" fmla="*/ 45 w 197"/>
                <a:gd name="T11" fmla="*/ 176 h 296"/>
                <a:gd name="T12" fmla="*/ 157 w 197"/>
                <a:gd name="T13" fmla="*/ 296 h 296"/>
                <a:gd name="T14" fmla="*/ 197 w 197"/>
                <a:gd name="T15" fmla="*/ 200 h 296"/>
                <a:gd name="T16" fmla="*/ 173 w 197"/>
                <a:gd name="T17" fmla="*/ 0 h 2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7"/>
                <a:gd name="T28" fmla="*/ 0 h 296"/>
                <a:gd name="T29" fmla="*/ 197 w 197"/>
                <a:gd name="T30" fmla="*/ 296 h 2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7" h="296">
                  <a:moveTo>
                    <a:pt x="173" y="0"/>
                  </a:moveTo>
                  <a:cubicBezTo>
                    <a:pt x="132" y="14"/>
                    <a:pt x="132" y="31"/>
                    <a:pt x="101" y="48"/>
                  </a:cubicBezTo>
                  <a:cubicBezTo>
                    <a:pt x="86" y="56"/>
                    <a:pt x="53" y="64"/>
                    <a:pt x="53" y="64"/>
                  </a:cubicBezTo>
                  <a:cubicBezTo>
                    <a:pt x="48" y="72"/>
                    <a:pt x="45" y="82"/>
                    <a:pt x="37" y="88"/>
                  </a:cubicBezTo>
                  <a:cubicBezTo>
                    <a:pt x="30" y="93"/>
                    <a:pt x="15" y="88"/>
                    <a:pt x="13" y="96"/>
                  </a:cubicBezTo>
                  <a:cubicBezTo>
                    <a:pt x="0" y="155"/>
                    <a:pt x="13" y="155"/>
                    <a:pt x="45" y="176"/>
                  </a:cubicBezTo>
                  <a:cubicBezTo>
                    <a:pt x="79" y="227"/>
                    <a:pt x="94" y="275"/>
                    <a:pt x="157" y="296"/>
                  </a:cubicBezTo>
                  <a:cubicBezTo>
                    <a:pt x="169" y="261"/>
                    <a:pt x="186" y="234"/>
                    <a:pt x="197" y="200"/>
                  </a:cubicBezTo>
                  <a:cubicBezTo>
                    <a:pt x="187" y="131"/>
                    <a:pt x="173" y="70"/>
                    <a:pt x="1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37" name="직사각형 36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7074999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54406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[44]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휨 및 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비틀림 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(Bare PCB Array, working size 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기준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길이가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100mm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이하일 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휨 정도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(H1/L1)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0.5%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이하 인가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(H1/L1 ≤0.5 %)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길이가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100~ 300mm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이하일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휨 정도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(H1/L1)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0.7 %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H1/L1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≤0.7 %)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길이가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300mm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이상일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휨 정도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H1/L1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1.0 %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H1/L1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≤1.0 %)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길이가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100mm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이하일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비틀림 정도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(H2/D)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0.5%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H2/D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≤0.5 %)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길이가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100~ 300mm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이하일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비틀림 정도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H2/D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0.7 %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H2/D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≤0.7 %)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6) 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길이가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300mm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이상일 때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비틀림 정도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H2/D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1.0 %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이하 인가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H2/D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 ≤1.0 %)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6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조립 불량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크랙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26631" y="3933056"/>
            <a:ext cx="3690265" cy="2088232"/>
            <a:chOff x="326631" y="3933056"/>
            <a:chExt cx="3690265" cy="2088232"/>
          </a:xfrm>
        </p:grpSpPr>
        <p:sp>
          <p:nvSpPr>
            <p:cNvPr id="35" name="원호 34"/>
            <p:cNvSpPr/>
            <p:nvPr/>
          </p:nvSpPr>
          <p:spPr>
            <a:xfrm>
              <a:off x="1541531" y="4301176"/>
              <a:ext cx="2124000" cy="432000"/>
            </a:xfrm>
            <a:prstGeom prst="arc">
              <a:avLst>
                <a:gd name="adj1" fmla="val 10813726"/>
                <a:gd name="adj2" fmla="val 0"/>
              </a:avLst>
            </a:prstGeom>
            <a:ln w="571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b="0">
                <a:latin typeface="현대하모니 L"/>
                <a:ea typeface="현대하모니 L"/>
              </a:endParaRPr>
            </a:p>
          </p:txBody>
        </p:sp>
        <p:sp>
          <p:nvSpPr>
            <p:cNvPr id="41" name="원호 40"/>
            <p:cNvSpPr/>
            <p:nvPr/>
          </p:nvSpPr>
          <p:spPr>
            <a:xfrm>
              <a:off x="1505291" y="5379319"/>
              <a:ext cx="2124000" cy="432000"/>
            </a:xfrm>
            <a:prstGeom prst="arc">
              <a:avLst>
                <a:gd name="adj1" fmla="val 10813726"/>
                <a:gd name="adj2" fmla="val 0"/>
              </a:avLst>
            </a:prstGeom>
            <a:ln w="571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b="0">
                <a:latin typeface="현대하모니 L"/>
                <a:ea typeface="현대하모니 L"/>
              </a:endParaRPr>
            </a:p>
          </p:txBody>
        </p:sp>
        <p:sp>
          <p:nvSpPr>
            <p:cNvPr id="42" name="Line 79"/>
            <p:cNvSpPr>
              <a:spLocks noChangeShapeType="1"/>
            </p:cNvSpPr>
            <p:nvPr/>
          </p:nvSpPr>
          <p:spPr bwMode="auto">
            <a:xfrm>
              <a:off x="1435409" y="4512290"/>
              <a:ext cx="2295626" cy="0"/>
            </a:xfrm>
            <a:prstGeom prst="line">
              <a:avLst/>
            </a:prstGeom>
            <a:noFill/>
            <a:ln w="127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3" name="Line 80"/>
            <p:cNvSpPr>
              <a:spLocks noChangeShapeType="1"/>
            </p:cNvSpPr>
            <p:nvPr/>
          </p:nvSpPr>
          <p:spPr bwMode="auto">
            <a:xfrm flipV="1">
              <a:off x="2613477" y="4512290"/>
              <a:ext cx="0" cy="16141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4" name="Line 81"/>
            <p:cNvSpPr>
              <a:spLocks noChangeShapeType="1"/>
            </p:cNvSpPr>
            <p:nvPr/>
          </p:nvSpPr>
          <p:spPr bwMode="auto">
            <a:xfrm>
              <a:off x="2613477" y="4189457"/>
              <a:ext cx="0" cy="16141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5" name="Text Box 82"/>
            <p:cNvSpPr txBox="1">
              <a:spLocks noChangeArrowheads="1"/>
            </p:cNvSpPr>
            <p:nvPr/>
          </p:nvSpPr>
          <p:spPr bwMode="auto">
            <a:xfrm>
              <a:off x="2464591" y="4517038"/>
              <a:ext cx="616201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H1</a:t>
              </a:r>
            </a:p>
          </p:txBody>
        </p:sp>
        <p:sp>
          <p:nvSpPr>
            <p:cNvPr id="46" name="Line 83"/>
            <p:cNvSpPr>
              <a:spLocks noChangeShapeType="1"/>
            </p:cNvSpPr>
            <p:nvPr/>
          </p:nvSpPr>
          <p:spPr bwMode="auto">
            <a:xfrm flipV="1">
              <a:off x="1547783" y="4026853"/>
              <a:ext cx="0" cy="538846"/>
            </a:xfrm>
            <a:prstGeom prst="line">
              <a:avLst/>
            </a:prstGeom>
            <a:noFill/>
            <a:ln w="127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7" name="Line 84"/>
            <p:cNvSpPr>
              <a:spLocks noChangeShapeType="1"/>
            </p:cNvSpPr>
            <p:nvPr/>
          </p:nvSpPr>
          <p:spPr bwMode="auto">
            <a:xfrm flipV="1">
              <a:off x="3675465" y="4026853"/>
              <a:ext cx="0" cy="538846"/>
            </a:xfrm>
            <a:prstGeom prst="line">
              <a:avLst/>
            </a:prstGeom>
            <a:noFill/>
            <a:ln w="127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8" name="Line 85"/>
            <p:cNvSpPr>
              <a:spLocks noChangeShapeType="1"/>
            </p:cNvSpPr>
            <p:nvPr/>
          </p:nvSpPr>
          <p:spPr bwMode="auto">
            <a:xfrm>
              <a:off x="1547783" y="4134861"/>
              <a:ext cx="2127683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9" name="Text Box 86"/>
            <p:cNvSpPr txBox="1">
              <a:spLocks noChangeArrowheads="1"/>
            </p:cNvSpPr>
            <p:nvPr/>
          </p:nvSpPr>
          <p:spPr bwMode="auto">
            <a:xfrm>
              <a:off x="2014564" y="3933056"/>
              <a:ext cx="614966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L1</a:t>
              </a:r>
            </a:p>
          </p:txBody>
        </p:sp>
        <p:sp>
          <p:nvSpPr>
            <p:cNvPr id="51" name="Line 65"/>
            <p:cNvSpPr>
              <a:spLocks noChangeShapeType="1"/>
            </p:cNvSpPr>
            <p:nvPr/>
          </p:nvSpPr>
          <p:spPr bwMode="auto">
            <a:xfrm>
              <a:off x="1414589" y="5587257"/>
              <a:ext cx="2339995" cy="0"/>
            </a:xfrm>
            <a:prstGeom prst="line">
              <a:avLst/>
            </a:prstGeom>
            <a:noFill/>
            <a:ln w="127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2" name="Line 66"/>
            <p:cNvSpPr>
              <a:spLocks noChangeShapeType="1"/>
            </p:cNvSpPr>
            <p:nvPr/>
          </p:nvSpPr>
          <p:spPr bwMode="auto">
            <a:xfrm flipV="1">
              <a:off x="2615426" y="5587257"/>
              <a:ext cx="0" cy="1700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>
              <a:off x="2615426" y="5247095"/>
              <a:ext cx="0" cy="1700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61" name="Text Box 68"/>
            <p:cNvSpPr txBox="1">
              <a:spLocks noChangeArrowheads="1"/>
            </p:cNvSpPr>
            <p:nvPr/>
          </p:nvSpPr>
          <p:spPr bwMode="auto">
            <a:xfrm>
              <a:off x="2452682" y="5611018"/>
              <a:ext cx="628110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H2</a:t>
              </a:r>
            </a:p>
          </p:txBody>
        </p:sp>
        <p:sp>
          <p:nvSpPr>
            <p:cNvPr id="63" name="Text Box 69"/>
            <p:cNvSpPr txBox="1">
              <a:spLocks noChangeArrowheads="1"/>
            </p:cNvSpPr>
            <p:nvPr/>
          </p:nvSpPr>
          <p:spPr bwMode="auto">
            <a:xfrm>
              <a:off x="1334743" y="5811602"/>
              <a:ext cx="2682153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비틀림 정도 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: H2/D , D : PCB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대각선 길이</a:t>
              </a:r>
            </a:p>
          </p:txBody>
        </p:sp>
        <p:sp>
          <p:nvSpPr>
            <p:cNvPr id="64" name="Text Box 69"/>
            <p:cNvSpPr txBox="1">
              <a:spLocks noChangeArrowheads="1"/>
            </p:cNvSpPr>
            <p:nvPr/>
          </p:nvSpPr>
          <p:spPr bwMode="auto">
            <a:xfrm>
              <a:off x="326631" y="4155418"/>
              <a:ext cx="1283431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2) 3) PCB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휨</a:t>
              </a:r>
            </a:p>
          </p:txBody>
        </p:sp>
        <p:sp>
          <p:nvSpPr>
            <p:cNvPr id="65" name="Text Box 69"/>
            <p:cNvSpPr txBox="1">
              <a:spLocks noChangeArrowheads="1"/>
            </p:cNvSpPr>
            <p:nvPr/>
          </p:nvSpPr>
          <p:spPr bwMode="auto">
            <a:xfrm>
              <a:off x="326631" y="5186045"/>
              <a:ext cx="1631871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4) 5) 6) PCB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비틀림</a:t>
              </a:r>
            </a:p>
          </p:txBody>
        </p:sp>
        <p:sp>
          <p:nvSpPr>
            <p:cNvPr id="66" name="Text Box 69"/>
            <p:cNvSpPr txBox="1">
              <a:spLocks noChangeArrowheads="1"/>
            </p:cNvSpPr>
            <p:nvPr/>
          </p:nvSpPr>
          <p:spPr bwMode="auto">
            <a:xfrm>
              <a:off x="1334743" y="4735285"/>
              <a:ext cx="2682153" cy="20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</a:pP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휨 정도 </a:t>
              </a:r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: H1/L1 , L1 : PCB </a:t>
              </a:r>
              <a:r>
                <a:rPr lang="ko-KR" altLang="en-US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길이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3468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40618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[45]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클리닝 상태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가는 선과 같은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전도성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이물질이 남아 있지 않은가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Flux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잔여물이 남아 있지 않은가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Silk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이물질이 남아 있지 않은가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이물질에 의해 부품 삽입 홀이 막히지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패턴 쇼트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500703" y="3645024"/>
            <a:ext cx="3012137" cy="1789712"/>
            <a:chOff x="428695" y="3644900"/>
            <a:chExt cx="3508937" cy="1944691"/>
          </a:xfrm>
        </p:grpSpPr>
        <p:grpSp>
          <p:nvGrpSpPr>
            <p:cNvPr id="31" name="Group 82"/>
            <p:cNvGrpSpPr>
              <a:grpSpLocks/>
            </p:cNvGrpSpPr>
            <p:nvPr/>
          </p:nvGrpSpPr>
          <p:grpSpPr bwMode="auto">
            <a:xfrm>
              <a:off x="428695" y="4149728"/>
              <a:ext cx="3508937" cy="1439863"/>
              <a:chOff x="353" y="2579"/>
              <a:chExt cx="1776" cy="771"/>
            </a:xfrm>
          </p:grpSpPr>
          <p:grpSp>
            <p:nvGrpSpPr>
              <p:cNvPr id="32" name="Group 83"/>
              <p:cNvGrpSpPr>
                <a:grpSpLocks/>
              </p:cNvGrpSpPr>
              <p:nvPr/>
            </p:nvGrpSpPr>
            <p:grpSpPr bwMode="auto">
              <a:xfrm>
                <a:off x="353" y="2579"/>
                <a:ext cx="816" cy="771"/>
                <a:chOff x="256" y="3216"/>
                <a:chExt cx="816" cy="771"/>
              </a:xfrm>
            </p:grpSpPr>
            <p:pic>
              <p:nvPicPr>
                <p:cNvPr id="41" name="Picture 84" descr="5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lum bright="18000" contrast="18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77" r="11539" b="5515"/>
                <a:stretch>
                  <a:fillRect/>
                </a:stretch>
              </p:blipFill>
              <p:spPr bwMode="auto">
                <a:xfrm>
                  <a:off x="256" y="3216"/>
                  <a:ext cx="816" cy="7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2" name="AutoShape 85"/>
                <p:cNvSpPr>
                  <a:spLocks noChangeArrowheads="1"/>
                </p:cNvSpPr>
                <p:nvPr/>
              </p:nvSpPr>
              <p:spPr bwMode="auto">
                <a:xfrm>
                  <a:off x="256" y="3456"/>
                  <a:ext cx="658" cy="288"/>
                </a:xfrm>
                <a:prstGeom prst="roundRect">
                  <a:avLst>
                    <a:gd name="adj" fmla="val 16667"/>
                  </a:avLst>
                </a:prstGeom>
                <a:noFill/>
                <a:ln w="19050" algn="ctr">
                  <a:solidFill>
                    <a:srgbClr val="FF3300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200" b="0">
                    <a:latin typeface="현대하모니 L"/>
                    <a:ea typeface="현대하모니 L"/>
                  </a:endParaRPr>
                </a:p>
              </p:txBody>
            </p:sp>
          </p:grpSp>
          <p:grpSp>
            <p:nvGrpSpPr>
              <p:cNvPr id="33" name="Group 86"/>
              <p:cNvGrpSpPr>
                <a:grpSpLocks/>
              </p:cNvGrpSpPr>
              <p:nvPr/>
            </p:nvGrpSpPr>
            <p:grpSpPr bwMode="auto">
              <a:xfrm>
                <a:off x="1217" y="2579"/>
                <a:ext cx="912" cy="750"/>
                <a:chOff x="1120" y="3216"/>
                <a:chExt cx="912" cy="750"/>
              </a:xfrm>
            </p:grpSpPr>
            <p:pic>
              <p:nvPicPr>
                <p:cNvPr id="34" name="Picture 87" descr="2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lum bright="12000" contrast="12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1282" b="24667"/>
                <a:stretch>
                  <a:fillRect/>
                </a:stretch>
              </p:blipFill>
              <p:spPr bwMode="auto">
                <a:xfrm>
                  <a:off x="1120" y="3216"/>
                  <a:ext cx="912" cy="7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5" name="AutoShape 88"/>
                <p:cNvSpPr>
                  <a:spLocks noChangeArrowheads="1"/>
                </p:cNvSpPr>
                <p:nvPr/>
              </p:nvSpPr>
              <p:spPr bwMode="auto">
                <a:xfrm>
                  <a:off x="1144" y="3400"/>
                  <a:ext cx="528" cy="48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algn="ctr">
                  <a:solidFill>
                    <a:srgbClr val="FF3300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200" b="0">
                    <a:latin typeface="현대하모니 L"/>
                    <a:ea typeface="현대하모니 L"/>
                  </a:endParaRPr>
                </a:p>
              </p:txBody>
            </p:sp>
          </p:grpSp>
        </p:grpSp>
        <p:sp>
          <p:nvSpPr>
            <p:cNvPr id="43" name="Text Box 89"/>
            <p:cNvSpPr txBox="1">
              <a:spLocks noChangeArrowheads="1"/>
            </p:cNvSpPr>
            <p:nvPr/>
          </p:nvSpPr>
          <p:spPr bwMode="auto">
            <a:xfrm>
              <a:off x="1801621" y="3644900"/>
              <a:ext cx="755147" cy="303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1986074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96529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Silk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인쇄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Ref Name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을 부여할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하나의 부품에 하나의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Silk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로 표시를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Silk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Land(Pad)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위에 인쇄되지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Silk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Through Hole pad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위에 인쇄되지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Silk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부품 형상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실장 영역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과 겹치지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극성이 있는 부품의 경우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극성을 확인하도록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Silk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설계를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O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솔더링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불량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오인식 문제 발생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344488" y="3552657"/>
            <a:ext cx="3023105" cy="2468631"/>
            <a:chOff x="344488" y="3284984"/>
            <a:chExt cx="3113304" cy="2900679"/>
          </a:xfrm>
        </p:grpSpPr>
        <p:sp>
          <p:nvSpPr>
            <p:cNvPr id="23" name="Text Box 89"/>
            <p:cNvSpPr txBox="1">
              <a:spLocks noChangeArrowheads="1"/>
            </p:cNvSpPr>
            <p:nvPr/>
          </p:nvSpPr>
          <p:spPr bwMode="auto">
            <a:xfrm>
              <a:off x="2660798" y="3284984"/>
              <a:ext cx="667572" cy="328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24" name="Text Box 89"/>
            <p:cNvSpPr txBox="1">
              <a:spLocks noChangeArrowheads="1"/>
            </p:cNvSpPr>
            <p:nvPr/>
          </p:nvSpPr>
          <p:spPr bwMode="auto">
            <a:xfrm>
              <a:off x="981154" y="3284984"/>
              <a:ext cx="662621" cy="328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25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7" t="3474" r="4790" b="21149"/>
            <a:stretch>
              <a:fillRect/>
            </a:stretch>
          </p:blipFill>
          <p:spPr bwMode="auto">
            <a:xfrm>
              <a:off x="622432" y="3645024"/>
              <a:ext cx="1481023" cy="819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그림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6" t="4175" r="12463" b="24304"/>
            <a:stretch>
              <a:fillRect/>
            </a:stretch>
          </p:blipFill>
          <p:spPr bwMode="auto">
            <a:xfrm>
              <a:off x="2548339" y="3645024"/>
              <a:ext cx="892492" cy="7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그림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1" t="2928" r="7730" b="19431"/>
            <a:stretch>
              <a:fillRect/>
            </a:stretch>
          </p:blipFill>
          <p:spPr bwMode="auto">
            <a:xfrm>
              <a:off x="2565300" y="5329783"/>
              <a:ext cx="892492" cy="855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그룹 3"/>
            <p:cNvGrpSpPr/>
            <p:nvPr/>
          </p:nvGrpSpPr>
          <p:grpSpPr>
            <a:xfrm>
              <a:off x="2565300" y="4509120"/>
              <a:ext cx="892492" cy="707537"/>
              <a:chOff x="3226318" y="4964116"/>
              <a:chExt cx="1336889" cy="1152525"/>
            </a:xfrm>
          </p:grpSpPr>
          <p:pic>
            <p:nvPicPr>
              <p:cNvPr id="28" name="그림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83" t="3857" r="9683" b="25455"/>
              <a:stretch>
                <a:fillRect/>
              </a:stretch>
            </p:blipFill>
            <p:spPr bwMode="auto">
              <a:xfrm>
                <a:off x="3226318" y="4964116"/>
                <a:ext cx="1336889" cy="1152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Oval 51"/>
              <p:cNvSpPr>
                <a:spLocks noChangeArrowheads="1"/>
              </p:cNvSpPr>
              <p:nvPr/>
            </p:nvSpPr>
            <p:spPr bwMode="auto">
              <a:xfrm>
                <a:off x="3647072" y="5254628"/>
                <a:ext cx="546189" cy="50482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 b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344488" y="4155011"/>
              <a:ext cx="313989" cy="289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93420" y="3645024"/>
              <a:ext cx="313989" cy="289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2)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02945" y="4478923"/>
              <a:ext cx="313989" cy="289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97890" y="5329783"/>
              <a:ext cx="313989" cy="289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623" y="3706627"/>
            <a:ext cx="2737337" cy="207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19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46939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[47]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PSR(Photo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Solder Resist)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 INK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상태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PSR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미도포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과도포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뭉침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Void,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핀홀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긁힘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변색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탄화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등의 불량 현상이 없는가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PSR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버블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기포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현상이 발생하지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ctr" latinLnBrk="1">
                        <a:spcBef>
                          <a:spcPts val="600"/>
                        </a:spcBef>
                        <a:buAutoNum type="arabicParenR"/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PSR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균열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크랙이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발생하지 않았는가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회로 패턴간 절연성 유지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내구 신뢰성 향상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632520" y="3140968"/>
            <a:ext cx="2664296" cy="2752825"/>
            <a:chOff x="704528" y="3365844"/>
            <a:chExt cx="2664296" cy="275282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45"/>
            <a:stretch/>
          </p:blipFill>
          <p:spPr>
            <a:xfrm>
              <a:off x="704528" y="3648074"/>
              <a:ext cx="2664296" cy="2470595"/>
            </a:xfrm>
            <a:prstGeom prst="rect">
              <a:avLst/>
            </a:prstGeom>
          </p:spPr>
        </p:pic>
        <p:sp>
          <p:nvSpPr>
            <p:cNvPr id="8" name="Text Box 89"/>
            <p:cNvSpPr txBox="1">
              <a:spLocks noChangeArrowheads="1"/>
            </p:cNvSpPr>
            <p:nvPr/>
          </p:nvSpPr>
          <p:spPr bwMode="auto">
            <a:xfrm>
              <a:off x="1679248" y="3365844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3757676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64252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[48]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Lead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타입 부품 실장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–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클린치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커팅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리드를 클린치 하는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클린치 방향으로 실크처리를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부품 리드를 클린치 하는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리드가 인접한 신호 패턴을 향하지 않도록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클린치된 리드는 주변의 다른 패턴과 절연거리를 유지하고 있는가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(d1≥0.5㎜)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부품 리드를 커팅하는 경우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돌출된 리드의 길이를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d2 ≤ 1.5㎜ )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리드 타입 부품 적용 시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미사용 리드도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솔더링을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리드 길이 기준 있을 경우 작성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리드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min/max 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리드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클린칭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방향 기준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주변 패턴과 쇼트 가능성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255620" y="3552657"/>
            <a:ext cx="3545252" cy="2517773"/>
            <a:chOff x="255620" y="3552657"/>
            <a:chExt cx="3545252" cy="251777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488" y="3964896"/>
              <a:ext cx="1408034" cy="620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4688" y="3964896"/>
              <a:ext cx="1512168" cy="776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4688" y="5041196"/>
              <a:ext cx="1541353" cy="908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" name="그룹 2"/>
            <p:cNvGrpSpPr/>
            <p:nvPr/>
          </p:nvGrpSpPr>
          <p:grpSpPr>
            <a:xfrm>
              <a:off x="1136577" y="4999988"/>
              <a:ext cx="957105" cy="877284"/>
              <a:chOff x="1630327" y="4349454"/>
              <a:chExt cx="1037603" cy="848126"/>
            </a:xfrm>
          </p:grpSpPr>
          <p:pic>
            <p:nvPicPr>
              <p:cNvPr id="2051" name="Picture 3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1630327" y="4349454"/>
                <a:ext cx="932938" cy="848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2309590" y="4693574"/>
                <a:ext cx="358340" cy="238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d2</a:t>
                </a:r>
                <a:endParaRPr lang="ko-KR" altLang="en-US" sz="1000" b="0" dirty="0" err="1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272480" y="3717032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06736" y="3758843"/>
              <a:ext cx="4700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2) 3)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7" name="Text Box 89"/>
            <p:cNvSpPr txBox="1">
              <a:spLocks noChangeArrowheads="1"/>
            </p:cNvSpPr>
            <p:nvPr/>
          </p:nvSpPr>
          <p:spPr bwMode="auto">
            <a:xfrm>
              <a:off x="2593690" y="3552657"/>
              <a:ext cx="648231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18" name="Text Box 89"/>
            <p:cNvSpPr txBox="1">
              <a:spLocks noChangeArrowheads="1"/>
            </p:cNvSpPr>
            <p:nvPr/>
          </p:nvSpPr>
          <p:spPr bwMode="auto">
            <a:xfrm>
              <a:off x="962708" y="3552657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7170" name="Picture 2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19" r="34508"/>
            <a:stretch/>
          </p:blipFill>
          <p:spPr bwMode="auto">
            <a:xfrm>
              <a:off x="476678" y="4671631"/>
              <a:ext cx="587890" cy="1398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9"/>
            <p:cNvSpPr txBox="1"/>
            <p:nvPr/>
          </p:nvSpPr>
          <p:spPr>
            <a:xfrm>
              <a:off x="326146" y="4725144"/>
              <a:ext cx="3321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현대하모니 L"/>
                  <a:ea typeface="현대하모니 L"/>
                </a:rPr>
                <a:t>d1</a:t>
              </a:r>
              <a:endParaRPr lang="ko-KR" altLang="en-US" sz="1000" b="0" dirty="0" err="1">
                <a:latin typeface="현대하모니 L"/>
                <a:ea typeface="현대하모니 L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5620" y="5126995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96616" y="4725144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95980" y="5126995"/>
              <a:ext cx="3048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5)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19688899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1375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[49]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Lead </a:t>
                      </a:r>
                      <a:r>
                        <a:rPr lang="ko-KR" altLang="en-US" sz="1200" b="1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타입 부품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실장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부품을 세워서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실장하는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수직으로 조립되었는가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strike="sngStrike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구부려서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실장하는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수평으로 조립되었는가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ctr" latinLnBrk="1">
                        <a:spcBef>
                          <a:spcPts val="600"/>
                        </a:spcBef>
                        <a:buAutoNum type="arabicParenR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구부려서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실장하는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제조사가 추천하는 방법에 따라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Lead forming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을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고려 사항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 r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구부린 각도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), d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몸체로부터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진동에 의한 문제가 발생되지 않도록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본딩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이나 기구적인 고정 대책을 수립하였는가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부품 삽입 및 기울기 공차 등을 고려하여 주변 부품과 충분히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진동에 의한 부품 손상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12469" y="3861048"/>
            <a:ext cx="2756355" cy="2160240"/>
            <a:chOff x="344488" y="3998726"/>
            <a:chExt cx="2396315" cy="2022562"/>
          </a:xfrm>
        </p:grpSpPr>
        <p:sp>
          <p:nvSpPr>
            <p:cNvPr id="32" name="Line 71"/>
            <p:cNvSpPr>
              <a:spLocks noChangeShapeType="1"/>
            </p:cNvSpPr>
            <p:nvPr/>
          </p:nvSpPr>
          <p:spPr bwMode="auto">
            <a:xfrm>
              <a:off x="911364" y="4614959"/>
              <a:ext cx="1369668" cy="0"/>
            </a:xfrm>
            <a:prstGeom prst="line">
              <a:avLst/>
            </a:prstGeom>
            <a:noFill/>
            <a:ln w="76200">
              <a:solidFill>
                <a:srgbClr val="99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3" name="Rectangle 72"/>
            <p:cNvSpPr>
              <a:spLocks noChangeArrowheads="1"/>
            </p:cNvSpPr>
            <p:nvPr/>
          </p:nvSpPr>
          <p:spPr bwMode="auto">
            <a:xfrm>
              <a:off x="1555913" y="4528881"/>
              <a:ext cx="75991" cy="15204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34" name="Rectangle 73"/>
            <p:cNvSpPr>
              <a:spLocks noChangeArrowheads="1"/>
            </p:cNvSpPr>
            <p:nvPr/>
          </p:nvSpPr>
          <p:spPr bwMode="auto">
            <a:xfrm>
              <a:off x="1518335" y="4131545"/>
              <a:ext cx="166630" cy="401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endParaRPr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45" name="Text Box 79"/>
            <p:cNvSpPr txBox="1">
              <a:spLocks noChangeArrowheads="1"/>
            </p:cNvSpPr>
            <p:nvPr/>
          </p:nvSpPr>
          <p:spPr bwMode="auto">
            <a:xfrm>
              <a:off x="352947" y="4326709"/>
              <a:ext cx="1028094" cy="1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Lead </a:t>
              </a:r>
              <a:r>
                <a:rPr lang="ko-KR" altLang="en-US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타입 부품</a:t>
              </a:r>
            </a:p>
          </p:txBody>
        </p:sp>
        <p:sp>
          <p:nvSpPr>
            <p:cNvPr id="46" name="Line 80"/>
            <p:cNvSpPr>
              <a:spLocks noChangeShapeType="1"/>
            </p:cNvSpPr>
            <p:nvPr/>
          </p:nvSpPr>
          <p:spPr bwMode="auto">
            <a:xfrm flipV="1">
              <a:off x="1371887" y="4363161"/>
              <a:ext cx="166630" cy="3620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>
              <a:off x="669082" y="5887388"/>
              <a:ext cx="2071721" cy="0"/>
            </a:xfrm>
            <a:prstGeom prst="line">
              <a:avLst/>
            </a:prstGeom>
            <a:noFill/>
            <a:ln w="76200">
              <a:solidFill>
                <a:srgbClr val="99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4" name="Rectangle 89"/>
            <p:cNvSpPr>
              <a:spLocks noChangeArrowheads="1"/>
            </p:cNvSpPr>
            <p:nvPr/>
          </p:nvSpPr>
          <p:spPr bwMode="auto">
            <a:xfrm>
              <a:off x="1358733" y="5671864"/>
              <a:ext cx="817056" cy="1506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 flipH="1">
              <a:off x="1044373" y="5752504"/>
              <a:ext cx="314359" cy="0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982055" y="5842098"/>
              <a:ext cx="0" cy="179190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7" name="Arc 92"/>
            <p:cNvSpPr>
              <a:spLocks/>
            </p:cNvSpPr>
            <p:nvPr/>
          </p:nvSpPr>
          <p:spPr bwMode="auto">
            <a:xfrm flipH="1">
              <a:off x="982055" y="5752504"/>
              <a:ext cx="63703" cy="895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8" name="Oval 93"/>
            <p:cNvSpPr>
              <a:spLocks noChangeArrowheads="1"/>
            </p:cNvSpPr>
            <p:nvPr/>
          </p:nvSpPr>
          <p:spPr bwMode="auto">
            <a:xfrm>
              <a:off x="1271841" y="5004209"/>
              <a:ext cx="933382" cy="142760"/>
            </a:xfrm>
            <a:prstGeom prst="ellipse">
              <a:avLst/>
            </a:prstGeom>
            <a:solidFill>
              <a:srgbClr val="7030A0"/>
            </a:solidFill>
            <a:ln w="9525" algn="ctr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606763" y="5216905"/>
              <a:ext cx="2071721" cy="0"/>
            </a:xfrm>
            <a:prstGeom prst="line">
              <a:avLst/>
            </a:prstGeom>
            <a:noFill/>
            <a:ln w="76200">
              <a:solidFill>
                <a:srgbClr val="99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 flipH="1">
              <a:off x="982055" y="5082021"/>
              <a:ext cx="314359" cy="0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919738" y="5171615"/>
              <a:ext cx="0" cy="179190"/>
            </a:xfrm>
            <a:prstGeom prst="line">
              <a:avLst/>
            </a:pr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2" name="Arc 97"/>
            <p:cNvSpPr>
              <a:spLocks/>
            </p:cNvSpPr>
            <p:nvPr/>
          </p:nvSpPr>
          <p:spPr bwMode="auto">
            <a:xfrm flipH="1">
              <a:off x="919738" y="5082021"/>
              <a:ext cx="63703" cy="8959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>
              <a:off x="972362" y="5484704"/>
              <a:ext cx="0" cy="30324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1358733" y="5484704"/>
              <a:ext cx="0" cy="26386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>
              <a:off x="993134" y="5631403"/>
              <a:ext cx="36559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6" name="Text Box 101"/>
            <p:cNvSpPr txBox="1">
              <a:spLocks noChangeArrowheads="1"/>
            </p:cNvSpPr>
            <p:nvPr/>
          </p:nvSpPr>
          <p:spPr bwMode="auto">
            <a:xfrm>
              <a:off x="1004213" y="5403896"/>
              <a:ext cx="314359" cy="1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87" name="Line 102"/>
            <p:cNvSpPr>
              <a:spLocks noChangeShapeType="1"/>
            </p:cNvSpPr>
            <p:nvPr/>
          </p:nvSpPr>
          <p:spPr bwMode="auto">
            <a:xfrm flipH="1" flipV="1">
              <a:off x="1045756" y="5797792"/>
              <a:ext cx="363668" cy="13390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1288290" y="5825208"/>
              <a:ext cx="314359" cy="1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r</a:t>
              </a:r>
            </a:p>
          </p:txBody>
        </p:sp>
        <p:sp>
          <p:nvSpPr>
            <p:cNvPr id="89" name="Line 104"/>
            <p:cNvSpPr>
              <a:spLocks noChangeShapeType="1"/>
            </p:cNvSpPr>
            <p:nvPr/>
          </p:nvSpPr>
          <p:spPr bwMode="auto">
            <a:xfrm>
              <a:off x="907274" y="4801422"/>
              <a:ext cx="0" cy="30324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0" name="Line 105"/>
            <p:cNvSpPr>
              <a:spLocks noChangeShapeType="1"/>
            </p:cNvSpPr>
            <p:nvPr/>
          </p:nvSpPr>
          <p:spPr bwMode="auto">
            <a:xfrm>
              <a:off x="1296414" y="4801422"/>
              <a:ext cx="0" cy="26386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1" name="Line 106"/>
            <p:cNvSpPr>
              <a:spLocks noChangeShapeType="1"/>
            </p:cNvSpPr>
            <p:nvPr/>
          </p:nvSpPr>
          <p:spPr bwMode="auto">
            <a:xfrm>
              <a:off x="929431" y="4948121"/>
              <a:ext cx="36698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4" name="Text Box 107"/>
            <p:cNvSpPr txBox="1">
              <a:spLocks noChangeArrowheads="1"/>
            </p:cNvSpPr>
            <p:nvPr/>
          </p:nvSpPr>
          <p:spPr bwMode="auto">
            <a:xfrm>
              <a:off x="940510" y="4680927"/>
              <a:ext cx="314359" cy="1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</a:t>
              </a:r>
            </a:p>
          </p:txBody>
        </p:sp>
        <p:sp>
          <p:nvSpPr>
            <p:cNvPr id="95" name="Line 108"/>
            <p:cNvSpPr>
              <a:spLocks noChangeShapeType="1"/>
            </p:cNvSpPr>
            <p:nvPr/>
          </p:nvSpPr>
          <p:spPr bwMode="auto">
            <a:xfrm flipH="1" flipV="1">
              <a:off x="982054" y="5114511"/>
              <a:ext cx="289785" cy="14320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6" name="Text Box 109"/>
            <p:cNvSpPr txBox="1">
              <a:spLocks noChangeArrowheads="1"/>
            </p:cNvSpPr>
            <p:nvPr/>
          </p:nvSpPr>
          <p:spPr bwMode="auto">
            <a:xfrm>
              <a:off x="1175841" y="5162486"/>
              <a:ext cx="314359" cy="181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58" tIns="27629" rIns="55258" bIns="27629">
              <a:spAutoFit/>
            </a:bodyPr>
            <a:lstStyle>
              <a:lvl1pPr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defTabSz="9588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defTabSz="95885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r</a:t>
              </a:r>
            </a:p>
          </p:txBody>
        </p:sp>
        <p:sp>
          <p:nvSpPr>
            <p:cNvPr id="97" name="AutoShape 110"/>
            <p:cNvSpPr>
              <a:spLocks noChangeArrowheads="1"/>
            </p:cNvSpPr>
            <p:nvPr/>
          </p:nvSpPr>
          <p:spPr bwMode="auto">
            <a:xfrm>
              <a:off x="2079224" y="5062271"/>
              <a:ext cx="201860" cy="133021"/>
            </a:xfrm>
            <a:prstGeom prst="cloudCallout">
              <a:avLst>
                <a:gd name="adj1" fmla="val -28023"/>
                <a:gd name="adj2" fmla="val 64514"/>
              </a:avLst>
            </a:prstGeom>
            <a:solidFill>
              <a:schemeClr val="accent5"/>
            </a:solidFill>
            <a:ln w="12700">
              <a:solidFill>
                <a:schemeClr val="accent5"/>
              </a:solidFill>
              <a:round/>
              <a:headEnd/>
              <a:tailEnd/>
            </a:ln>
          </p:spPr>
          <p:txBody>
            <a:bodyPr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  <a:spcAft>
                  <a:spcPts val="0"/>
                </a:spcAft>
              </a:pPr>
              <a:endParaRPr kumimoji="0" lang="ko-KR" altLang="ko-KR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8" name="AutoShape 111"/>
            <p:cNvSpPr>
              <a:spLocks noChangeArrowheads="1"/>
            </p:cNvSpPr>
            <p:nvPr/>
          </p:nvSpPr>
          <p:spPr bwMode="auto">
            <a:xfrm>
              <a:off x="2144688" y="5714195"/>
              <a:ext cx="259705" cy="160394"/>
            </a:xfrm>
            <a:prstGeom prst="cloudCallout">
              <a:avLst>
                <a:gd name="adj1" fmla="val -28310"/>
                <a:gd name="adj2" fmla="val 63282"/>
              </a:avLst>
            </a:prstGeom>
            <a:solidFill>
              <a:schemeClr val="accent5"/>
            </a:solidFill>
            <a:ln w="12700">
              <a:solidFill>
                <a:schemeClr val="accent5"/>
              </a:solidFill>
              <a:round/>
              <a:headEnd/>
              <a:tailEnd/>
            </a:ln>
          </p:spPr>
          <p:txBody>
            <a:bodyPr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  <a:spcAft>
                  <a:spcPts val="0"/>
                </a:spcAft>
              </a:pPr>
              <a:endParaRPr kumimoji="0" lang="ko-KR" altLang="ko-KR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99" name="Rectangle 88"/>
            <p:cNvSpPr>
              <a:spLocks noChangeArrowheads="1"/>
            </p:cNvSpPr>
            <p:nvPr/>
          </p:nvSpPr>
          <p:spPr bwMode="auto">
            <a:xfrm>
              <a:off x="820168" y="3998726"/>
              <a:ext cx="252523" cy="216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00" name="Rectangle 88"/>
            <p:cNvSpPr>
              <a:spLocks noChangeArrowheads="1"/>
            </p:cNvSpPr>
            <p:nvPr/>
          </p:nvSpPr>
          <p:spPr bwMode="auto">
            <a:xfrm>
              <a:off x="344488" y="5102659"/>
              <a:ext cx="252523" cy="734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</a:t>
              </a:r>
            </a:p>
            <a:p>
              <a:endParaRPr lang="en-US" altLang="ko-KR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  <a:p>
              <a:endParaRPr lang="en-US" altLang="ko-KR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  <a:p>
              <a:endParaRPr lang="en-US" altLang="ko-KR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  <a:p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1594183" y="3999953"/>
              <a:ext cx="0" cy="747159"/>
            </a:xfrm>
            <a:prstGeom prst="line">
              <a:avLst/>
            </a:prstGeom>
            <a:ln>
              <a:solidFill>
                <a:srgbClr val="0000FF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AutoShape 110"/>
            <p:cNvSpPr>
              <a:spLocks noChangeArrowheads="1"/>
            </p:cNvSpPr>
            <p:nvPr/>
          </p:nvSpPr>
          <p:spPr bwMode="auto">
            <a:xfrm>
              <a:off x="1673235" y="4428727"/>
              <a:ext cx="183421" cy="152401"/>
            </a:xfrm>
            <a:prstGeom prst="cloudCallout">
              <a:avLst>
                <a:gd name="adj1" fmla="val -28023"/>
                <a:gd name="adj2" fmla="val 64514"/>
              </a:avLst>
            </a:prstGeom>
            <a:solidFill>
              <a:schemeClr val="accent5"/>
            </a:solidFill>
            <a:ln w="12700">
              <a:solidFill>
                <a:schemeClr val="accent5"/>
              </a:solidFill>
              <a:round/>
              <a:headEnd/>
              <a:tailEnd/>
            </a:ln>
          </p:spPr>
          <p:txBody>
            <a:bodyPr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  <a:spcAft>
                  <a:spcPts val="0"/>
                </a:spcAft>
              </a:pPr>
              <a:endParaRPr kumimoji="0" lang="ko-KR" altLang="ko-KR" sz="900" b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50" name="Rectangle 88"/>
            <p:cNvSpPr>
              <a:spLocks noChangeArrowheads="1"/>
            </p:cNvSpPr>
            <p:nvPr/>
          </p:nvSpPr>
          <p:spPr bwMode="auto">
            <a:xfrm>
              <a:off x="1712640" y="4221088"/>
              <a:ext cx="252523" cy="216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9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9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70318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63757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[50]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PCB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에 고정이 필요한 부품의 실장 방법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 부품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고정 가이드에 따라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</a:t>
                      </a:r>
                      <a:r>
                        <a:rPr lang="ko-KR" altLang="en-US" sz="1000" kern="1200" baseline="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실장되었는가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방열판이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필요한 부품을 세워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실장하는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단자 외력해소를 위해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Forming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을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고정을 위해 나사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반도체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maker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규정 조임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토크치를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적용하였는가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고정을 위해 나사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spring washer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washer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사용하여 나사 풀림을 방지하였는가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반도체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maker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규정 조임 토크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공정상 적용된 조임 토크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외력에 의한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박리 방지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   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진동에 의한 부품 리드 손상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416496" y="3548989"/>
            <a:ext cx="2094744" cy="2165133"/>
            <a:chOff x="428694" y="3665538"/>
            <a:chExt cx="2569896" cy="2428865"/>
          </a:xfrm>
        </p:grpSpPr>
        <p:pic>
          <p:nvPicPr>
            <p:cNvPr id="16" name="Picture 6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21" b="4787"/>
            <a:stretch>
              <a:fillRect/>
            </a:stretch>
          </p:blipFill>
          <p:spPr bwMode="auto">
            <a:xfrm>
              <a:off x="450923" y="4076703"/>
              <a:ext cx="679559" cy="1909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6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38" r="8237" b="5090"/>
            <a:stretch>
              <a:fillRect/>
            </a:stretch>
          </p:blipFill>
          <p:spPr bwMode="auto">
            <a:xfrm>
              <a:off x="1052683" y="4149725"/>
              <a:ext cx="644628" cy="176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 Box 70"/>
            <p:cNvSpPr txBox="1">
              <a:spLocks noChangeArrowheads="1"/>
            </p:cNvSpPr>
            <p:nvPr/>
          </p:nvSpPr>
          <p:spPr bwMode="auto">
            <a:xfrm>
              <a:off x="1420252" y="3665538"/>
              <a:ext cx="789371" cy="31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pic>
          <p:nvPicPr>
            <p:cNvPr id="20" name="Picture 7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306"/>
            <a:stretch>
              <a:fillRect/>
            </a:stretch>
          </p:blipFill>
          <p:spPr bwMode="auto">
            <a:xfrm>
              <a:off x="1598869" y="5300666"/>
              <a:ext cx="1325774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74"/>
            <p:cNvSpPr>
              <a:spLocks noChangeArrowheads="1"/>
            </p:cNvSpPr>
            <p:nvPr/>
          </p:nvSpPr>
          <p:spPr bwMode="auto">
            <a:xfrm flipV="1">
              <a:off x="428694" y="5619750"/>
              <a:ext cx="2569896" cy="69850"/>
            </a:xfrm>
            <a:prstGeom prst="rect">
              <a:avLst/>
            </a:prstGeom>
            <a:solidFill>
              <a:srgbClr val="339966"/>
            </a:solidFill>
            <a:ln w="12700" algn="ctr">
              <a:solidFill>
                <a:srgbClr val="5F5F5F"/>
              </a:solidFill>
              <a:miter lim="800000"/>
              <a:headEnd/>
              <a:tailEnd/>
            </a:ln>
          </p:spPr>
          <p:txBody>
            <a:bodyPr rot="10800000"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" name="Oval 76"/>
            <p:cNvSpPr>
              <a:spLocks noChangeArrowheads="1"/>
            </p:cNvSpPr>
            <p:nvPr/>
          </p:nvSpPr>
          <p:spPr bwMode="auto">
            <a:xfrm>
              <a:off x="428695" y="5229228"/>
              <a:ext cx="389000" cy="576263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25" name="Oval 77"/>
            <p:cNvSpPr>
              <a:spLocks noChangeArrowheads="1"/>
            </p:cNvSpPr>
            <p:nvPr/>
          </p:nvSpPr>
          <p:spPr bwMode="auto">
            <a:xfrm>
              <a:off x="974881" y="5229225"/>
              <a:ext cx="389000" cy="598488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5258" tIns="27629" rIns="55258" bIns="27629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30" name="Rectangle 91"/>
            <p:cNvSpPr>
              <a:spLocks noChangeArrowheads="1"/>
            </p:cNvSpPr>
            <p:nvPr/>
          </p:nvSpPr>
          <p:spPr bwMode="auto">
            <a:xfrm>
              <a:off x="798641" y="5622928"/>
              <a:ext cx="76213" cy="1444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36" name="Rectangle 92"/>
            <p:cNvSpPr>
              <a:spLocks noChangeArrowheads="1"/>
            </p:cNvSpPr>
            <p:nvPr/>
          </p:nvSpPr>
          <p:spPr bwMode="auto">
            <a:xfrm>
              <a:off x="1411516" y="5622928"/>
              <a:ext cx="77799" cy="1444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37" name="Rectangle 98"/>
            <p:cNvSpPr>
              <a:spLocks noChangeArrowheads="1"/>
            </p:cNvSpPr>
            <p:nvPr/>
          </p:nvSpPr>
          <p:spPr bwMode="auto">
            <a:xfrm>
              <a:off x="1754470" y="4843465"/>
              <a:ext cx="790972" cy="448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Spring</a:t>
              </a:r>
            </a:p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washer</a:t>
              </a:r>
            </a:p>
          </p:txBody>
        </p:sp>
        <p:sp>
          <p:nvSpPr>
            <p:cNvPr id="38" name="Rectangle 99"/>
            <p:cNvSpPr>
              <a:spLocks noChangeArrowheads="1"/>
            </p:cNvSpPr>
            <p:nvPr/>
          </p:nvSpPr>
          <p:spPr bwMode="auto">
            <a:xfrm>
              <a:off x="1521069" y="5818190"/>
              <a:ext cx="901102" cy="276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평</a:t>
              </a:r>
              <a:r>
                <a:rPr lang="en-US" altLang="ko-KR" sz="1000" b="0">
                  <a:solidFill>
                    <a:srgbClr val="0000FF"/>
                  </a:solidFill>
                  <a:latin typeface="현대하모니 L"/>
                  <a:ea typeface="현대하모니 L"/>
                </a:rPr>
                <a:t>washer</a:t>
              </a:r>
            </a:p>
          </p:txBody>
        </p:sp>
        <p:sp>
          <p:nvSpPr>
            <p:cNvPr id="39" name="Line 100"/>
            <p:cNvSpPr>
              <a:spLocks noChangeShapeType="1"/>
            </p:cNvSpPr>
            <p:nvPr/>
          </p:nvSpPr>
          <p:spPr bwMode="auto">
            <a:xfrm flipV="1">
              <a:off x="2378457" y="5805488"/>
              <a:ext cx="233400" cy="14446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  <p:sp>
          <p:nvSpPr>
            <p:cNvPr id="40" name="Line 101"/>
            <p:cNvSpPr>
              <a:spLocks noChangeShapeType="1"/>
            </p:cNvSpPr>
            <p:nvPr/>
          </p:nvSpPr>
          <p:spPr bwMode="auto">
            <a:xfrm>
              <a:off x="2378457" y="5276850"/>
              <a:ext cx="233400" cy="28733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000" b="0">
                <a:latin typeface="현대하모니 L"/>
                <a:ea typeface="현대하모니 L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2648744" y="3530591"/>
            <a:ext cx="982553" cy="1654187"/>
            <a:chOff x="2648744" y="3530591"/>
            <a:chExt cx="982553" cy="1654187"/>
          </a:xfrm>
        </p:grpSpPr>
        <p:pic>
          <p:nvPicPr>
            <p:cNvPr id="32" name="Picture 47" descr="DSC00006"/>
            <p:cNvPicPr>
              <a:picLocks noChangeAspect="1" noChangeArrowheads="1"/>
            </p:cNvPicPr>
            <p:nvPr/>
          </p:nvPicPr>
          <p:blipFill>
            <a:blip r:embed="rId5" cstate="print">
              <a:lum bright="24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38" t="34221" r="43063" b="31013"/>
            <a:stretch>
              <a:fillRect/>
            </a:stretch>
          </p:blipFill>
          <p:spPr bwMode="auto">
            <a:xfrm>
              <a:off x="2648744" y="4005064"/>
              <a:ext cx="982553" cy="1179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 Box 71"/>
            <p:cNvSpPr txBox="1">
              <a:spLocks noChangeArrowheads="1"/>
            </p:cNvSpPr>
            <p:nvPr/>
          </p:nvSpPr>
          <p:spPr bwMode="auto">
            <a:xfrm>
              <a:off x="2813157" y="3530591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4" name="타원 3"/>
            <p:cNvSpPr/>
            <p:nvPr/>
          </p:nvSpPr>
          <p:spPr>
            <a:xfrm>
              <a:off x="2792760" y="4077072"/>
              <a:ext cx="576064" cy="1049923"/>
            </a:xfrm>
            <a:prstGeom prst="ellipse">
              <a:avLst/>
            </a:prstGeom>
            <a:ln w="19050">
              <a:solidFill>
                <a:srgbClr val="EE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26937630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외관 검사</a:t>
            </a:r>
            <a:endParaRPr lang="en-US" altLang="ko-KR" sz="2400" b="0" dirty="0">
              <a:solidFill>
                <a:srgbClr val="000000"/>
              </a:solidFill>
              <a:latin typeface="현대하모니 B"/>
              <a:ea typeface="현대하모니 B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15501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[51]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전자파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노이즈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차폐용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Shield Cover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Shield Cover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맞닿는 부분에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신호 패턴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(GND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 지나가지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Shield Cover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맞닿는 부분에 긁힘에 의한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동노출이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발생하지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spcBef>
                          <a:spcPts val="600"/>
                        </a:spcBef>
                        <a:buNone/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Shield Cover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사이에 적정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clearance(d)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 유지하고 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  ※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적정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clearance(d)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협력사가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test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후 적용할 것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</a:t>
                      </a: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Shield Cover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내 부품과 간섭이 발생되지 않도록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설계하였는가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2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clearance(d)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기준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Shield cover type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 따라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Clearance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가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 불필요할 경우 사유 기재할 것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신호선과 쇼트 발생 방지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,EMC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차폐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" name="그룹 11"/>
          <p:cNvGrpSpPr/>
          <p:nvPr/>
        </p:nvGrpSpPr>
        <p:grpSpPr>
          <a:xfrm>
            <a:off x="363538" y="3603214"/>
            <a:ext cx="3230836" cy="1944216"/>
            <a:chOff x="416495" y="3243174"/>
            <a:chExt cx="3230836" cy="1944216"/>
          </a:xfrm>
        </p:grpSpPr>
        <p:grpSp>
          <p:nvGrpSpPr>
            <p:cNvPr id="7" name="그룹 6"/>
            <p:cNvGrpSpPr/>
            <p:nvPr/>
          </p:nvGrpSpPr>
          <p:grpSpPr>
            <a:xfrm>
              <a:off x="416495" y="3243174"/>
              <a:ext cx="3175551" cy="1944216"/>
              <a:chOff x="519213" y="3140968"/>
              <a:chExt cx="3074887" cy="1832793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519213" y="3573444"/>
                <a:ext cx="1554174" cy="1400317"/>
                <a:chOff x="1611840" y="3264682"/>
                <a:chExt cx="1554174" cy="1400317"/>
              </a:xfrm>
            </p:grpSpPr>
            <p:pic>
              <p:nvPicPr>
                <p:cNvPr id="47" name="그림 70" descr="CF_SVC_pcb_rear_short_4.jpg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387" t="3382"/>
                <a:stretch/>
              </p:blipFill>
              <p:spPr bwMode="auto">
                <a:xfrm>
                  <a:off x="1611840" y="3264682"/>
                  <a:ext cx="1551183" cy="11682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48" name="직선 연결선 47"/>
                <p:cNvCxnSpPr/>
                <p:nvPr/>
              </p:nvCxnSpPr>
              <p:spPr>
                <a:xfrm>
                  <a:off x="2535578" y="3940901"/>
                  <a:ext cx="629729" cy="288032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직선 연결선 48"/>
                <p:cNvCxnSpPr/>
                <p:nvPr/>
              </p:nvCxnSpPr>
              <p:spPr>
                <a:xfrm>
                  <a:off x="2536285" y="4012909"/>
                  <a:ext cx="629729" cy="288032"/>
                </a:xfrm>
                <a:prstGeom prst="line">
                  <a:avLst/>
                </a:prstGeom>
                <a:ln w="1270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/>
                <p:cNvCxnSpPr/>
                <p:nvPr/>
              </p:nvCxnSpPr>
              <p:spPr>
                <a:xfrm>
                  <a:off x="2936623" y="3907797"/>
                  <a:ext cx="0" cy="196974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화살표 연결선 50"/>
                <p:cNvCxnSpPr/>
                <p:nvPr/>
              </p:nvCxnSpPr>
              <p:spPr>
                <a:xfrm flipV="1">
                  <a:off x="2936623" y="4214880"/>
                  <a:ext cx="0" cy="216024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직사각형 51"/>
                <p:cNvSpPr/>
                <p:nvPr/>
              </p:nvSpPr>
              <p:spPr>
                <a:xfrm>
                  <a:off x="2811258" y="4432889"/>
                  <a:ext cx="251766" cy="232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d</a:t>
                  </a:r>
                  <a:endParaRPr lang="ko-KR" altLang="en-US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53" name="Rectangle 216"/>
                <p:cNvSpPr>
                  <a:spLocks noChangeArrowheads="1"/>
                </p:cNvSpPr>
                <p:nvPr/>
              </p:nvSpPr>
              <p:spPr bwMode="auto">
                <a:xfrm>
                  <a:off x="2639274" y="4432888"/>
                  <a:ext cx="295227" cy="232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itchFamily="50" charset="-127"/>
                      <a:ea typeface="굴림" pitchFamily="50" charset="-127"/>
                    </a:defRPr>
                  </a:lvl9pPr>
                </a:lstStyle>
                <a:p>
                  <a:pPr eaLnBrk="1" hangingPunct="1"/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3)</a:t>
                  </a:r>
                  <a:endParaRPr lang="ko-KR" altLang="en-US" sz="1000" b="0" dirty="0">
                    <a:solidFill>
                      <a:srgbClr val="0000FF"/>
                    </a:solidFill>
                    <a:latin typeface="현대하모니 L"/>
                    <a:ea typeface="현대하모니 L"/>
                  </a:endParaRPr>
                </a:p>
              </p:txBody>
            </p:sp>
          </p:grp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2898" y="3556788"/>
                <a:ext cx="1471202" cy="1168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Rectangle 216"/>
              <p:cNvSpPr>
                <a:spLocks noChangeArrowheads="1"/>
              </p:cNvSpPr>
              <p:nvPr/>
            </p:nvSpPr>
            <p:spPr bwMode="auto">
              <a:xfrm>
                <a:off x="2288704" y="3686835"/>
                <a:ext cx="295227" cy="232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2)</a:t>
                </a:r>
                <a:endParaRPr lang="ko-KR" altLang="en-US" sz="1000" b="0" dirty="0">
                  <a:solidFill>
                    <a:srgbClr val="FF0000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59" name="Text Box 70"/>
              <p:cNvSpPr txBox="1">
                <a:spLocks noChangeArrowheads="1"/>
              </p:cNvSpPr>
              <p:nvPr/>
            </p:nvSpPr>
            <p:spPr bwMode="auto">
              <a:xfrm>
                <a:off x="885196" y="3160127"/>
                <a:ext cx="623027" cy="263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0000FF"/>
                    </a:solidFill>
                    <a:latin typeface="현대하모니 L"/>
                    <a:ea typeface="현대하모니 L"/>
                  </a:rPr>
                  <a:t>&lt; OK &gt;</a:t>
                </a:r>
              </a:p>
            </p:txBody>
          </p:sp>
          <p:sp>
            <p:nvSpPr>
              <p:cNvPr id="60" name="Text Box 71"/>
              <p:cNvSpPr txBox="1">
                <a:spLocks noChangeArrowheads="1"/>
              </p:cNvSpPr>
              <p:nvPr/>
            </p:nvSpPr>
            <p:spPr bwMode="auto">
              <a:xfrm>
                <a:off x="2600416" y="3140968"/>
                <a:ext cx="627683" cy="263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2288704" y="4021673"/>
                <a:ext cx="632551" cy="232110"/>
              </a:xfrm>
              <a:prstGeom prst="rect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2279179" y="4475405"/>
              <a:ext cx="1368152" cy="246221"/>
            </a:xfrm>
            <a:prstGeom prst="rect">
              <a:avLst/>
            </a:prstGeom>
            <a:ln w="57150">
              <a:solidFill>
                <a:schemeClr val="bg1">
                  <a:lumMod val="75000"/>
                  <a:alpha val="7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현대하모니 L"/>
                <a:ea typeface="현대하모니 L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</p:spTree>
    <p:extLst>
      <p:ext uri="{BB962C8B-B14F-4D97-AF65-F5344CB8AC3E}">
        <p14:creationId xmlns:p14="http://schemas.microsoft.com/office/powerpoint/2010/main" val="3005171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736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Flexible PCB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5744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[52]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FPCB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패턴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회로폭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감소부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꺽이는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부분에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보강판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경계면을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확보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권장값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: d1≥0.5 ㎜)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최외곽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패턴은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경계면에서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규정치 이내로 안쪽에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권장값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: d2≥0.5 ㎜)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양면 회로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형성시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Pattern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은 엇갈리도록 설계하였는가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고정용 나사와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PCB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경계면은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적절한 거리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(d3≥0.5㎜)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유지하고 있는가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8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내구 신뢰성 확보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53799" y="3193253"/>
            <a:ext cx="3474998" cy="2980513"/>
            <a:chOff x="181791" y="3193253"/>
            <a:chExt cx="3474998" cy="2980513"/>
          </a:xfrm>
        </p:grpSpPr>
        <p:grpSp>
          <p:nvGrpSpPr>
            <p:cNvPr id="12" name="그룹 11"/>
            <p:cNvGrpSpPr/>
            <p:nvPr/>
          </p:nvGrpSpPr>
          <p:grpSpPr>
            <a:xfrm>
              <a:off x="181791" y="3193253"/>
              <a:ext cx="3474998" cy="2980513"/>
              <a:chOff x="181791" y="3193253"/>
              <a:chExt cx="3474998" cy="2980513"/>
            </a:xfrm>
          </p:grpSpPr>
          <p:grpSp>
            <p:nvGrpSpPr>
              <p:cNvPr id="9" name="그룹 8"/>
              <p:cNvGrpSpPr/>
              <p:nvPr/>
            </p:nvGrpSpPr>
            <p:grpSpPr>
              <a:xfrm>
                <a:off x="181791" y="3193253"/>
                <a:ext cx="3474998" cy="2980513"/>
                <a:chOff x="181791" y="3193253"/>
                <a:chExt cx="3474998" cy="2980513"/>
              </a:xfrm>
            </p:grpSpPr>
            <p:grpSp>
              <p:nvGrpSpPr>
                <p:cNvPr id="5" name="그룹 4"/>
                <p:cNvGrpSpPr/>
                <p:nvPr/>
              </p:nvGrpSpPr>
              <p:grpSpPr>
                <a:xfrm>
                  <a:off x="290537" y="4564780"/>
                  <a:ext cx="1782143" cy="606445"/>
                  <a:chOff x="347664" y="4849810"/>
                  <a:chExt cx="1854497" cy="606445"/>
                </a:xfrm>
              </p:grpSpPr>
              <p:grpSp>
                <p:nvGrpSpPr>
                  <p:cNvPr id="17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479447" y="5240355"/>
                    <a:ext cx="1582992" cy="215900"/>
                    <a:chOff x="3229" y="3487"/>
                    <a:chExt cx="997" cy="136"/>
                  </a:xfrm>
                </p:grpSpPr>
                <p:sp>
                  <p:nvSpPr>
                    <p:cNvPr id="18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9" y="3533"/>
                      <a:ext cx="997" cy="44"/>
                    </a:xfrm>
                    <a:prstGeom prst="rect">
                      <a:avLst/>
                    </a:prstGeom>
                    <a:noFill/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19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47" y="34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20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89" y="3578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21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4" y="34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22" name="Rectangl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00" y="3578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23" name="Rectangl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82" y="34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sp>
                <p:nvSpPr>
                  <p:cNvPr id="24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662039" y="5073671"/>
                    <a:ext cx="0" cy="30638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5" name="Line 9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8979" y="5073671"/>
                    <a:ext cx="0" cy="27463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6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347664" y="5164155"/>
                    <a:ext cx="14131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7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665215" y="5164155"/>
                    <a:ext cx="13972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28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394713" y="4878385"/>
                    <a:ext cx="343960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000" b="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rPr>
                      <a:t>d2</a:t>
                    </a:r>
                  </a:p>
                </p:txBody>
              </p:sp>
              <p:sp>
                <p:nvSpPr>
                  <p:cNvPr id="29" name="Line 99"/>
                  <p:cNvSpPr>
                    <a:spLocks noChangeShapeType="1"/>
                  </p:cNvSpPr>
                  <p:nvPr/>
                </p:nvSpPr>
                <p:spPr bwMode="auto">
                  <a:xfrm>
                    <a:off x="2068788" y="5078430"/>
                    <a:ext cx="0" cy="30638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0" name="Line 10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00089" y="5073671"/>
                    <a:ext cx="0" cy="29954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1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1744888" y="5168918"/>
                    <a:ext cx="14131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2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2062439" y="5168918"/>
                    <a:ext cx="13972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3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1823960" y="4849810"/>
                    <a:ext cx="343960" cy="2462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000" b="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rPr>
                      <a:t>d2</a:t>
                    </a:r>
                  </a:p>
                </p:txBody>
              </p:sp>
              <p:sp>
                <p:nvSpPr>
                  <p:cNvPr id="34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957172" y="4875225"/>
                    <a:ext cx="739989" cy="209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>
                    <a:spAutoFit/>
                  </a:bodyPr>
                  <a:lstStyle/>
                  <a:p>
                    <a:pPr algn="ctr" defTabSz="958850" fontAlgn="ctr">
                      <a:spcBef>
                        <a:spcPct val="50000"/>
                      </a:spcBef>
                    </a:pPr>
                    <a:r>
                      <a:rPr lang="ko-KR" altLang="en-US" sz="1000" b="0" dirty="0" err="1">
                        <a:latin typeface="현대하모니 L"/>
                        <a:ea typeface="현대하모니 L"/>
                      </a:rPr>
                      <a:t>최외곽</a:t>
                    </a:r>
                    <a:r>
                      <a:rPr lang="ko-KR" altLang="en-US" sz="1000" b="0" dirty="0">
                        <a:latin typeface="현대하모니 L"/>
                        <a:ea typeface="현대하모니 L"/>
                      </a:rPr>
                      <a:t> 패턴</a:t>
                    </a:r>
                  </a:p>
                </p:txBody>
              </p:sp>
              <p:sp>
                <p:nvSpPr>
                  <p:cNvPr id="35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1530541" y="5078433"/>
                    <a:ext cx="144486" cy="1428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  <p:sp>
                <p:nvSpPr>
                  <p:cNvPr id="36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1236807" y="5078430"/>
                    <a:ext cx="28897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55258" tIns="27629" rIns="55258" bIns="27629" anchor="ctr"/>
                  <a:lstStyle/>
                  <a:p>
                    <a:endParaRPr lang="ko-KR" altLang="en-US" sz="1000" b="0">
                      <a:latin typeface="현대하모니 L"/>
                      <a:ea typeface="현대하모니 L"/>
                    </a:endParaRPr>
                  </a:p>
                </p:txBody>
              </p:sp>
            </p:grpSp>
            <p:pic>
              <p:nvPicPr>
                <p:cNvPr id="37" name="Picture 65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5786" b="22926"/>
                <a:stretch/>
              </p:blipFill>
              <p:spPr bwMode="auto">
                <a:xfrm>
                  <a:off x="416496" y="3566740"/>
                  <a:ext cx="1646051" cy="838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" name="Rectangle 70"/>
                <p:cNvSpPr>
                  <a:spLocks noChangeArrowheads="1"/>
                </p:cNvSpPr>
                <p:nvPr/>
              </p:nvSpPr>
              <p:spPr bwMode="auto">
                <a:xfrm>
                  <a:off x="181791" y="3858328"/>
                  <a:ext cx="332142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d1</a:t>
                  </a:r>
                </a:p>
              </p:txBody>
            </p:sp>
            <p:grpSp>
              <p:nvGrpSpPr>
                <p:cNvPr id="6" name="그룹 5"/>
                <p:cNvGrpSpPr/>
                <p:nvPr/>
              </p:nvGrpSpPr>
              <p:grpSpPr>
                <a:xfrm>
                  <a:off x="2072680" y="3566740"/>
                  <a:ext cx="1582757" cy="1151657"/>
                  <a:chOff x="669444" y="3572743"/>
                  <a:chExt cx="1758500" cy="1151657"/>
                </a:xfrm>
              </p:grpSpPr>
              <p:pic>
                <p:nvPicPr>
                  <p:cNvPr id="41" name="Picture 6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9190"/>
                  <a:stretch/>
                </p:blipFill>
                <p:spPr bwMode="auto">
                  <a:xfrm>
                    <a:off x="669444" y="3677586"/>
                    <a:ext cx="1752601" cy="104681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2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1577313" y="3572743"/>
                    <a:ext cx="850631" cy="209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>
                    <a:spAutoFit/>
                  </a:bodyPr>
                  <a:lstStyle/>
                  <a:p>
                    <a:pPr algn="ctr" defTabSz="958850" fontAlgn="ctr">
                      <a:spcBef>
                        <a:spcPct val="50000"/>
                      </a:spcBef>
                    </a:pPr>
                    <a:r>
                      <a:rPr lang="ko-KR" altLang="en-US" sz="1000" b="0" dirty="0">
                        <a:latin typeface="현대하모니 L"/>
                        <a:ea typeface="현대하모니 L"/>
                      </a:rPr>
                      <a:t>폭 감소</a:t>
                    </a:r>
                    <a:r>
                      <a:rPr lang="en-US" altLang="ko-KR" sz="1000" b="0" dirty="0">
                        <a:latin typeface="현대하모니 L"/>
                        <a:ea typeface="현대하모니 L"/>
                      </a:rPr>
                      <a:t>/</a:t>
                    </a:r>
                    <a:r>
                      <a:rPr lang="ko-KR" altLang="en-US" sz="1000" b="0" dirty="0" err="1">
                        <a:latin typeface="현대하모니 L"/>
                        <a:ea typeface="현대하모니 L"/>
                      </a:rPr>
                      <a:t>꺽임</a:t>
                    </a: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grpSp>
                <p:nvGrpSpPr>
                  <p:cNvPr id="43" name="Group 91"/>
                  <p:cNvGrpSpPr>
                    <a:grpSpLocks/>
                  </p:cNvGrpSpPr>
                  <p:nvPr/>
                </p:nvGrpSpPr>
                <p:grpSpPr bwMode="auto">
                  <a:xfrm>
                    <a:off x="1606306" y="3789363"/>
                    <a:ext cx="792290" cy="215900"/>
                    <a:chOff x="3891" y="527"/>
                    <a:chExt cx="408" cy="136"/>
                  </a:xfrm>
                </p:grpSpPr>
                <p:sp>
                  <p:nvSpPr>
                    <p:cNvPr id="44" name="Line 9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891" y="527"/>
                      <a:ext cx="91" cy="13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45" name="Line 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82" y="527"/>
                      <a:ext cx="3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2216696" y="4512495"/>
                  <a:ext cx="1440093" cy="647699"/>
                  <a:chOff x="2687566" y="3573464"/>
                  <a:chExt cx="1440093" cy="647699"/>
                </a:xfrm>
              </p:grpSpPr>
              <p:grpSp>
                <p:nvGrpSpPr>
                  <p:cNvPr id="47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2687566" y="4005263"/>
                    <a:ext cx="1440093" cy="215900"/>
                    <a:chOff x="1623" y="2796"/>
                    <a:chExt cx="907" cy="136"/>
                  </a:xfrm>
                </p:grpSpPr>
                <p:sp>
                  <p:nvSpPr>
                    <p:cNvPr id="48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23" y="2842"/>
                      <a:ext cx="907" cy="45"/>
                    </a:xfrm>
                    <a:prstGeom prst="rect">
                      <a:avLst/>
                    </a:prstGeom>
                    <a:noFill/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49" name="Rectangl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69" y="2796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0" name="Rectangle 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69" y="28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1" name="Rectangl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86" y="2796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2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86" y="28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3" name="Rectangle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2796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4" name="Rectangle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2887"/>
                      <a:ext cx="136" cy="45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 w="12700" algn="ctr">
                      <a:solidFill>
                        <a:srgbClr val="5F5F5F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  <p:sp>
                <p:nvSpPr>
                  <p:cNvPr id="55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2800126" y="3573464"/>
                    <a:ext cx="1321862" cy="2096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55258" tIns="27629" rIns="55258" bIns="27629">
                    <a:spAutoFit/>
                  </a:bodyPr>
                  <a:lstStyle/>
                  <a:p>
                    <a:pPr algn="ctr" defTabSz="958850" fontAlgn="ctr">
                      <a:spcBef>
                        <a:spcPct val="50000"/>
                      </a:spcBef>
                    </a:pPr>
                    <a:r>
                      <a:rPr lang="ko-KR" altLang="en-US" sz="1000" b="0" dirty="0">
                        <a:latin typeface="현대하모니 L"/>
                        <a:ea typeface="현대하모니 L"/>
                      </a:rPr>
                      <a:t>패턴 엇갈리도록 설계 </a:t>
                    </a:r>
                    <a:r>
                      <a:rPr lang="en-US" altLang="ko-KR" sz="1000" b="0" dirty="0">
                        <a:latin typeface="현대하모니 L"/>
                        <a:ea typeface="현대하모니 L"/>
                      </a:rPr>
                      <a:t>X</a:t>
                    </a:r>
                    <a:endParaRPr lang="ko-KR" altLang="en-US" sz="1000" b="0" dirty="0">
                      <a:latin typeface="현대하모니 L"/>
                      <a:ea typeface="현대하모니 L"/>
                    </a:endParaRPr>
                  </a:p>
                </p:txBody>
              </p:sp>
              <p:grpSp>
                <p:nvGrpSpPr>
                  <p:cNvPr id="56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378239" y="3760788"/>
                    <a:ext cx="465213" cy="215900"/>
                    <a:chOff x="3891" y="527"/>
                    <a:chExt cx="408" cy="136"/>
                  </a:xfrm>
                </p:grpSpPr>
                <p:sp>
                  <p:nvSpPr>
                    <p:cNvPr id="57" name="Line 10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891" y="527"/>
                      <a:ext cx="91" cy="13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  <p:sp>
                  <p:nvSpPr>
                    <p:cNvPr id="58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82" y="527"/>
                      <a:ext cx="3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55258" tIns="27629" rIns="55258" bIns="27629" anchor="ctr"/>
                    <a:lstStyle/>
                    <a:p>
                      <a:endParaRPr lang="ko-KR" altLang="en-US" sz="1000" b="0">
                        <a:latin typeface="현대하모니 L"/>
                        <a:ea typeface="현대하모니 L"/>
                      </a:endParaRPr>
                    </a:p>
                  </p:txBody>
                </p:sp>
              </p:grpSp>
            </p:grpSp>
            <p:sp>
              <p:nvSpPr>
                <p:cNvPr id="6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809110" y="3193253"/>
                  <a:ext cx="643423" cy="2791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ko-KR" sz="1200" b="0" dirty="0">
                      <a:solidFill>
                        <a:srgbClr val="0000FF"/>
                      </a:solidFill>
                      <a:latin typeface="현대하모니 L"/>
                      <a:ea typeface="현대하모니 L"/>
                    </a:rPr>
                    <a:t>&lt; OK &gt;</a:t>
                  </a:r>
                </a:p>
              </p:txBody>
            </p:sp>
            <p:sp>
              <p:nvSpPr>
                <p:cNvPr id="6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527684" y="3193253"/>
                  <a:ext cx="648232" cy="2791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ko-KR" sz="1200" b="0" dirty="0">
                      <a:solidFill>
                        <a:srgbClr val="FF0000"/>
                      </a:solidFill>
                      <a:latin typeface="현대하모니 L"/>
                      <a:ea typeface="현대하모니 L"/>
                    </a:rPr>
                    <a:t>&lt; NG &gt;</a:t>
                  </a:r>
                </a:p>
              </p:txBody>
            </p:sp>
            <p:sp>
              <p:nvSpPr>
                <p:cNvPr id="40" name="타원 39"/>
                <p:cNvSpPr/>
                <p:nvPr/>
              </p:nvSpPr>
              <p:spPr>
                <a:xfrm>
                  <a:off x="2658269" y="3811339"/>
                  <a:ext cx="361156" cy="347861"/>
                </a:xfrm>
                <a:prstGeom prst="ellipse">
                  <a:avLst/>
                </a:prstGeom>
                <a:ln w="19050">
                  <a:solidFill>
                    <a:srgbClr val="EE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64" name="타원 63"/>
                <p:cNvSpPr/>
                <p:nvPr/>
              </p:nvSpPr>
              <p:spPr>
                <a:xfrm>
                  <a:off x="2673127" y="4858377"/>
                  <a:ext cx="471104" cy="346234"/>
                </a:xfrm>
                <a:prstGeom prst="ellipse">
                  <a:avLst/>
                </a:prstGeom>
                <a:ln w="19050">
                  <a:solidFill>
                    <a:srgbClr val="EE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cxnSp>
              <p:nvCxnSpPr>
                <p:cNvPr id="63" name="직선 연결선 62"/>
                <p:cNvCxnSpPr/>
                <p:nvPr/>
              </p:nvCxnSpPr>
              <p:spPr>
                <a:xfrm>
                  <a:off x="445071" y="3945830"/>
                  <a:ext cx="972000" cy="0"/>
                </a:xfrm>
                <a:prstGeom prst="line">
                  <a:avLst/>
                </a:prstGeom>
                <a:ln w="1905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/>
                <p:cNvCxnSpPr/>
                <p:nvPr/>
              </p:nvCxnSpPr>
              <p:spPr>
                <a:xfrm>
                  <a:off x="445071" y="4032696"/>
                  <a:ext cx="972000" cy="0"/>
                </a:xfrm>
                <a:prstGeom prst="line">
                  <a:avLst/>
                </a:prstGeom>
                <a:ln w="19050">
                  <a:solidFill>
                    <a:srgbClr val="0000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" name="그룹 6"/>
                <p:cNvGrpSpPr/>
                <p:nvPr/>
              </p:nvGrpSpPr>
              <p:grpSpPr>
                <a:xfrm>
                  <a:off x="432465" y="5357623"/>
                  <a:ext cx="1909197" cy="816143"/>
                  <a:chOff x="488503" y="5436379"/>
                  <a:chExt cx="1779466" cy="754499"/>
                </a:xfrm>
              </p:grpSpPr>
              <p:grpSp>
                <p:nvGrpSpPr>
                  <p:cNvPr id="4" name="그룹 3"/>
                  <p:cNvGrpSpPr/>
                  <p:nvPr/>
                </p:nvGrpSpPr>
                <p:grpSpPr>
                  <a:xfrm>
                    <a:off x="488503" y="5436379"/>
                    <a:ext cx="1433352" cy="603180"/>
                    <a:chOff x="2887441" y="5637275"/>
                    <a:chExt cx="1849535" cy="752520"/>
                  </a:xfrm>
                </p:grpSpPr>
                <p:pic>
                  <p:nvPicPr>
                    <p:cNvPr id="59" name="Picture 4" descr="C:\Users\2652225\Desktop\16_업무계획\01_체크시트\FPCB체결\그림2.jpg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1989" t="39316"/>
                    <a:stretch/>
                  </p:blipFill>
                  <p:spPr bwMode="auto">
                    <a:xfrm>
                      <a:off x="2887441" y="5637275"/>
                      <a:ext cx="1849535" cy="7525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grpSp>
                  <p:nvGrpSpPr>
                    <p:cNvPr id="66" name="그룹 65"/>
                    <p:cNvGrpSpPr/>
                    <p:nvPr/>
                  </p:nvGrpSpPr>
                  <p:grpSpPr>
                    <a:xfrm rot="19240832">
                      <a:off x="3683443" y="5887409"/>
                      <a:ext cx="449611" cy="457967"/>
                      <a:chOff x="4788023" y="2780928"/>
                      <a:chExt cx="449611" cy="457967"/>
                    </a:xfrm>
                  </p:grpSpPr>
                  <p:cxnSp>
                    <p:nvCxnSpPr>
                      <p:cNvPr id="67" name="직선 연결선 66"/>
                      <p:cNvCxnSpPr/>
                      <p:nvPr/>
                    </p:nvCxnSpPr>
                    <p:spPr>
                      <a:xfrm>
                        <a:off x="4986795" y="2780928"/>
                        <a:ext cx="0" cy="429132"/>
                      </a:xfrm>
                      <a:prstGeom prst="line">
                        <a:avLst/>
                      </a:prstGeom>
                      <a:ln w="9525">
                        <a:solidFill>
                          <a:srgbClr val="0000FF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9" name="직선 연결선 68"/>
                      <p:cNvCxnSpPr/>
                      <p:nvPr/>
                    </p:nvCxnSpPr>
                    <p:spPr>
                      <a:xfrm>
                        <a:off x="5058954" y="2809765"/>
                        <a:ext cx="0" cy="429130"/>
                      </a:xfrm>
                      <a:prstGeom prst="line">
                        <a:avLst/>
                      </a:prstGeom>
                      <a:ln w="9525">
                        <a:solidFill>
                          <a:srgbClr val="0000FF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0" name="직선 화살표 연결선 69"/>
                      <p:cNvCxnSpPr/>
                      <p:nvPr/>
                    </p:nvCxnSpPr>
                    <p:spPr>
                      <a:xfrm>
                        <a:off x="4788023" y="3126121"/>
                        <a:ext cx="198772" cy="0"/>
                      </a:xfrm>
                      <a:prstGeom prst="straightConnector1">
                        <a:avLst/>
                      </a:prstGeom>
                      <a:ln w="9525">
                        <a:solidFill>
                          <a:srgbClr val="0000FF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1" name="직선 화살표 연결선 70"/>
                      <p:cNvCxnSpPr/>
                      <p:nvPr/>
                    </p:nvCxnSpPr>
                    <p:spPr>
                      <a:xfrm flipH="1">
                        <a:off x="5050177" y="3126121"/>
                        <a:ext cx="187457" cy="0"/>
                      </a:xfrm>
                      <a:prstGeom prst="straightConnector1">
                        <a:avLst/>
                      </a:prstGeom>
                      <a:ln w="9525">
                        <a:solidFill>
                          <a:srgbClr val="0000FF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72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1415083" y="5963254"/>
                    <a:ext cx="852886" cy="22762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굴림" charset="-127"/>
                        <a:ea typeface="굴림" charset="-127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ko-KR" sz="1000" b="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rPr>
                      <a:t>d3≥0.5㎜</a:t>
                    </a:r>
                  </a:p>
                </p:txBody>
              </p:sp>
            </p:grpSp>
            <p:pic>
              <p:nvPicPr>
                <p:cNvPr id="73" name="Picture 44" descr="D:\1. 디자인리뷰\0. 차종별 DR 현황\AE HEV\3. RCL\4. 보고서 자료\PCB\OS DOM EU\수정본\IO7A1552.jpg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931" r="25537"/>
                <a:stretch/>
              </p:blipFill>
              <p:spPr bwMode="auto">
                <a:xfrm rot="5400000">
                  <a:off x="2583672" y="5063545"/>
                  <a:ext cx="650452" cy="12078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" name="타원 7"/>
                <p:cNvSpPr/>
                <p:nvPr/>
              </p:nvSpPr>
              <p:spPr>
                <a:xfrm>
                  <a:off x="2880453" y="5424380"/>
                  <a:ext cx="544521" cy="346234"/>
                </a:xfrm>
                <a:prstGeom prst="ellipse">
                  <a:avLst/>
                </a:prstGeom>
                <a:ln w="19050">
                  <a:solidFill>
                    <a:srgbClr val="EE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endParaRPr lang="ko-KR" altLang="en-US" sz="1000" b="0" dirty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74" name="Rectangle 104"/>
                <p:cNvSpPr>
                  <a:spLocks noChangeArrowheads="1"/>
                </p:cNvSpPr>
                <p:nvPr/>
              </p:nvSpPr>
              <p:spPr bwMode="auto">
                <a:xfrm>
                  <a:off x="2655582" y="5958805"/>
                  <a:ext cx="974011" cy="2096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5258" tIns="27629" rIns="55258" bIns="27629">
                  <a:spAutoFit/>
                </a:bodyPr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r>
                    <a:rPr lang="ko-KR" altLang="en-US" sz="1000" b="0" dirty="0">
                      <a:latin typeface="현대하모니 L"/>
                      <a:ea typeface="현대하모니 L"/>
                    </a:rPr>
                    <a:t>나사와 패턴 겹침</a:t>
                  </a:r>
                </a:p>
              </p:txBody>
            </p:sp>
          </p:grpSp>
          <p:sp>
            <p:nvSpPr>
              <p:cNvPr id="76" name="직사각형 75"/>
              <p:cNvSpPr/>
              <p:nvPr/>
            </p:nvSpPr>
            <p:spPr>
              <a:xfrm>
                <a:off x="363971" y="3395092"/>
                <a:ext cx="2079415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1000" b="0" dirty="0" err="1">
                    <a:latin typeface="현대하모니 L"/>
                    <a:ea typeface="현대하모니 L"/>
                  </a:rPr>
                  <a:t>보강판</a:t>
                </a:r>
                <a:r>
                  <a:rPr lang="en-US" altLang="ko-KR" sz="1000" b="0" dirty="0">
                    <a:latin typeface="현대하모니 L"/>
                    <a:ea typeface="현대하모니 L"/>
                  </a:rPr>
                  <a:t>(Reinforcement, stiffener)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75" name="Rectangle 216"/>
            <p:cNvSpPr>
              <a:spLocks noChangeArrowheads="1"/>
            </p:cNvSpPr>
            <p:nvPr/>
          </p:nvSpPr>
          <p:spPr bwMode="auto">
            <a:xfrm>
              <a:off x="200472" y="3542819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7" name="Rectangle 216"/>
            <p:cNvSpPr>
              <a:spLocks noChangeArrowheads="1"/>
            </p:cNvSpPr>
            <p:nvPr/>
          </p:nvSpPr>
          <p:spPr bwMode="auto">
            <a:xfrm>
              <a:off x="200472" y="4437112"/>
              <a:ext cx="47000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 3)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80" name="Rectangle 216"/>
            <p:cNvSpPr>
              <a:spLocks noChangeArrowheads="1"/>
            </p:cNvSpPr>
            <p:nvPr/>
          </p:nvSpPr>
          <p:spPr bwMode="auto">
            <a:xfrm>
              <a:off x="200472" y="5415027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55127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736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Flexible PCB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14942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[53]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FPCB,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R-FPCB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Nick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tear, delamination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 발생하지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FPCB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곡면부가 찢어지지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FPCB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접힘부에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과도한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stress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가 가해지지 않도록 설계하였는가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전자소자는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평면이나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heatsink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면에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실장하였는가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5)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방열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Plate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burr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발생면에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FPCB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를 접착하지 않았는가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FPCB, R-FPCB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원판 자료 첨부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-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방열판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재질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/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두께 등 설명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PCB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내구 신뢰성 확보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37173" y="3501008"/>
            <a:ext cx="3462276" cy="2664296"/>
            <a:chOff x="272480" y="3501008"/>
            <a:chExt cx="3462276" cy="2664296"/>
          </a:xfrm>
        </p:grpSpPr>
        <p:grpSp>
          <p:nvGrpSpPr>
            <p:cNvPr id="12" name="그룹 11"/>
            <p:cNvGrpSpPr/>
            <p:nvPr/>
          </p:nvGrpSpPr>
          <p:grpSpPr>
            <a:xfrm>
              <a:off x="416496" y="3501008"/>
              <a:ext cx="3318260" cy="2664296"/>
              <a:chOff x="416496" y="3501008"/>
              <a:chExt cx="3318260" cy="2664296"/>
            </a:xfrm>
          </p:grpSpPr>
          <p:pic>
            <p:nvPicPr>
              <p:cNvPr id="62" name="Picture 3" descr="E:\01 디자인리뷰\01 차종별폴더\진행차종\YD\램프류\RCL\사진수정\IMG_9938.JP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235" r="12916"/>
              <a:stretch/>
            </p:blipFill>
            <p:spPr bwMode="auto">
              <a:xfrm>
                <a:off x="2010949" y="3933056"/>
                <a:ext cx="949296" cy="1015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49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903" t="7550" r="6418" b="8725"/>
              <a:stretch/>
            </p:blipFill>
            <p:spPr bwMode="auto">
              <a:xfrm>
                <a:off x="416496" y="3861048"/>
                <a:ext cx="1512168" cy="10801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그림 11" descr="그림1.jpg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5002"/>
              <a:stretch/>
            </p:blipFill>
            <p:spPr bwMode="auto">
              <a:xfrm>
                <a:off x="416496" y="5085214"/>
                <a:ext cx="1512168" cy="1008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7" name="Picture 119" descr="IMG_0085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666" r="61678" b="-4829"/>
              <a:stretch/>
            </p:blipFill>
            <p:spPr bwMode="auto">
              <a:xfrm>
                <a:off x="3024976" y="3933056"/>
                <a:ext cx="631880" cy="10801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95386" y="5301208"/>
                <a:ext cx="1661469" cy="6336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7" name="직선 화살표 연결선 6"/>
              <p:cNvCxnSpPr/>
              <p:nvPr/>
            </p:nvCxnSpPr>
            <p:spPr>
              <a:xfrm flipV="1">
                <a:off x="2648744" y="5747651"/>
                <a:ext cx="0" cy="201629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화살표 연결선 79"/>
              <p:cNvCxnSpPr/>
              <p:nvPr/>
            </p:nvCxnSpPr>
            <p:spPr>
              <a:xfrm>
                <a:off x="2648744" y="5267300"/>
                <a:ext cx="0" cy="18721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2432720" y="5085184"/>
                <a:ext cx="489236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FPCB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2432720" y="5919083"/>
                <a:ext cx="6815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AL Plate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1" name="타원 10"/>
              <p:cNvSpPr/>
              <p:nvPr/>
            </p:nvSpPr>
            <p:spPr>
              <a:xfrm>
                <a:off x="3345405" y="5387316"/>
                <a:ext cx="383459" cy="346234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2" name="타원 81"/>
              <p:cNvSpPr/>
              <p:nvPr/>
            </p:nvSpPr>
            <p:spPr>
              <a:xfrm>
                <a:off x="2019722" y="5343883"/>
                <a:ext cx="383459" cy="346234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3" name="타원 82"/>
              <p:cNvSpPr/>
              <p:nvPr/>
            </p:nvSpPr>
            <p:spPr>
              <a:xfrm>
                <a:off x="992560" y="5459324"/>
                <a:ext cx="383459" cy="346234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4" name="타원 83"/>
              <p:cNvSpPr/>
              <p:nvPr/>
            </p:nvSpPr>
            <p:spPr>
              <a:xfrm>
                <a:off x="2216696" y="4220793"/>
                <a:ext cx="383459" cy="346234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3129381" y="4220793"/>
                <a:ext cx="383459" cy="346234"/>
              </a:xfrm>
              <a:prstGeom prst="ellipse">
                <a:avLst/>
              </a:prstGeom>
              <a:ln w="19050">
                <a:solidFill>
                  <a:srgbClr val="EE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3296816" y="5085184"/>
                <a:ext cx="43794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b="0" dirty="0">
                    <a:latin typeface="현대하모니 L"/>
                    <a:ea typeface="현대하모니 L"/>
                  </a:rPr>
                  <a:t>Burr</a:t>
                </a:r>
                <a:endParaRPr lang="ko-KR" altLang="en-US" sz="1000" b="0" dirty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87" name="Text Box 71"/>
              <p:cNvSpPr txBox="1">
                <a:spLocks noChangeArrowheads="1"/>
              </p:cNvSpPr>
              <p:nvPr/>
            </p:nvSpPr>
            <p:spPr bwMode="auto">
              <a:xfrm>
                <a:off x="1591580" y="3501008"/>
                <a:ext cx="648232" cy="27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ko-KR" sz="1200" b="0" dirty="0">
                    <a:solidFill>
                      <a:srgbClr val="FF0000"/>
                    </a:solidFill>
                    <a:latin typeface="현대하모니 L"/>
                    <a:ea typeface="현대하모니 L"/>
                  </a:rPr>
                  <a:t>&lt; NG &gt;</a:t>
                </a:r>
              </a:p>
            </p:txBody>
          </p:sp>
        </p:grpSp>
        <p:sp>
          <p:nvSpPr>
            <p:cNvPr id="23" name="Rectangle 216"/>
            <p:cNvSpPr>
              <a:spLocks noChangeArrowheads="1"/>
            </p:cNvSpPr>
            <p:nvPr/>
          </p:nvSpPr>
          <p:spPr bwMode="auto">
            <a:xfrm>
              <a:off x="272480" y="3758843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" name="Rectangle 216"/>
            <p:cNvSpPr>
              <a:spLocks noChangeArrowheads="1"/>
            </p:cNvSpPr>
            <p:nvPr/>
          </p:nvSpPr>
          <p:spPr bwMode="auto">
            <a:xfrm>
              <a:off x="272480" y="4869160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2)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5" name="Rectangle 216"/>
            <p:cNvSpPr>
              <a:spLocks noChangeArrowheads="1"/>
            </p:cNvSpPr>
            <p:nvPr/>
          </p:nvSpPr>
          <p:spPr bwMode="auto">
            <a:xfrm>
              <a:off x="2199836" y="3717032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3)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8" name="Rectangle 216"/>
            <p:cNvSpPr>
              <a:spLocks noChangeArrowheads="1"/>
            </p:cNvSpPr>
            <p:nvPr/>
          </p:nvSpPr>
          <p:spPr bwMode="auto">
            <a:xfrm>
              <a:off x="3152800" y="3717032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9" name="Rectangle 216"/>
            <p:cNvSpPr>
              <a:spLocks noChangeArrowheads="1"/>
            </p:cNvSpPr>
            <p:nvPr/>
          </p:nvSpPr>
          <p:spPr bwMode="auto">
            <a:xfrm>
              <a:off x="2072680" y="5054987"/>
              <a:ext cx="30489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5)</a:t>
              </a:r>
              <a:endPara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13002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198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Ethernet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2499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[54]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Ethernet </a:t>
                      </a: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적용시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1) Stack up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은 최소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4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layer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이상을 적용하였는가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 (6 layer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이상 적용 권장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)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2) Ethernet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부품이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실장되는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Top Layer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에서 가장 가까운 내층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Layer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GND Plane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으로 구성하였는가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3) PHY/SW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에 적용되는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X-</a:t>
                      </a: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tal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GND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[5]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발진소자 주변 설계 시트를 만족하는가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PHY/SW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에 적용되는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Decoupling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커패시터는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[6]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디커플링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 err="1">
                          <a:latin typeface="현대하모니 L"/>
                          <a:ea typeface="현대하모니 L"/>
                        </a:rPr>
                        <a:t>커패시트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 시트를 만족하는가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패턴에 불필요한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Stub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90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도 각도의 설계가 없도록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이더넷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PHY/SW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통신 안정화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324807" y="3717032"/>
            <a:ext cx="3404057" cy="2120513"/>
            <a:chOff x="216767" y="3606924"/>
            <a:chExt cx="3404057" cy="2120513"/>
          </a:xfrm>
        </p:grpSpPr>
        <p:sp>
          <p:nvSpPr>
            <p:cNvPr id="71" name="Text Box 115"/>
            <p:cNvSpPr txBox="1">
              <a:spLocks noChangeArrowheads="1"/>
            </p:cNvSpPr>
            <p:nvPr/>
          </p:nvSpPr>
          <p:spPr bwMode="auto">
            <a:xfrm>
              <a:off x="854271" y="3606924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72" name="Text Box 116"/>
            <p:cNvSpPr txBox="1">
              <a:spLocks noChangeArrowheads="1"/>
            </p:cNvSpPr>
            <p:nvPr/>
          </p:nvSpPr>
          <p:spPr bwMode="auto">
            <a:xfrm>
              <a:off x="2644853" y="3606924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704528" y="4113088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704528" y="4329112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704528" y="4545136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704528" y="5085184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4528" y="5301208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704528" y="5517232"/>
              <a:ext cx="1080000" cy="108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20552" y="4005064"/>
              <a:ext cx="75693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Top Layer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19319" y="5481216"/>
              <a:ext cx="96532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Bottom Layer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04528" y="4221088"/>
              <a:ext cx="11560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Solid GND Plane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00570" y="5193184"/>
              <a:ext cx="11560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Solid GND Plane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16767" y="4005064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Layer1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16767" y="4221088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Layer2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16767" y="4437112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Layer3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16767" y="5013176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Layer4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16767" y="5229200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Layer5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6767" y="5445224"/>
              <a:ext cx="5597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latin typeface="+mj-ea"/>
                  <a:ea typeface="+mj-ea"/>
                </a:rPr>
                <a:t>Layer6</a:t>
              </a: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73233" y="3822948"/>
              <a:ext cx="4571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 2)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2216696" y="4309875"/>
              <a:ext cx="1404128" cy="1135350"/>
              <a:chOff x="2216696" y="4309875"/>
              <a:chExt cx="1404128" cy="1135350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2216696" y="4689152"/>
                <a:ext cx="756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 rot="5400000">
                <a:off x="2738696" y="4509152"/>
                <a:ext cx="468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2918696" y="4329152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4" name="Rectangle 120"/>
              <p:cNvSpPr>
                <a:spLocks noChangeArrowheads="1"/>
              </p:cNvSpPr>
              <p:nvPr/>
            </p:nvSpPr>
            <p:spPr bwMode="auto">
              <a:xfrm rot="16200000">
                <a:off x="3098760" y="4312420"/>
                <a:ext cx="143872" cy="14194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5" name="직사각형 124"/>
              <p:cNvSpPr/>
              <p:nvPr/>
            </p:nvSpPr>
            <p:spPr>
              <a:xfrm>
                <a:off x="3368824" y="4318263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6" name="Rectangle 120"/>
              <p:cNvSpPr>
                <a:spLocks noChangeArrowheads="1"/>
              </p:cNvSpPr>
              <p:nvPr/>
            </p:nvSpPr>
            <p:spPr bwMode="auto">
              <a:xfrm rot="16200000">
                <a:off x="3369933" y="4310840"/>
                <a:ext cx="143872" cy="14194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27" name="직사각형 126"/>
              <p:cNvSpPr/>
              <p:nvPr/>
            </p:nvSpPr>
            <p:spPr>
              <a:xfrm flipV="1">
                <a:off x="2216696" y="4957947"/>
                <a:ext cx="756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8" name="직사각형 127"/>
              <p:cNvSpPr/>
              <p:nvPr/>
            </p:nvSpPr>
            <p:spPr>
              <a:xfrm rot="16200000" flipV="1">
                <a:off x="2738696" y="5137947"/>
                <a:ext cx="468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29" name="직사각형 128"/>
              <p:cNvSpPr/>
              <p:nvPr/>
            </p:nvSpPr>
            <p:spPr>
              <a:xfrm flipV="1">
                <a:off x="2918696" y="5317947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30" name="Rectangle 120"/>
              <p:cNvSpPr>
                <a:spLocks noChangeArrowheads="1"/>
              </p:cNvSpPr>
              <p:nvPr/>
            </p:nvSpPr>
            <p:spPr bwMode="auto">
              <a:xfrm rot="5400000" flipV="1">
                <a:off x="3098760" y="5300738"/>
                <a:ext cx="143872" cy="14194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1" name="직사각형 130"/>
              <p:cNvSpPr/>
              <p:nvPr/>
            </p:nvSpPr>
            <p:spPr>
              <a:xfrm flipV="1">
                <a:off x="3368824" y="5328836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32" name="Rectangle 120"/>
              <p:cNvSpPr>
                <a:spLocks noChangeArrowheads="1"/>
              </p:cNvSpPr>
              <p:nvPr/>
            </p:nvSpPr>
            <p:spPr bwMode="auto">
              <a:xfrm rot="5400000" flipV="1">
                <a:off x="3369933" y="5302318"/>
                <a:ext cx="143872" cy="14194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ko-KR" altLang="en-US" sz="1000" b="0">
                  <a:latin typeface="현대하모니 L"/>
                  <a:ea typeface="현대하모니 L"/>
                </a:endParaRPr>
              </a:p>
            </p:txBody>
          </p:sp>
          <p:sp>
            <p:nvSpPr>
              <p:cNvPr id="133" name="직사각형 132"/>
              <p:cNvSpPr/>
              <p:nvPr/>
            </p:nvSpPr>
            <p:spPr>
              <a:xfrm rot="5400000">
                <a:off x="2396736" y="4599136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34" name="직사각형 133"/>
              <p:cNvSpPr/>
              <p:nvPr/>
            </p:nvSpPr>
            <p:spPr>
              <a:xfrm rot="5400000">
                <a:off x="2396736" y="5049200"/>
                <a:ext cx="252000" cy="108000"/>
              </a:xfrm>
              <a:prstGeom prst="rect">
                <a:avLst/>
              </a:prstGeom>
              <a:solidFill>
                <a:srgbClr val="92D050"/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2460347" y="4453890"/>
                <a:ext cx="125960" cy="12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  <p:sp>
            <p:nvSpPr>
              <p:cNvPr id="135" name="타원 134"/>
              <p:cNvSpPr/>
              <p:nvPr/>
            </p:nvSpPr>
            <p:spPr>
              <a:xfrm>
                <a:off x="2457887" y="5166819"/>
                <a:ext cx="125960" cy="12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endParaRPr lang="ko-KR" altLang="en-US" sz="1000" b="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2360712" y="4381810"/>
              <a:ext cx="360040" cy="98989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846872" y="4251285"/>
              <a:ext cx="305928" cy="126594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2360712" y="3975348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5)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700570" y="4069169"/>
              <a:ext cx="1083958" cy="1622276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60787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198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Ethernet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81403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[55]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Ethernet MDI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패턴</a:t>
                      </a:r>
                      <a:r>
                        <a:rPr lang="en-US" altLang="ko-KR" sz="1200" b="1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/>
                          <a:ea typeface="현대하모니 L"/>
                        </a:rPr>
                        <a:t>설계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1) MDIP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MDIN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패턴이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PHY/SW,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커넥터와 동일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Layer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에 설계 되었는가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2) MDI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MDIN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두 패턴의 길이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(L)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(W)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은 동일하게 설계되었는가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3) MDIP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MDIN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 사이 간격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(D)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은 동일하게 유지하고 있는가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strike="sngStrike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4) MDI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패턴의 </a:t>
                      </a:r>
                      <a:r>
                        <a:rPr lang="en-US" altLang="ko-KR" sz="1000" b="0" u="none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Characteristic Impedance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는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100Ω±10%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를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만족하는가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5)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전원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및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타 신호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패턴이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MDI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신호 근처에 배치되지 않도록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각 칩 제조사의 권장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이격거리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 준수할 것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이더넷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PHY/SW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통신 안정화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239" name="그룹 238"/>
          <p:cNvGrpSpPr/>
          <p:nvPr/>
        </p:nvGrpSpPr>
        <p:grpSpPr>
          <a:xfrm>
            <a:off x="416496" y="3789040"/>
            <a:ext cx="3277155" cy="2170112"/>
            <a:chOff x="416496" y="3789040"/>
            <a:chExt cx="3277155" cy="2170112"/>
          </a:xfrm>
        </p:grpSpPr>
        <p:sp>
          <p:nvSpPr>
            <p:cNvPr id="240" name="Rectangle 126"/>
            <p:cNvSpPr>
              <a:spLocks noChangeArrowheads="1"/>
            </p:cNvSpPr>
            <p:nvPr/>
          </p:nvSpPr>
          <p:spPr bwMode="auto">
            <a:xfrm rot="5400000">
              <a:off x="1340184" y="4492045"/>
              <a:ext cx="34397" cy="932643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1" name="Rectangle 126"/>
            <p:cNvSpPr>
              <a:spLocks noChangeArrowheads="1"/>
            </p:cNvSpPr>
            <p:nvPr/>
          </p:nvSpPr>
          <p:spPr bwMode="auto">
            <a:xfrm rot="5400000">
              <a:off x="1340286" y="4233512"/>
              <a:ext cx="34397" cy="932643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2" name="Rectangle 126"/>
            <p:cNvSpPr>
              <a:spLocks noChangeArrowheads="1"/>
            </p:cNvSpPr>
            <p:nvPr/>
          </p:nvSpPr>
          <p:spPr bwMode="auto">
            <a:xfrm rot="5400000">
              <a:off x="2955651" y="4397853"/>
              <a:ext cx="144000" cy="1332000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3" name="Rectangle 126"/>
            <p:cNvSpPr>
              <a:spLocks noChangeArrowheads="1"/>
            </p:cNvSpPr>
            <p:nvPr/>
          </p:nvSpPr>
          <p:spPr bwMode="auto">
            <a:xfrm rot="2700000">
              <a:off x="2244737" y="5006919"/>
              <a:ext cx="108000" cy="233161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244" name="그룹 243"/>
            <p:cNvGrpSpPr/>
            <p:nvPr/>
          </p:nvGrpSpPr>
          <p:grpSpPr>
            <a:xfrm>
              <a:off x="2109475" y="5142114"/>
              <a:ext cx="163536" cy="159094"/>
              <a:chOff x="1429628" y="4421704"/>
              <a:chExt cx="216024" cy="197167"/>
            </a:xfrm>
          </p:grpSpPr>
          <p:sp>
            <p:nvSpPr>
              <p:cNvPr id="281" name="Oval 148"/>
              <p:cNvSpPr>
                <a:spLocks noChangeArrowheads="1"/>
              </p:cNvSpPr>
              <p:nvPr/>
            </p:nvSpPr>
            <p:spPr bwMode="auto">
              <a:xfrm>
                <a:off x="1429628" y="4421704"/>
                <a:ext cx="216024" cy="19716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82" name="Oval 155"/>
              <p:cNvSpPr>
                <a:spLocks noChangeArrowheads="1"/>
              </p:cNvSpPr>
              <p:nvPr/>
            </p:nvSpPr>
            <p:spPr bwMode="auto">
              <a:xfrm>
                <a:off x="1500248" y="4481067"/>
                <a:ext cx="78228" cy="7886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245" name="Rectangle 126"/>
            <p:cNvSpPr>
              <a:spLocks noChangeArrowheads="1"/>
            </p:cNvSpPr>
            <p:nvPr/>
          </p:nvSpPr>
          <p:spPr bwMode="auto">
            <a:xfrm rot="5400000">
              <a:off x="2800459" y="4463494"/>
              <a:ext cx="34397" cy="466322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6" name="Rectangle 126"/>
            <p:cNvSpPr>
              <a:spLocks noChangeArrowheads="1"/>
            </p:cNvSpPr>
            <p:nvPr/>
          </p:nvSpPr>
          <p:spPr bwMode="auto">
            <a:xfrm rot="19800000">
              <a:off x="2508449" y="4466656"/>
              <a:ext cx="32009" cy="250553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247" name="그룹 246"/>
            <p:cNvGrpSpPr/>
            <p:nvPr/>
          </p:nvGrpSpPr>
          <p:grpSpPr>
            <a:xfrm>
              <a:off x="2365397" y="4372249"/>
              <a:ext cx="163536" cy="159094"/>
              <a:chOff x="1371650" y="4430762"/>
              <a:chExt cx="216024" cy="197167"/>
            </a:xfrm>
          </p:grpSpPr>
          <p:sp>
            <p:nvSpPr>
              <p:cNvPr id="279" name="Oval 148"/>
              <p:cNvSpPr>
                <a:spLocks noChangeArrowheads="1"/>
              </p:cNvSpPr>
              <p:nvPr/>
            </p:nvSpPr>
            <p:spPr bwMode="auto">
              <a:xfrm>
                <a:off x="1371650" y="4430762"/>
                <a:ext cx="216024" cy="19716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80" name="Oval 155"/>
              <p:cNvSpPr>
                <a:spLocks noChangeArrowheads="1"/>
              </p:cNvSpPr>
              <p:nvPr/>
            </p:nvSpPr>
            <p:spPr bwMode="auto">
              <a:xfrm>
                <a:off x="1442270" y="4490134"/>
                <a:ext cx="78229" cy="7886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sp>
          <p:nvSpPr>
            <p:cNvPr id="248" name="Rectangle 126"/>
            <p:cNvSpPr>
              <a:spLocks noChangeArrowheads="1"/>
            </p:cNvSpPr>
            <p:nvPr/>
          </p:nvSpPr>
          <p:spPr bwMode="auto">
            <a:xfrm rot="2700000">
              <a:off x="3119888" y="4495336"/>
              <a:ext cx="34397" cy="233161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49" name="Text Box 115"/>
            <p:cNvSpPr txBox="1">
              <a:spLocks noChangeArrowheads="1"/>
            </p:cNvSpPr>
            <p:nvPr/>
          </p:nvSpPr>
          <p:spPr bwMode="auto">
            <a:xfrm>
              <a:off x="867596" y="3789040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250" name="Text Box 116"/>
            <p:cNvSpPr txBox="1">
              <a:spLocks noChangeArrowheads="1"/>
            </p:cNvSpPr>
            <p:nvPr/>
          </p:nvSpPr>
          <p:spPr bwMode="auto">
            <a:xfrm>
              <a:off x="2613531" y="3789040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416496" y="4126453"/>
              <a:ext cx="4587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2),3)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2327233" y="4173938"/>
              <a:ext cx="4587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2),3)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923027" y="5230668"/>
              <a:ext cx="69602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L</a:t>
              </a:r>
              <a:r>
                <a:rPr lang="en-US" altLang="ko-KR" sz="8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P</a:t>
              </a:r>
              <a:r>
                <a:rPr lang="en-US" altLang="ko-KR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= L</a:t>
              </a:r>
              <a:r>
                <a:rPr lang="en-US" altLang="ko-KR" sz="8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N</a:t>
              </a:r>
            </a:p>
            <a:p>
              <a:r>
                <a:rPr lang="en-US" altLang="ko-KR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W</a:t>
              </a:r>
              <a:r>
                <a:rPr lang="en-US" altLang="ko-KR" sz="8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P</a:t>
              </a:r>
              <a:r>
                <a:rPr lang="en-US" altLang="ko-KR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 = W</a:t>
              </a:r>
              <a:r>
                <a:rPr lang="en-US" altLang="ko-KR" sz="8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N</a:t>
              </a:r>
            </a:p>
            <a:p>
              <a:r>
                <a:rPr lang="en-US" altLang="ko-KR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D = </a:t>
              </a:r>
              <a:r>
                <a:rPr lang="ko-KR" altLang="en-US" sz="100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균일</a:t>
              </a:r>
            </a:p>
          </p:txBody>
        </p:sp>
        <p:cxnSp>
          <p:nvCxnSpPr>
            <p:cNvPr id="254" name="직선 연결선 253"/>
            <p:cNvCxnSpPr>
              <a:stCxn id="240" idx="2"/>
            </p:cNvCxnSpPr>
            <p:nvPr/>
          </p:nvCxnSpPr>
          <p:spPr>
            <a:xfrm>
              <a:off x="891061" y="4958367"/>
              <a:ext cx="945811" cy="838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/>
            <p:cNvSpPr txBox="1"/>
            <p:nvPr/>
          </p:nvSpPr>
          <p:spPr>
            <a:xfrm>
              <a:off x="844561" y="4965261"/>
              <a:ext cx="2568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현대하모니 L"/>
                  <a:ea typeface="현대하모니 L"/>
                </a:rPr>
                <a:t>L</a:t>
              </a:r>
              <a:endParaRPr lang="ko-KR" altLang="en-US" sz="1000" dirty="0">
                <a:latin typeface="현대하모니 L"/>
                <a:ea typeface="현대하모니 L"/>
              </a:endParaRPr>
            </a:p>
          </p:txBody>
        </p:sp>
        <p:cxnSp>
          <p:nvCxnSpPr>
            <p:cNvPr id="256" name="직선 연결선 255"/>
            <p:cNvCxnSpPr/>
            <p:nvPr/>
          </p:nvCxnSpPr>
          <p:spPr>
            <a:xfrm flipV="1">
              <a:off x="1389395" y="4733283"/>
              <a:ext cx="0" cy="115438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/>
            <p:cNvCxnSpPr/>
            <p:nvPr/>
          </p:nvCxnSpPr>
          <p:spPr>
            <a:xfrm>
              <a:off x="1389395" y="4517320"/>
              <a:ext cx="0" cy="138815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257"/>
            <p:cNvSpPr txBox="1"/>
            <p:nvPr/>
          </p:nvSpPr>
          <p:spPr>
            <a:xfrm>
              <a:off x="885339" y="4437112"/>
              <a:ext cx="3000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현대하모니 L"/>
                  <a:ea typeface="현대하모니 L"/>
                </a:rPr>
                <a:t>W</a:t>
              </a:r>
              <a:endParaRPr lang="ko-KR" altLang="en-US" sz="1000" dirty="0">
                <a:latin typeface="현대하모니 L"/>
                <a:ea typeface="현대하모니 L"/>
              </a:endParaRPr>
            </a:p>
          </p:txBody>
        </p:sp>
        <p:cxnSp>
          <p:nvCxnSpPr>
            <p:cNvPr id="259" name="직선 연결선 258"/>
            <p:cNvCxnSpPr/>
            <p:nvPr/>
          </p:nvCxnSpPr>
          <p:spPr>
            <a:xfrm flipV="1">
              <a:off x="1585839" y="4728521"/>
              <a:ext cx="0" cy="200135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TextBox 259"/>
            <p:cNvSpPr txBox="1"/>
            <p:nvPr/>
          </p:nvSpPr>
          <p:spPr>
            <a:xfrm>
              <a:off x="1620619" y="4694947"/>
              <a:ext cx="2728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현대하모니 L"/>
                  <a:ea typeface="현대하모니 L"/>
                </a:rPr>
                <a:t>D</a:t>
              </a:r>
              <a:endParaRPr lang="ko-KR" altLang="en-US" sz="1000" dirty="0">
                <a:latin typeface="현대하모니 L"/>
                <a:ea typeface="현대하모니 L"/>
              </a:endParaRPr>
            </a:p>
          </p:txBody>
        </p:sp>
        <p:cxnSp>
          <p:nvCxnSpPr>
            <p:cNvPr id="261" name="직선 연결선 260"/>
            <p:cNvCxnSpPr/>
            <p:nvPr/>
          </p:nvCxnSpPr>
          <p:spPr>
            <a:xfrm flipV="1">
              <a:off x="2685539" y="4725143"/>
              <a:ext cx="0" cy="252000"/>
            </a:xfrm>
            <a:prstGeom prst="line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/>
            <p:cNvCxnSpPr/>
            <p:nvPr/>
          </p:nvCxnSpPr>
          <p:spPr>
            <a:xfrm flipV="1">
              <a:off x="2829555" y="4738974"/>
              <a:ext cx="0" cy="115438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연결선 262"/>
            <p:cNvCxnSpPr/>
            <p:nvPr/>
          </p:nvCxnSpPr>
          <p:spPr>
            <a:xfrm>
              <a:off x="2829555" y="4523011"/>
              <a:ext cx="0" cy="138815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Rectangle 126"/>
            <p:cNvSpPr>
              <a:spLocks noChangeArrowheads="1"/>
            </p:cNvSpPr>
            <p:nvPr/>
          </p:nvSpPr>
          <p:spPr bwMode="auto">
            <a:xfrm rot="5400000">
              <a:off x="3405651" y="4285754"/>
              <a:ext cx="108000" cy="468000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cxnSp>
          <p:nvCxnSpPr>
            <p:cNvPr id="265" name="직선 연결선 264"/>
            <p:cNvCxnSpPr/>
            <p:nvPr/>
          </p:nvCxnSpPr>
          <p:spPr>
            <a:xfrm flipV="1">
              <a:off x="3477627" y="4581128"/>
              <a:ext cx="0" cy="396000"/>
            </a:xfrm>
            <a:prstGeom prst="line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이등변 삼각형 265"/>
            <p:cNvSpPr/>
            <p:nvPr/>
          </p:nvSpPr>
          <p:spPr>
            <a:xfrm rot="4284247">
              <a:off x="2966541" y="4162384"/>
              <a:ext cx="432000" cy="432000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cxnSp>
          <p:nvCxnSpPr>
            <p:cNvPr id="267" name="직선 연결선 266"/>
            <p:cNvCxnSpPr/>
            <p:nvPr/>
          </p:nvCxnSpPr>
          <p:spPr>
            <a:xfrm>
              <a:off x="3261603" y="4293096"/>
              <a:ext cx="0" cy="138815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연결선 267"/>
            <p:cNvCxnSpPr/>
            <p:nvPr/>
          </p:nvCxnSpPr>
          <p:spPr>
            <a:xfrm flipV="1">
              <a:off x="3261603" y="4609706"/>
              <a:ext cx="0" cy="115438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2672800" y="5251266"/>
              <a:ext cx="78418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L</a:t>
              </a:r>
              <a:r>
                <a:rPr lang="en-US" altLang="ko-KR" sz="8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P</a:t>
              </a:r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</a:t>
              </a:r>
              <a:r>
                <a:rPr lang="ko-KR" altLang="en-US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≠</a:t>
              </a:r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L</a:t>
              </a:r>
              <a:r>
                <a:rPr lang="en-US" altLang="ko-KR" sz="8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N 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W</a:t>
              </a:r>
              <a:r>
                <a:rPr lang="en-US" altLang="ko-KR" sz="8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P</a:t>
              </a:r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</a:t>
              </a:r>
              <a:r>
                <a:rPr lang="ko-KR" altLang="en-US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≠</a:t>
              </a:r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W</a:t>
              </a:r>
              <a:r>
                <a:rPr lang="en-US" altLang="ko-KR" sz="8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N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D </a:t>
              </a:r>
              <a:r>
                <a:rPr lang="ko-KR" altLang="en-US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≠</a:t>
              </a:r>
              <a:r>
                <a:rPr lang="en-US" altLang="ko-KR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 </a:t>
              </a:r>
              <a:r>
                <a:rPr lang="ko-KR" altLang="en-US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균일</a:t>
              </a:r>
              <a:endParaRPr lang="en-US" altLang="ko-KR" sz="1000" dirty="0">
                <a:solidFill>
                  <a:srgbClr val="FF0000"/>
                </a:solidFill>
                <a:latin typeface="현대하모니 L"/>
                <a:ea typeface="현대하모니 L"/>
              </a:endParaRPr>
            </a:p>
            <a:p>
              <a:r>
                <a:rPr lang="ko-KR" altLang="en-US" sz="100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패턴 비대칭</a:t>
              </a:r>
            </a:p>
          </p:txBody>
        </p:sp>
        <p:sp>
          <p:nvSpPr>
            <p:cNvPr id="270" name="Rectangle 126"/>
            <p:cNvSpPr>
              <a:spLocks noChangeArrowheads="1"/>
            </p:cNvSpPr>
            <p:nvPr/>
          </p:nvSpPr>
          <p:spPr bwMode="auto">
            <a:xfrm rot="18900000">
              <a:off x="787840" y="4485156"/>
              <a:ext cx="36000" cy="250553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271" name="Rectangle 126"/>
            <p:cNvSpPr>
              <a:spLocks noChangeArrowheads="1"/>
            </p:cNvSpPr>
            <p:nvPr/>
          </p:nvSpPr>
          <p:spPr bwMode="auto">
            <a:xfrm rot="13500000">
              <a:off x="779118" y="4931952"/>
              <a:ext cx="36000" cy="250553"/>
            </a:xfrm>
            <a:prstGeom prst="rect">
              <a:avLst/>
            </a:prstGeom>
            <a:solidFill>
              <a:srgbClr val="00CC99"/>
            </a:solidFill>
            <a:ln w="38100" algn="ctr">
              <a:solidFill>
                <a:srgbClr val="00CC99"/>
              </a:solidFill>
              <a:miter lim="800000"/>
              <a:headEnd/>
              <a:tailEnd/>
            </a:ln>
          </p:spPr>
          <p:txBody>
            <a:bodyPr wrap="none" lIns="55258" tIns="27629" rIns="55258" bIns="27629" anchor="ctr"/>
            <a:lstStyle/>
            <a:p>
              <a:pPr algn="ctr" defTabSz="958850" fontAlgn="ctr">
                <a:spcBef>
                  <a:spcPct val="50000"/>
                </a:spcBef>
              </a:pPr>
              <a:endParaRPr lang="ko-KR" altLang="ko-KR" sz="1000" b="0">
                <a:solidFill>
                  <a:srgbClr val="5F5F5F"/>
                </a:solidFill>
                <a:latin typeface="현대하모니 L"/>
                <a:ea typeface="현대하모니 L"/>
              </a:endParaRPr>
            </a:p>
          </p:txBody>
        </p:sp>
        <p:grpSp>
          <p:nvGrpSpPr>
            <p:cNvPr id="272" name="그룹 271"/>
            <p:cNvGrpSpPr/>
            <p:nvPr/>
          </p:nvGrpSpPr>
          <p:grpSpPr>
            <a:xfrm>
              <a:off x="582634" y="4387226"/>
              <a:ext cx="163536" cy="159094"/>
              <a:chOff x="1371650" y="4430762"/>
              <a:chExt cx="216024" cy="197167"/>
            </a:xfrm>
          </p:grpSpPr>
          <p:sp>
            <p:nvSpPr>
              <p:cNvPr id="277" name="Oval 148"/>
              <p:cNvSpPr>
                <a:spLocks noChangeArrowheads="1"/>
              </p:cNvSpPr>
              <p:nvPr/>
            </p:nvSpPr>
            <p:spPr bwMode="auto">
              <a:xfrm>
                <a:off x="1371650" y="4430762"/>
                <a:ext cx="216024" cy="19716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78" name="Oval 155"/>
              <p:cNvSpPr>
                <a:spLocks noChangeArrowheads="1"/>
              </p:cNvSpPr>
              <p:nvPr/>
            </p:nvSpPr>
            <p:spPr bwMode="auto">
              <a:xfrm>
                <a:off x="1442270" y="4490134"/>
                <a:ext cx="78229" cy="7886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  <p:cxnSp>
          <p:nvCxnSpPr>
            <p:cNvPr id="273" name="직선 연결선 272"/>
            <p:cNvCxnSpPr/>
            <p:nvPr/>
          </p:nvCxnSpPr>
          <p:spPr>
            <a:xfrm flipV="1">
              <a:off x="714874" y="4955916"/>
              <a:ext cx="183636" cy="181118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4" name="그룹 273"/>
            <p:cNvGrpSpPr/>
            <p:nvPr/>
          </p:nvGrpSpPr>
          <p:grpSpPr>
            <a:xfrm>
              <a:off x="560683" y="5126496"/>
              <a:ext cx="163536" cy="159094"/>
              <a:chOff x="1371650" y="4430762"/>
              <a:chExt cx="216024" cy="197167"/>
            </a:xfrm>
          </p:grpSpPr>
          <p:sp>
            <p:nvSpPr>
              <p:cNvPr id="275" name="Oval 148"/>
              <p:cNvSpPr>
                <a:spLocks noChangeArrowheads="1"/>
              </p:cNvSpPr>
              <p:nvPr/>
            </p:nvSpPr>
            <p:spPr bwMode="auto">
              <a:xfrm>
                <a:off x="1371650" y="4430762"/>
                <a:ext cx="216024" cy="19716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  <p:sp>
            <p:nvSpPr>
              <p:cNvPr id="276" name="Oval 155"/>
              <p:cNvSpPr>
                <a:spLocks noChangeArrowheads="1"/>
              </p:cNvSpPr>
              <p:nvPr/>
            </p:nvSpPr>
            <p:spPr bwMode="auto">
              <a:xfrm>
                <a:off x="1442270" y="4490134"/>
                <a:ext cx="78229" cy="7886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55258" tIns="27629" rIns="55258" bIns="27629" anchor="ctr"/>
              <a:lstStyle/>
              <a:p>
                <a:endParaRPr lang="ko-KR" altLang="en-US" sz="1000" b="0">
                  <a:solidFill>
                    <a:srgbClr val="0000FF"/>
                  </a:solidFill>
                  <a:latin typeface="현대하모니 L"/>
                  <a:ea typeface="현대하모니 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97645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2198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/>
                <a:ea typeface="현대하모니 B"/>
              </a:rPr>
              <a:t>Ethernet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742831"/>
              </p:ext>
            </p:extLst>
          </p:nvPr>
        </p:nvGraphicFramePr>
        <p:xfrm>
          <a:off x="273050" y="828344"/>
          <a:ext cx="9360112" cy="56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[56]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Ethernet MDI 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부품 배치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판정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(O, X)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1) </a:t>
                      </a:r>
                      <a:r>
                        <a:rPr lang="ko-KR" altLang="en-US" sz="1000" dirty="0">
                          <a:latin typeface="현대하모니 L"/>
                          <a:ea typeface="현대하모니 L"/>
                        </a:rPr>
                        <a:t>두 </a:t>
                      </a: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Ethernet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신호의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커넥터 핀은 서로 </a:t>
                      </a:r>
                      <a:r>
                        <a:rPr lang="ko-KR" altLang="en-US" sz="1000" baseline="0" dirty="0" err="1">
                          <a:latin typeface="현대하모니 L"/>
                          <a:ea typeface="현대하모니 L"/>
                        </a:rPr>
                        <a:t>수평하게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 배치하였는가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? (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수직 배치 금지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2) Common Mode Choke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부품 아래 영역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동박을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제거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?</a:t>
                      </a:r>
                      <a:endParaRPr lang="en-US" altLang="ko-KR" sz="1000" kern="1200" dirty="0">
                        <a:solidFill>
                          <a:srgbClr val="969696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3) Common Mod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e Choke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는 커넥터에 가능한 가깝게 배치하였는가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?</a:t>
                      </a:r>
                      <a:endParaRPr lang="en-US" altLang="ko-KR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4)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DC Blocking Capacitor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는 동일한 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치에 대칭적으로 배치하였는가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?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현대하모니 L"/>
                          <a:ea typeface="현대하모니 L"/>
                        </a:rPr>
                        <a:t>5)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 ESD Protection Device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를 </a:t>
                      </a:r>
                      <a:r>
                        <a:rPr lang="ko-KR" altLang="en-US" sz="1000" baseline="0" dirty="0" err="1">
                          <a:latin typeface="현대하모니 L"/>
                          <a:ea typeface="현대하모니 L"/>
                        </a:rPr>
                        <a:t>미적용하는</a:t>
                      </a: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 경우에도 향후 부품 실장을 위한 패턴을 설계하였는가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?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</a:rPr>
                        <a:t>해당 없음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권 장 안 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예시</a:t>
                      </a:r>
                      <a:r>
                        <a:rPr lang="en-US" altLang="ko-KR" sz="1200" b="1" dirty="0">
                          <a:latin typeface="현대하모니 L"/>
                          <a:ea typeface="현대하모니 L"/>
                        </a:rPr>
                        <a:t>)</a:t>
                      </a:r>
                      <a:endParaRPr lang="ko-KR" altLang="en-US" sz="1200" b="1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현대하모니 L"/>
                          <a:ea typeface="현대하모니 L"/>
                        </a:rPr>
                        <a:t>협력사</a:t>
                      </a: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현대하모니 L"/>
                          <a:ea typeface="현대하모니 L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00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Protection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Device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GND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분리 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Land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부분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동박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제거는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IC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제조사 가이드를 확인 후 설계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현대하모니 L"/>
                        <a:ea typeface="현대하모니 L"/>
                        <a:cs typeface="+mn-cs"/>
                      </a:endParaRP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복수의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이더넷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PHY/SW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적용 시 각각 검토 자료 첨부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현대하모니 L"/>
                          <a:ea typeface="현대하모니 L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현대하모니 L"/>
                          <a:ea typeface="현대하모니 L"/>
                        </a:rPr>
                        <a:t>: </a:t>
                      </a:r>
                      <a:endParaRPr lang="ko-KR" altLang="en-US" sz="1000" dirty="0">
                        <a:latin typeface="현대하모니 L"/>
                        <a:ea typeface="현대하모니 L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※ EMC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최적화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cs typeface="+mn-cs"/>
                        </a:rPr>
                        <a:t>통신 안정화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결과를 확인 할 수 있는 근거 자료 작성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현대하모니 L"/>
                <a:ea typeface="현대하모니 L"/>
              </a:rPr>
              <a:t>판정 결과 불만족 사항에 대한 대책 작성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344488" y="3606924"/>
            <a:ext cx="3452653" cy="2630388"/>
            <a:chOff x="344488" y="3606924"/>
            <a:chExt cx="3452653" cy="2630388"/>
          </a:xfrm>
        </p:grpSpPr>
        <p:grpSp>
          <p:nvGrpSpPr>
            <p:cNvPr id="67" name="그룹 66"/>
            <p:cNvGrpSpPr/>
            <p:nvPr/>
          </p:nvGrpSpPr>
          <p:grpSpPr>
            <a:xfrm>
              <a:off x="387086" y="5628984"/>
              <a:ext cx="1584178" cy="426212"/>
              <a:chOff x="483603" y="3852410"/>
              <a:chExt cx="2728870" cy="788570"/>
            </a:xfrm>
          </p:grpSpPr>
          <p:grpSp>
            <p:nvGrpSpPr>
              <p:cNvPr id="99" name="그룹 98"/>
              <p:cNvGrpSpPr/>
              <p:nvPr/>
            </p:nvGrpSpPr>
            <p:grpSpPr>
              <a:xfrm>
                <a:off x="483603" y="3852410"/>
                <a:ext cx="1211798" cy="788570"/>
                <a:chOff x="483603" y="3852410"/>
                <a:chExt cx="1211798" cy="788570"/>
              </a:xfrm>
            </p:grpSpPr>
            <p:sp>
              <p:nvSpPr>
                <p:cNvPr id="107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859238" y="3773445"/>
                  <a:ext cx="45719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8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859238" y="3955218"/>
                  <a:ext cx="45720" cy="796990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9" name="Rectangle 126"/>
                <p:cNvSpPr>
                  <a:spLocks noChangeArrowheads="1"/>
                </p:cNvSpPr>
                <p:nvPr/>
              </p:nvSpPr>
              <p:spPr bwMode="auto">
                <a:xfrm rot="2700000">
                  <a:off x="1355972" y="3945719"/>
                  <a:ext cx="45720" cy="246094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10" name="Rectangle 126"/>
                <p:cNvSpPr>
                  <a:spLocks noChangeArrowheads="1"/>
                </p:cNvSpPr>
                <p:nvPr/>
              </p:nvSpPr>
              <p:spPr bwMode="auto">
                <a:xfrm rot="18900000">
                  <a:off x="1348334" y="4321287"/>
                  <a:ext cx="45719" cy="246095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11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440054" y="3863253"/>
                  <a:ext cx="266189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12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429006" y="4385633"/>
                  <a:ext cx="266190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</p:grpSp>
          <p:grpSp>
            <p:nvGrpSpPr>
              <p:cNvPr id="100" name="그룹 99"/>
              <p:cNvGrpSpPr/>
              <p:nvPr/>
            </p:nvGrpSpPr>
            <p:grpSpPr>
              <a:xfrm rot="10800000">
                <a:off x="2000676" y="3852411"/>
                <a:ext cx="1211797" cy="788567"/>
                <a:chOff x="636001" y="3975440"/>
                <a:chExt cx="1211797" cy="788567"/>
              </a:xfrm>
            </p:grpSpPr>
            <p:sp>
              <p:nvSpPr>
                <p:cNvPr id="101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1011637" y="3896473"/>
                  <a:ext cx="45718" cy="796990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2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1011638" y="4078245"/>
                  <a:ext cx="45719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3" name="Rectangle 126"/>
                <p:cNvSpPr>
                  <a:spLocks noChangeArrowheads="1"/>
                </p:cNvSpPr>
                <p:nvPr/>
              </p:nvSpPr>
              <p:spPr bwMode="auto">
                <a:xfrm rot="2700000">
                  <a:off x="1508369" y="4073155"/>
                  <a:ext cx="45718" cy="246094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4" name="Rectangle 126"/>
                <p:cNvSpPr>
                  <a:spLocks noChangeArrowheads="1"/>
                </p:cNvSpPr>
                <p:nvPr/>
              </p:nvSpPr>
              <p:spPr bwMode="auto">
                <a:xfrm rot="18900000">
                  <a:off x="1500735" y="4448719"/>
                  <a:ext cx="45719" cy="246095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5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592451" y="3986283"/>
                  <a:ext cx="266189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106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581406" y="4508661"/>
                  <a:ext cx="266189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</p:grpSp>
        </p:grpSp>
        <p:grpSp>
          <p:nvGrpSpPr>
            <p:cNvPr id="68" name="그룹 67"/>
            <p:cNvGrpSpPr/>
            <p:nvPr/>
          </p:nvGrpSpPr>
          <p:grpSpPr>
            <a:xfrm>
              <a:off x="2062320" y="5616113"/>
              <a:ext cx="1734821" cy="425578"/>
              <a:chOff x="483603" y="3852410"/>
              <a:chExt cx="2988363" cy="787397"/>
            </a:xfrm>
          </p:grpSpPr>
          <p:grpSp>
            <p:nvGrpSpPr>
              <p:cNvPr id="85" name="그룹 84"/>
              <p:cNvGrpSpPr/>
              <p:nvPr/>
            </p:nvGrpSpPr>
            <p:grpSpPr>
              <a:xfrm>
                <a:off x="483603" y="3852410"/>
                <a:ext cx="1460257" cy="787383"/>
                <a:chOff x="483603" y="3852410"/>
                <a:chExt cx="1460257" cy="787383"/>
              </a:xfrm>
            </p:grpSpPr>
            <p:sp>
              <p:nvSpPr>
                <p:cNvPr id="93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859238" y="3773445"/>
                  <a:ext cx="45719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4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1118738" y="3954040"/>
                  <a:ext cx="45720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5" name="Rectangle 126"/>
                <p:cNvSpPr>
                  <a:spLocks noChangeArrowheads="1"/>
                </p:cNvSpPr>
                <p:nvPr/>
              </p:nvSpPr>
              <p:spPr bwMode="auto">
                <a:xfrm rot="2700000">
                  <a:off x="1355971" y="3950127"/>
                  <a:ext cx="45720" cy="246094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6" name="Rectangle 126"/>
                <p:cNvSpPr>
                  <a:spLocks noChangeArrowheads="1"/>
                </p:cNvSpPr>
                <p:nvPr/>
              </p:nvSpPr>
              <p:spPr bwMode="auto">
                <a:xfrm rot="18900000">
                  <a:off x="1611942" y="4325685"/>
                  <a:ext cx="45719" cy="246095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7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440054" y="3863253"/>
                  <a:ext cx="266189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8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688512" y="4384446"/>
                  <a:ext cx="266191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</p:grpSp>
          <p:grpSp>
            <p:nvGrpSpPr>
              <p:cNvPr id="86" name="그룹 85"/>
              <p:cNvGrpSpPr/>
              <p:nvPr/>
            </p:nvGrpSpPr>
            <p:grpSpPr>
              <a:xfrm rot="10800000">
                <a:off x="2011721" y="3852411"/>
                <a:ext cx="1460245" cy="787396"/>
                <a:chOff x="376508" y="3976611"/>
                <a:chExt cx="1460245" cy="787396"/>
              </a:xfrm>
            </p:grpSpPr>
            <p:sp>
              <p:nvSpPr>
                <p:cNvPr id="87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752143" y="3897647"/>
                  <a:ext cx="45720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8" name="Rectangle 126"/>
                <p:cNvSpPr>
                  <a:spLocks noChangeArrowheads="1"/>
                </p:cNvSpPr>
                <p:nvPr/>
              </p:nvSpPr>
              <p:spPr bwMode="auto">
                <a:xfrm rot="5400000">
                  <a:off x="1011638" y="4078245"/>
                  <a:ext cx="45719" cy="796989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89" name="Rectangle 126"/>
                <p:cNvSpPr>
                  <a:spLocks noChangeArrowheads="1"/>
                </p:cNvSpPr>
                <p:nvPr/>
              </p:nvSpPr>
              <p:spPr bwMode="auto">
                <a:xfrm rot="2700000">
                  <a:off x="1252978" y="4074330"/>
                  <a:ext cx="45720" cy="246094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0" name="Rectangle 126"/>
                <p:cNvSpPr>
                  <a:spLocks noChangeArrowheads="1"/>
                </p:cNvSpPr>
                <p:nvPr/>
              </p:nvSpPr>
              <p:spPr bwMode="auto">
                <a:xfrm rot="18900000">
                  <a:off x="1504836" y="4448719"/>
                  <a:ext cx="45719" cy="246095"/>
                </a:xfrm>
                <a:prstGeom prst="rect">
                  <a:avLst/>
                </a:prstGeom>
                <a:solidFill>
                  <a:srgbClr val="00CC99"/>
                </a:solidFill>
                <a:ln w="38100" algn="ctr">
                  <a:solidFill>
                    <a:srgbClr val="00CC99"/>
                  </a:solidFill>
                  <a:miter lim="800000"/>
                  <a:headEnd/>
                  <a:tailEnd/>
                </a:ln>
              </p:spPr>
              <p:txBody>
                <a:bodyPr wrap="none" lIns="55258" tIns="27629" rIns="55258" bIns="27629" anchor="ctr"/>
                <a:lstStyle/>
                <a:p>
                  <a:pPr algn="ctr" defTabSz="958850" fontAlgn="ctr">
                    <a:spcBef>
                      <a:spcPct val="50000"/>
                    </a:spcBef>
                  </a:pPr>
                  <a:endParaRPr lang="ko-KR" altLang="ko-KR" sz="1000" b="0" dirty="0">
                    <a:solidFill>
                      <a:srgbClr val="5F5F5F"/>
                    </a:solidFill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1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332952" y="3987454"/>
                  <a:ext cx="266190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  <p:sp>
              <p:nvSpPr>
                <p:cNvPr id="92" name="Rectangle 120"/>
                <p:cNvSpPr>
                  <a:spLocks noChangeArrowheads="1"/>
                </p:cNvSpPr>
                <p:nvPr/>
              </p:nvSpPr>
              <p:spPr bwMode="auto">
                <a:xfrm rot="16200000">
                  <a:off x="1581406" y="4508661"/>
                  <a:ext cx="266189" cy="244504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22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ko-KR" altLang="en-US" sz="1000" b="0">
                    <a:latin typeface="현대하모니 L"/>
                    <a:ea typeface="현대하모니 L"/>
                  </a:endParaRPr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344488" y="5542593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143163" y="5539993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4)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1" name="Text Box 115"/>
            <p:cNvSpPr txBox="1">
              <a:spLocks noChangeArrowheads="1"/>
            </p:cNvSpPr>
            <p:nvPr/>
          </p:nvSpPr>
          <p:spPr bwMode="auto">
            <a:xfrm>
              <a:off x="854271" y="3606924"/>
              <a:ext cx="643423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&lt; OK &gt;</a:t>
              </a:r>
            </a:p>
          </p:txBody>
        </p:sp>
        <p:sp>
          <p:nvSpPr>
            <p:cNvPr id="72" name="Text Box 116"/>
            <p:cNvSpPr txBox="1">
              <a:spLocks noChangeArrowheads="1"/>
            </p:cNvSpPr>
            <p:nvPr/>
          </p:nvSpPr>
          <p:spPr bwMode="auto">
            <a:xfrm>
              <a:off x="2644853" y="3606924"/>
              <a:ext cx="648232" cy="27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sz="12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&lt; NG &gt;</a:t>
              </a:r>
            </a:p>
          </p:txBody>
        </p:sp>
        <p:pic>
          <p:nvPicPr>
            <p:cNvPr id="73" name="그림 7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68" t="9877" r="6142" b="8565"/>
            <a:stretch/>
          </p:blipFill>
          <p:spPr>
            <a:xfrm>
              <a:off x="733753" y="4764020"/>
              <a:ext cx="846253" cy="643104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370076" y="4592176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2)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73233" y="3822948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0000FF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0000FF"/>
                </a:solidFill>
                <a:latin typeface="현대하모니 L"/>
                <a:ea typeface="현대하모니 L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101425" y="3822948"/>
              <a:ext cx="301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 dirty="0">
                  <a:solidFill>
                    <a:srgbClr val="FF0000"/>
                  </a:solidFill>
                  <a:latin typeface="현대하모니 L"/>
                  <a:ea typeface="현대하모니 L"/>
                </a:rPr>
                <a:t>1)</a:t>
              </a:r>
              <a:endParaRPr lang="ko-KR" altLang="en-US" sz="1000" b="0" dirty="0" err="1">
                <a:solidFill>
                  <a:srgbClr val="FF0000"/>
                </a:solidFill>
                <a:latin typeface="현대하모니 L"/>
                <a:ea typeface="현대하모니 L"/>
              </a:endParaRPr>
            </a:p>
          </p:txBody>
        </p:sp>
        <p:pic>
          <p:nvPicPr>
            <p:cNvPr id="77" name="그림 7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10179" r="22298" b="6176"/>
            <a:stretch/>
          </p:blipFill>
          <p:spPr>
            <a:xfrm>
              <a:off x="719900" y="3851696"/>
              <a:ext cx="925443" cy="834405"/>
            </a:xfrm>
            <a:prstGeom prst="rect">
              <a:avLst/>
            </a:prstGeom>
          </p:spPr>
        </p:pic>
        <p:pic>
          <p:nvPicPr>
            <p:cNvPr id="78" name="그림 7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10179" r="22298" b="6176"/>
            <a:stretch/>
          </p:blipFill>
          <p:spPr>
            <a:xfrm>
              <a:off x="2524993" y="3853113"/>
              <a:ext cx="925443" cy="834405"/>
            </a:xfrm>
            <a:prstGeom prst="rect">
              <a:avLst/>
            </a:prstGeom>
          </p:spPr>
        </p:pic>
        <p:sp>
          <p:nvSpPr>
            <p:cNvPr id="79" name="직사각형 78"/>
            <p:cNvSpPr/>
            <p:nvPr/>
          </p:nvSpPr>
          <p:spPr>
            <a:xfrm>
              <a:off x="948623" y="4349864"/>
              <a:ext cx="443692" cy="365422"/>
            </a:xfrm>
            <a:prstGeom prst="rect">
              <a:avLst/>
            </a:prstGeom>
            <a:noFill/>
            <a:ln w="19050">
              <a:solidFill>
                <a:srgbClr val="2B0EDC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787030" y="3853113"/>
              <a:ext cx="233373" cy="83298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4" name="직선 연결선 83"/>
            <p:cNvCxnSpPr/>
            <p:nvPr/>
          </p:nvCxnSpPr>
          <p:spPr>
            <a:xfrm>
              <a:off x="369332" y="5839172"/>
              <a:ext cx="1620000" cy="0"/>
            </a:xfrm>
            <a:prstGeom prst="line">
              <a:avLst/>
            </a:prstGeom>
            <a:ln w="19050">
              <a:solidFill>
                <a:srgbClr val="00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직사각형 2"/>
            <p:cNvSpPr/>
            <p:nvPr/>
          </p:nvSpPr>
          <p:spPr>
            <a:xfrm>
              <a:off x="2577942" y="5563855"/>
              <a:ext cx="559294" cy="23305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721953" y="5843459"/>
              <a:ext cx="559294" cy="23305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73703" y="5860237"/>
              <a:ext cx="559294" cy="23305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873711" y="5589240"/>
              <a:ext cx="559294" cy="23305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cxnSp>
          <p:nvCxnSpPr>
            <p:cNvPr id="81" name="직선 연결선 80"/>
            <p:cNvCxnSpPr/>
            <p:nvPr/>
          </p:nvCxnSpPr>
          <p:spPr>
            <a:xfrm>
              <a:off x="2694829" y="5479172"/>
              <a:ext cx="0" cy="360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2847229" y="5805304"/>
              <a:ext cx="0" cy="360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타원 82"/>
            <p:cNvSpPr/>
            <p:nvPr/>
          </p:nvSpPr>
          <p:spPr>
            <a:xfrm>
              <a:off x="2428988" y="5373216"/>
              <a:ext cx="905479" cy="86409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97546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328726"/>
              </p:ext>
            </p:extLst>
          </p:nvPr>
        </p:nvGraphicFramePr>
        <p:xfrm>
          <a:off x="273050" y="828344"/>
          <a:ext cx="9432140" cy="5853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[DCC-1]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기구물과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패턴</a:t>
                      </a:r>
                      <a:endParaRPr lang="ko-KR" altLang="en-US" sz="1200" b="1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4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1)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기구물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패턴은 적절한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(d1)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를 확보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  ( d1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0.5mm)</a:t>
                      </a:r>
                    </a:p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LED </a:t>
                      </a:r>
                      <a:r>
                        <a:rPr lang="ko-KR" altLang="en-US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조명부의 </a:t>
                      </a:r>
                      <a:r>
                        <a:rPr lang="ko-KR" altLang="en-US" sz="1000" baseline="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누광구조</a:t>
                      </a:r>
                      <a:r>
                        <a:rPr lang="ko-KR" altLang="en-US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제외</a:t>
                      </a:r>
                      <a:r>
                        <a:rPr lang="en-US" altLang="ko-KR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버튼 구조 제외  </a:t>
                      </a:r>
                      <a:r>
                        <a:rPr lang="en-US" altLang="ko-KR" sz="1000" baseline="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(DCC-03.0)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해당 없음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 grid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2)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기구물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VIA HOLE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은 적절한 거리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(d2)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를 확보 하였는가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  ( d2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해당 없음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235792"/>
                  </a:ext>
                </a:extLst>
              </a:tr>
              <a:tr h="2952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3704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각 항목의 치수 확인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d1 :  </a:t>
                      </a:r>
                      <a:r>
                        <a:rPr lang="en-US" altLang="ko-KR" sz="1000" baseline="0" dirty="0" smtClean="0"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</a:rPr>
                        <a:t>mm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d2 :    mm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d3 :    mm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조립시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기구물에 의한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패턴 보호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73050" y="2996952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j-ea"/>
                <a:ea typeface="+mj-ea"/>
              </a:rPr>
              <a:t>1) </a:t>
            </a:r>
            <a:endParaRPr lang="ko-KR" altLang="en-US" sz="1000" dirty="0" err="1">
              <a:solidFill>
                <a:srgbClr val="0000FF"/>
              </a:solidFill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C66502E-B8F9-4E5F-AB7E-63B5EA1121CD}"/>
              </a:ext>
            </a:extLst>
          </p:cNvPr>
          <p:cNvGrpSpPr/>
          <p:nvPr/>
        </p:nvGrpSpPr>
        <p:grpSpPr>
          <a:xfrm>
            <a:off x="2363311" y="4608840"/>
            <a:ext cx="1413556" cy="1081866"/>
            <a:chOff x="-1427399" y="3998949"/>
            <a:chExt cx="1183199" cy="858102"/>
          </a:xfrm>
        </p:grpSpPr>
        <p:pic>
          <p:nvPicPr>
            <p:cNvPr id="44" name="Picture 4" descr="C:\Users\dell\Desktop\20181025_135331.jpg">
              <a:extLst>
                <a:ext uri="{FF2B5EF4-FFF2-40B4-BE49-F238E27FC236}">
                  <a16:creationId xmlns:a16="http://schemas.microsoft.com/office/drawing/2014/main" id="{A0CB4045-8207-4112-B09E-445978B691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950" t="29833" r="25199" b="40335"/>
            <a:stretch/>
          </p:blipFill>
          <p:spPr bwMode="auto">
            <a:xfrm>
              <a:off x="-1427399" y="3998949"/>
              <a:ext cx="1183199" cy="858102"/>
            </a:xfrm>
            <a:prstGeom prst="rect">
              <a:avLst/>
            </a:prstGeom>
            <a:noFill/>
            <a:ln>
              <a:noFill/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45">
              <a:extLst>
                <a:ext uri="{FF2B5EF4-FFF2-40B4-BE49-F238E27FC236}">
                  <a16:creationId xmlns:a16="http://schemas.microsoft.com/office/drawing/2014/main" id="{25F9FF67-7658-4C45-BC9F-47D0B24596A6}"/>
                </a:ext>
              </a:extLst>
            </p:cNvPr>
            <p:cNvSpPr txBox="1"/>
            <p:nvPr/>
          </p:nvSpPr>
          <p:spPr>
            <a:xfrm>
              <a:off x="-504924" y="4667271"/>
              <a:ext cx="224420" cy="153888"/>
            </a:xfrm>
            <a:prstGeom prst="rect">
              <a:avLst/>
            </a:prstGeom>
            <a:solidFill>
              <a:srgbClr val="FFFFCC"/>
            </a:solidFill>
            <a:ln>
              <a:noFill/>
              <a:prstDash val="sysDash"/>
            </a:ln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rgbClr val="000000"/>
                  </a:solidFill>
                  <a:latin typeface="현대하모니 L" pitchFamily="18" charset="-127"/>
                  <a:ea typeface="현대하모니 L" pitchFamily="18" charset="-127"/>
                </a:rPr>
                <a:t>보스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1187F3-D69F-4B5B-92E2-632B577A9D1D}"/>
              </a:ext>
            </a:extLst>
          </p:cNvPr>
          <p:cNvGrpSpPr/>
          <p:nvPr/>
        </p:nvGrpSpPr>
        <p:grpSpPr>
          <a:xfrm>
            <a:off x="551034" y="3147018"/>
            <a:ext cx="1323608" cy="1327396"/>
            <a:chOff x="794700" y="2765163"/>
            <a:chExt cx="1590499" cy="1645182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CC6AE3E-9991-4C31-82A8-33B015AF927E}"/>
                </a:ext>
              </a:extLst>
            </p:cNvPr>
            <p:cNvSpPr/>
            <p:nvPr/>
          </p:nvSpPr>
          <p:spPr>
            <a:xfrm>
              <a:off x="985445" y="3080320"/>
              <a:ext cx="81022" cy="1133402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42E811B-CC9B-4692-969C-3525C4F7206C}"/>
                </a:ext>
              </a:extLst>
            </p:cNvPr>
            <p:cNvSpPr/>
            <p:nvPr/>
          </p:nvSpPr>
          <p:spPr>
            <a:xfrm>
              <a:off x="1418042" y="3473657"/>
              <a:ext cx="638175" cy="63341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3C40FA9-C53B-490A-9595-D14F8282F4EC}"/>
                </a:ext>
              </a:extLst>
            </p:cNvPr>
            <p:cNvSpPr/>
            <p:nvPr/>
          </p:nvSpPr>
          <p:spPr>
            <a:xfrm>
              <a:off x="1544248" y="3593910"/>
              <a:ext cx="385763" cy="392906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00030211-44BE-4558-81AD-10E0C69C28FD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1089059" y="3790363"/>
              <a:ext cx="342212" cy="0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 Box 81">
              <a:extLst>
                <a:ext uri="{FF2B5EF4-FFF2-40B4-BE49-F238E27FC236}">
                  <a16:creationId xmlns:a16="http://schemas.microsoft.com/office/drawing/2014/main" id="{B5CAF3B3-B8A6-4D97-B8E3-C96708B7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261" y="3570077"/>
              <a:ext cx="19089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solidFill>
                    <a:srgbClr val="0000FF"/>
                  </a:solidFill>
                  <a:latin typeface="+mj-ea"/>
                  <a:ea typeface="+mj-ea"/>
                </a:rPr>
                <a:t>d1</a:t>
              </a:r>
            </a:p>
          </p:txBody>
        </p:sp>
        <p:sp>
          <p:nvSpPr>
            <p:cNvPr id="40" name="Text Box 81">
              <a:extLst>
                <a:ext uri="{FF2B5EF4-FFF2-40B4-BE49-F238E27FC236}">
                  <a16:creationId xmlns:a16="http://schemas.microsoft.com/office/drawing/2014/main" id="{849569F4-2FA2-4AFE-B43B-2E5535821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74978" y="3475994"/>
              <a:ext cx="593332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latin typeface="+mj-ea"/>
                  <a:ea typeface="+mj-ea"/>
                </a:rPr>
                <a:t>Pattern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CF40C7B-62E7-45A6-8CF1-0F54360297FF}"/>
                </a:ext>
              </a:extLst>
            </p:cNvPr>
            <p:cNvSpPr/>
            <p:nvPr/>
          </p:nvSpPr>
          <p:spPr>
            <a:xfrm>
              <a:off x="1307623" y="2765163"/>
              <a:ext cx="964901" cy="381708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5295D3C-2EE2-4DC6-83C7-18EC33153BE9}"/>
                </a:ext>
              </a:extLst>
            </p:cNvPr>
            <p:cNvCxnSpPr>
              <a:cxnSpLocks/>
              <a:stCxn id="29" idx="0"/>
              <a:endCxn id="51" idx="0"/>
            </p:cNvCxnSpPr>
            <p:nvPr/>
          </p:nvCxnSpPr>
          <p:spPr>
            <a:xfrm flipH="1" flipV="1">
              <a:off x="1737129" y="3170381"/>
              <a:ext cx="1" cy="303276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 Box 81">
              <a:extLst>
                <a:ext uri="{FF2B5EF4-FFF2-40B4-BE49-F238E27FC236}">
                  <a16:creationId xmlns:a16="http://schemas.microsoft.com/office/drawing/2014/main" id="{10AAEE4F-8860-474A-B51C-A8B01AE36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372" y="2918054"/>
              <a:ext cx="569405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latin typeface="+mj-ea"/>
                  <a:ea typeface="+mj-ea"/>
                </a:rPr>
                <a:t>Copper</a:t>
              </a:r>
            </a:p>
          </p:txBody>
        </p:sp>
        <p:sp>
          <p:nvSpPr>
            <p:cNvPr id="49" name="Text Box 81">
              <a:extLst>
                <a:ext uri="{FF2B5EF4-FFF2-40B4-BE49-F238E27FC236}">
                  <a16:creationId xmlns:a16="http://schemas.microsoft.com/office/drawing/2014/main" id="{42A33C2A-7D2C-4FF1-8007-585F02D44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121" y="3308849"/>
              <a:ext cx="19089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solidFill>
                    <a:srgbClr val="0000FF"/>
                  </a:solidFill>
                  <a:latin typeface="+mj-ea"/>
                  <a:ea typeface="+mj-ea"/>
                </a:rPr>
                <a:t>d1</a:t>
              </a: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1AD4E8B-8B6C-482A-9FDA-0B1E9EEA8E97}"/>
                </a:ext>
              </a:extLst>
            </p:cNvPr>
            <p:cNvSpPr/>
            <p:nvPr/>
          </p:nvSpPr>
          <p:spPr>
            <a:xfrm>
              <a:off x="1089059" y="3170381"/>
              <a:ext cx="1296140" cy="123996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BCF970B-2206-43C6-B713-C0A8577E3279}"/>
              </a:ext>
            </a:extLst>
          </p:cNvPr>
          <p:cNvGrpSpPr/>
          <p:nvPr/>
        </p:nvGrpSpPr>
        <p:grpSpPr>
          <a:xfrm>
            <a:off x="2292611" y="2928518"/>
            <a:ext cx="1368144" cy="1553539"/>
            <a:chOff x="2576773" y="2576787"/>
            <a:chExt cx="1684914" cy="1853743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529E8FB8-C9C0-40B2-9406-CCDC72CB04E3}"/>
                </a:ext>
              </a:extLst>
            </p:cNvPr>
            <p:cNvSpPr/>
            <p:nvPr/>
          </p:nvSpPr>
          <p:spPr>
            <a:xfrm>
              <a:off x="2576773" y="3614095"/>
              <a:ext cx="373320" cy="393620"/>
            </a:xfrm>
            <a:prstGeom prst="ellipse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AC89CEF-DDF1-4BBB-BBDA-63425A019949}"/>
                </a:ext>
              </a:extLst>
            </p:cNvPr>
            <p:cNvSpPr/>
            <p:nvPr/>
          </p:nvSpPr>
          <p:spPr>
            <a:xfrm>
              <a:off x="2651018" y="3691567"/>
              <a:ext cx="224829" cy="2386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A3DE3C6-CB03-43A6-92D3-DD3D56D82F9D}"/>
                </a:ext>
              </a:extLst>
            </p:cNvPr>
            <p:cNvSpPr/>
            <p:nvPr/>
          </p:nvSpPr>
          <p:spPr>
            <a:xfrm>
              <a:off x="3294530" y="3493842"/>
              <a:ext cx="638175" cy="633413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7F9AF492-A387-435D-8610-D7473D992C8C}"/>
                </a:ext>
              </a:extLst>
            </p:cNvPr>
            <p:cNvSpPr/>
            <p:nvPr/>
          </p:nvSpPr>
          <p:spPr>
            <a:xfrm>
              <a:off x="3420736" y="3614095"/>
              <a:ext cx="385763" cy="392906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247601A7-BA1B-49C6-9F8D-4B7EEEBB5C95}"/>
                </a:ext>
              </a:extLst>
            </p:cNvPr>
            <p:cNvCxnSpPr>
              <a:cxnSpLocks/>
              <a:stCxn id="63" idx="2"/>
            </p:cNvCxnSpPr>
            <p:nvPr/>
          </p:nvCxnSpPr>
          <p:spPr>
            <a:xfrm flipV="1">
              <a:off x="2965547" y="3807104"/>
              <a:ext cx="326317" cy="3444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 Box 81">
              <a:extLst>
                <a:ext uri="{FF2B5EF4-FFF2-40B4-BE49-F238E27FC236}">
                  <a16:creationId xmlns:a16="http://schemas.microsoft.com/office/drawing/2014/main" id="{27C0AD85-F0A1-4AED-8557-3A4FF1BB3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4560" y="3571485"/>
              <a:ext cx="19089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solidFill>
                    <a:srgbClr val="0000FF"/>
                  </a:solidFill>
                  <a:latin typeface="+mj-ea"/>
                  <a:ea typeface="+mj-ea"/>
                </a:rPr>
                <a:t>d2</a:t>
              </a:r>
            </a:p>
          </p:txBody>
        </p:sp>
        <p:sp>
          <p:nvSpPr>
            <p:cNvPr id="62" name="Text Box 81">
              <a:extLst>
                <a:ext uri="{FF2B5EF4-FFF2-40B4-BE49-F238E27FC236}">
                  <a16:creationId xmlns:a16="http://schemas.microsoft.com/office/drawing/2014/main" id="{E4DFC21F-C7FF-4C7F-8597-28BEBC4AC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032" y="3405534"/>
              <a:ext cx="25680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latin typeface="+mj-ea"/>
                  <a:ea typeface="+mj-ea"/>
                </a:rPr>
                <a:t>Via</a:t>
              </a: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06EE6E45-64E2-4685-8295-AF082E692F9B}"/>
                </a:ext>
              </a:extLst>
            </p:cNvPr>
            <p:cNvSpPr/>
            <p:nvPr/>
          </p:nvSpPr>
          <p:spPr>
            <a:xfrm>
              <a:off x="2965547" y="3190566"/>
              <a:ext cx="1296140" cy="1239964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28E4BCAC-0DD8-413B-9319-935FE554BF7D}"/>
                </a:ext>
              </a:extLst>
            </p:cNvPr>
            <p:cNvSpPr/>
            <p:nvPr/>
          </p:nvSpPr>
          <p:spPr>
            <a:xfrm>
              <a:off x="3423405" y="2785348"/>
              <a:ext cx="373320" cy="393620"/>
            </a:xfrm>
            <a:prstGeom prst="ellipse">
              <a:avLst/>
            </a:prstGeom>
            <a:solidFill>
              <a:srgbClr val="FFC000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F9B351D0-1B04-4F4E-BDC3-E16F65979BD4}"/>
                </a:ext>
              </a:extLst>
            </p:cNvPr>
            <p:cNvSpPr/>
            <p:nvPr/>
          </p:nvSpPr>
          <p:spPr>
            <a:xfrm>
              <a:off x="3497650" y="2862820"/>
              <a:ext cx="224829" cy="2386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69" name="Text Box 81">
              <a:extLst>
                <a:ext uri="{FF2B5EF4-FFF2-40B4-BE49-F238E27FC236}">
                  <a16:creationId xmlns:a16="http://schemas.microsoft.com/office/drawing/2014/main" id="{CAC1E8E1-F6BC-46FA-9A31-2C6F04A60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1664" y="2576787"/>
              <a:ext cx="25680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latin typeface="+mj-ea"/>
                  <a:ea typeface="+mj-ea"/>
                </a:rPr>
                <a:t>Via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78CEAB4D-4731-46A5-8AF5-8A7ADF0A1D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16" y="3190566"/>
              <a:ext cx="1" cy="303276"/>
            </a:xfrm>
            <a:prstGeom prst="line">
              <a:avLst/>
            </a:prstGeom>
            <a:ln>
              <a:solidFill>
                <a:srgbClr val="0000FF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 Box 81">
              <a:extLst>
                <a:ext uri="{FF2B5EF4-FFF2-40B4-BE49-F238E27FC236}">
                  <a16:creationId xmlns:a16="http://schemas.microsoft.com/office/drawing/2014/main" id="{123E8C0F-8FC8-472C-86BF-44074C00B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1808" y="3329034"/>
              <a:ext cx="190897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000" dirty="0">
                  <a:solidFill>
                    <a:srgbClr val="0000FF"/>
                  </a:solidFill>
                  <a:latin typeface="+mj-ea"/>
                  <a:ea typeface="+mj-ea"/>
                </a:rPr>
                <a:t>d2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185A4DA6-1BF3-4450-9138-B380DDFE3489}"/>
              </a:ext>
            </a:extLst>
          </p:cNvPr>
          <p:cNvSpPr txBox="1"/>
          <p:nvPr/>
        </p:nvSpPr>
        <p:spPr>
          <a:xfrm>
            <a:off x="2314317" y="2996951"/>
            <a:ext cx="349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j-ea"/>
                <a:ea typeface="+mj-ea"/>
              </a:rPr>
              <a:t>2) </a:t>
            </a:r>
            <a:endParaRPr lang="ko-KR" altLang="en-US" sz="1000" dirty="0" err="1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5DD97B5A-369A-4375-9E0E-2F9EFC5E9C0F}"/>
              </a:ext>
            </a:extLst>
          </p:cNvPr>
          <p:cNvSpPr/>
          <p:nvPr/>
        </p:nvSpPr>
        <p:spPr>
          <a:xfrm>
            <a:off x="565916" y="4768218"/>
            <a:ext cx="689551" cy="727782"/>
          </a:xfrm>
          <a:prstGeom prst="ellipse">
            <a:avLst/>
          </a:prstGeom>
          <a:solidFill>
            <a:schemeClr val="bg1">
              <a:lumMod val="50000"/>
            </a:schemeClr>
          </a:solidFill>
          <a:ln w="19050"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B5C30EF-5F55-4EB3-B51B-B5A3C6C84610}"/>
              </a:ext>
            </a:extLst>
          </p:cNvPr>
          <p:cNvSpPr/>
          <p:nvPr/>
        </p:nvSpPr>
        <p:spPr>
          <a:xfrm>
            <a:off x="677932" y="4902687"/>
            <a:ext cx="465518" cy="458842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76" name="Text Box 81">
            <a:extLst>
              <a:ext uri="{FF2B5EF4-FFF2-40B4-BE49-F238E27FC236}">
                <a16:creationId xmlns:a16="http://schemas.microsoft.com/office/drawing/2014/main" id="{16F95013-6450-4AD2-A4FC-EF94D7757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0" y="5062234"/>
            <a:ext cx="46551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dirty="0">
                <a:solidFill>
                  <a:schemeClr val="bg1"/>
                </a:solidFill>
                <a:latin typeface="+mj-ea"/>
                <a:ea typeface="+mj-ea"/>
              </a:rPr>
              <a:t>Hole</a:t>
            </a:r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CFF6FC-AD13-4789-BE24-FBD02D535B32}"/>
              </a:ext>
            </a:extLst>
          </p:cNvPr>
          <p:cNvSpPr/>
          <p:nvPr/>
        </p:nvSpPr>
        <p:spPr>
          <a:xfrm>
            <a:off x="1402208" y="5295701"/>
            <a:ext cx="912109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PCB </a:t>
            </a:r>
            <a:r>
              <a:rPr lang="ko-KR" altLang="en-US" sz="10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와 안착 조립</a:t>
            </a:r>
            <a:endParaRPr lang="en-US" altLang="ko-KR" sz="1000" dirty="0">
              <a:solidFill>
                <a:srgbClr val="00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보스 닫는 곳</a:t>
            </a:r>
            <a:endParaRPr lang="ko-KR" altLang="en-US" sz="1000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88F9394-7AED-4563-94AF-9A4735B480E7}"/>
              </a:ext>
            </a:extLst>
          </p:cNvPr>
          <p:cNvCxnSpPr>
            <a:cxnSpLocks/>
          </p:cNvCxnSpPr>
          <p:nvPr/>
        </p:nvCxnSpPr>
        <p:spPr>
          <a:xfrm>
            <a:off x="1110084" y="5342236"/>
            <a:ext cx="257399" cy="57261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B08486F-64FB-402F-8BD2-AF065EB675F0}"/>
              </a:ext>
            </a:extLst>
          </p:cNvPr>
          <p:cNvCxnSpPr>
            <a:cxnSpLocks/>
          </p:cNvCxnSpPr>
          <p:nvPr/>
        </p:nvCxnSpPr>
        <p:spPr>
          <a:xfrm flipH="1">
            <a:off x="2407033" y="5273045"/>
            <a:ext cx="633327" cy="127725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FD3AC5C-8C43-4AA7-A35F-63A59E71EE3F}"/>
              </a:ext>
            </a:extLst>
          </p:cNvPr>
          <p:cNvCxnSpPr>
            <a:cxnSpLocks/>
          </p:cNvCxnSpPr>
          <p:nvPr/>
        </p:nvCxnSpPr>
        <p:spPr>
          <a:xfrm>
            <a:off x="2874798" y="3959592"/>
            <a:ext cx="0" cy="1256530"/>
          </a:xfrm>
          <a:prstGeom prst="line">
            <a:avLst/>
          </a:prstGeom>
          <a:ln>
            <a:solidFill>
              <a:srgbClr val="0000FF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9C48655-72DC-4C7C-BDE3-B5288CC4886D}"/>
              </a:ext>
            </a:extLst>
          </p:cNvPr>
          <p:cNvCxnSpPr/>
          <p:nvPr/>
        </p:nvCxnSpPr>
        <p:spPr>
          <a:xfrm>
            <a:off x="3390450" y="3959592"/>
            <a:ext cx="0" cy="1194135"/>
          </a:xfrm>
          <a:prstGeom prst="line">
            <a:avLst/>
          </a:prstGeom>
          <a:ln>
            <a:solidFill>
              <a:srgbClr val="0000FF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A8C8978-AE71-43DB-8AD7-0C06ABD4807F}"/>
              </a:ext>
            </a:extLst>
          </p:cNvPr>
          <p:cNvCxnSpPr>
            <a:cxnSpLocks/>
          </p:cNvCxnSpPr>
          <p:nvPr/>
        </p:nvCxnSpPr>
        <p:spPr>
          <a:xfrm>
            <a:off x="2888272" y="4556659"/>
            <a:ext cx="502178" cy="0"/>
          </a:xfrm>
          <a:prstGeom prst="line">
            <a:avLst/>
          </a:prstGeom>
          <a:ln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81">
            <a:extLst>
              <a:ext uri="{FF2B5EF4-FFF2-40B4-BE49-F238E27FC236}">
                <a16:creationId xmlns:a16="http://schemas.microsoft.com/office/drawing/2014/main" id="{F20BAC2B-96A9-4675-BB67-100DC728A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431" y="4453783"/>
            <a:ext cx="15500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dirty="0">
                <a:solidFill>
                  <a:srgbClr val="0000FF"/>
                </a:solidFill>
                <a:latin typeface="+mj-ea"/>
                <a:ea typeface="+mj-ea"/>
              </a:rPr>
              <a:t>d3</a:t>
            </a:r>
          </a:p>
        </p:txBody>
      </p:sp>
    </p:spTree>
    <p:extLst>
      <p:ext uri="{BB962C8B-B14F-4D97-AF65-F5344CB8AC3E}">
        <p14:creationId xmlns:p14="http://schemas.microsoft.com/office/powerpoint/2010/main" val="38979889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691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Land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506390"/>
              </p:ext>
            </p:extLst>
          </p:nvPr>
        </p:nvGraphicFramePr>
        <p:xfrm>
          <a:off x="273050" y="828345"/>
          <a:ext cx="9432140" cy="5684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845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[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DCC-2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Test Point (TP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08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TP – TP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 최소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확보 하였는가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( 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08">
                <a:tc grid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TP-PCB Outline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 최소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확보 하였는가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(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≥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mm)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596523"/>
                  </a:ext>
                </a:extLst>
              </a:tr>
              <a:tr h="513324">
                <a:tc grid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TP-Via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간 최소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확보 하였는가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(C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≥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0.5 mm)</a:t>
                      </a:r>
                    </a:p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단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불가한 경우 변경 전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(0.5mm), 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변경 후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최적화 </a:t>
                      </a:r>
                      <a:r>
                        <a:rPr lang="ko-KR" altLang="en-US" sz="1000" dirty="0" err="1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이격거리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현대하모니 L"/>
                          <a:ea typeface="현대하모니 L"/>
                        </a:rPr>
                        <a:t> 결과 첨부 </a:t>
                      </a:r>
                      <a:r>
                        <a:rPr lang="en-US" altLang="ko-KR" sz="1000" dirty="0">
                          <a:solidFill>
                            <a:srgbClr val="009900"/>
                          </a:solidFill>
                          <a:latin typeface="현대하모니 B"/>
                          <a:ea typeface="현대하모니 B"/>
                        </a:rPr>
                        <a:t>(DCC-03.1)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281924"/>
                  </a:ext>
                </a:extLst>
              </a:tr>
              <a:tr h="289808">
                <a:tc grid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4) TP-(Normal)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부품간 최소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확보 하였는가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(D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≥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0.5 mm)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부품의  높이가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 10mm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미만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05098"/>
                  </a:ext>
                </a:extLst>
              </a:tr>
              <a:tr h="289808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5)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TP-(High)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부품간 최소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D’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를 확보 하였는가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 (D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≥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 mm)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부품의 기준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.= 10mm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marL="36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036284"/>
                  </a:ext>
                </a:extLst>
              </a:tr>
              <a:tr h="289808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6) PCB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패턴 내 사이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Test point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배치 금지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ICT, BBT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공정에 의한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PCB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동노출로 인한 패턴 결손 방지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i="0" u="none" strike="noStrik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115863"/>
                  </a:ext>
                </a:extLst>
              </a:tr>
              <a:tr h="289808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FF0000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84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1319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endParaRPr lang="en-US" altLang="ko-KR" sz="1000" dirty="0" smtClean="0">
                        <a:latin typeface="+mj-ea"/>
                        <a:ea typeface="+mj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latin typeface="+mj-ea"/>
                          <a:ea typeface="+mj-ea"/>
                        </a:rPr>
                        <a:t>                  BOTTOM TEST PIN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808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Test pin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에 의한 부품 보호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7EA6770F-FFAB-4EBA-A3DD-D36F56D205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60" y="3870021"/>
            <a:ext cx="2386549" cy="10441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BA3C3C2-118A-4F64-B52C-2EC76C7D5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50" y="5124825"/>
            <a:ext cx="1512168" cy="9206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F3ADE9-2AF7-48CD-81CF-79AC10438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581" y="5124825"/>
            <a:ext cx="1152267" cy="932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E27678-FD9D-4AE0-BA6B-EC87CF206E75}"/>
              </a:ext>
            </a:extLst>
          </p:cNvPr>
          <p:cNvSpPr txBox="1"/>
          <p:nvPr/>
        </p:nvSpPr>
        <p:spPr>
          <a:xfrm>
            <a:off x="508970" y="4902994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j-ea"/>
                <a:ea typeface="+mj-ea"/>
              </a:rPr>
              <a:t>6) NG </a:t>
            </a:r>
            <a:endParaRPr lang="ko-KR" altLang="en-US" sz="1000" dirty="0" err="1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C88D3-647B-49ED-97C5-8ED95189A65C}"/>
              </a:ext>
            </a:extLst>
          </p:cNvPr>
          <p:cNvSpPr txBox="1"/>
          <p:nvPr/>
        </p:nvSpPr>
        <p:spPr>
          <a:xfrm>
            <a:off x="2347042" y="4901823"/>
            <a:ext cx="5774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00FF"/>
                </a:solidFill>
                <a:latin typeface="+mj-ea"/>
                <a:ea typeface="+mj-ea"/>
              </a:rPr>
              <a:t>6) OK </a:t>
            </a:r>
            <a:endParaRPr lang="ko-KR" altLang="en-US" sz="1000" dirty="0" err="1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BFD565-F3D3-4E2C-B1FB-1A55135653BF}"/>
              </a:ext>
            </a:extLst>
          </p:cNvPr>
          <p:cNvSpPr/>
          <p:nvPr/>
        </p:nvSpPr>
        <p:spPr>
          <a:xfrm>
            <a:off x="1099196" y="5229200"/>
            <a:ext cx="541436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15CE082-5B5A-4009-8EF3-28C0F59819FE}"/>
              </a:ext>
            </a:extLst>
          </p:cNvPr>
          <p:cNvSpPr/>
          <p:nvPr/>
        </p:nvSpPr>
        <p:spPr>
          <a:xfrm>
            <a:off x="2737996" y="5314587"/>
            <a:ext cx="342796" cy="27465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000" b="0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291" y="4060927"/>
            <a:ext cx="2328556" cy="1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54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73050" y="828344"/>
          <a:ext cx="9432140" cy="56249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845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[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DCC-3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인카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온도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센서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(DCC-01)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61">
                <a:tc grid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1) CONTROL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내의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INCAR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센서와 발열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소와자의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이격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거리는 최소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50mm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를 초과 해야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39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별도 </a:t>
                      </a:r>
                      <a:r>
                        <a:rPr lang="ko-KR" altLang="en-US" sz="1000" kern="1200" dirty="0" err="1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협력사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 기준을 적용할 경우</a:t>
                      </a:r>
                      <a:r>
                        <a:rPr lang="en-US" altLang="ko-KR" sz="1000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상세 내용 및 근거를 첨부하고 담당자와 협의한다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845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140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부품 수명 계산 근거 첨부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계산식 및 결과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861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차량 실내 온도 추종성 확보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3944888" y="5126995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+mj-ea"/>
                <a:ea typeface="+mj-ea"/>
              </a:rPr>
              <a:t>판정 결과를 확인 할 수 있는 근거 자료 작성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897216" y="5126995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ko-KR" altLang="en-US" sz="1000" b="0" dirty="0">
                <a:solidFill>
                  <a:srgbClr val="FF0000"/>
                </a:solidFill>
                <a:latin typeface="+mj-ea"/>
                <a:ea typeface="+mj-ea"/>
              </a:rPr>
              <a:t>판정 결과 불만족 사항에 대한 대책 작성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701AC6A-D0A4-4506-9119-5D960567769F}"/>
              </a:ext>
            </a:extLst>
          </p:cNvPr>
          <p:cNvGrpSpPr/>
          <p:nvPr/>
        </p:nvGrpSpPr>
        <p:grpSpPr>
          <a:xfrm>
            <a:off x="560512" y="2924944"/>
            <a:ext cx="3169195" cy="1872208"/>
            <a:chOff x="1049839" y="3875770"/>
            <a:chExt cx="4086550" cy="2390094"/>
          </a:xfrm>
        </p:grpSpPr>
        <p:pic>
          <p:nvPicPr>
            <p:cNvPr id="13" name="Picture 21">
              <a:extLst>
                <a:ext uri="{FF2B5EF4-FFF2-40B4-BE49-F238E27FC236}">
                  <a16:creationId xmlns:a16="http://schemas.microsoft.com/office/drawing/2014/main" id="{0E8AC78A-CE00-4AF8-A8E2-5105567EA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926" y="3875770"/>
              <a:ext cx="3786187" cy="186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33BB060-6CE4-49AF-BD56-5F548CF2D903}"/>
                </a:ext>
              </a:extLst>
            </p:cNvPr>
            <p:cNvSpPr/>
            <p:nvPr/>
          </p:nvSpPr>
          <p:spPr bwMode="auto">
            <a:xfrm>
              <a:off x="3408363" y="4765676"/>
              <a:ext cx="428625" cy="357188"/>
            </a:xfrm>
            <a:prstGeom prst="ellipse">
              <a:avLst/>
            </a:prstGeom>
            <a:noFill/>
            <a:ln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D8E33EB-3D13-417C-AFA5-16BE0B8A30B1}"/>
                </a:ext>
              </a:extLst>
            </p:cNvPr>
            <p:cNvSpPr/>
            <p:nvPr/>
          </p:nvSpPr>
          <p:spPr bwMode="auto">
            <a:xfrm>
              <a:off x="3117851" y="5213351"/>
              <a:ext cx="428625" cy="357188"/>
            </a:xfrm>
            <a:prstGeom prst="ellipse">
              <a:avLst/>
            </a:prstGeom>
            <a:noFill/>
            <a:ln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18" name="설명선 2 8">
              <a:extLst>
                <a:ext uri="{FF2B5EF4-FFF2-40B4-BE49-F238E27FC236}">
                  <a16:creationId xmlns:a16="http://schemas.microsoft.com/office/drawing/2014/main" id="{AD1FEEAF-312E-41F2-AC82-9334E0F2EF71}"/>
                </a:ext>
              </a:extLst>
            </p:cNvPr>
            <p:cNvSpPr/>
            <p:nvPr/>
          </p:nvSpPr>
          <p:spPr bwMode="auto">
            <a:xfrm>
              <a:off x="4115023" y="5908677"/>
              <a:ext cx="1021366" cy="357187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246540"/>
                <a:gd name="adj6" fmla="val -38748"/>
              </a:avLst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/>
                <a:t>발열소자</a:t>
              </a:r>
              <a:endParaRPr lang="ko-KR" altLang="en-US" sz="1000" dirty="0"/>
            </a:p>
          </p:txBody>
        </p:sp>
        <p:sp>
          <p:nvSpPr>
            <p:cNvPr id="19" name="설명선 2 9">
              <a:extLst>
                <a:ext uri="{FF2B5EF4-FFF2-40B4-BE49-F238E27FC236}">
                  <a16:creationId xmlns:a16="http://schemas.microsoft.com/office/drawing/2014/main" id="{7769B26D-5D54-42D4-9B60-0521D74C8A1F}"/>
                </a:ext>
              </a:extLst>
            </p:cNvPr>
            <p:cNvSpPr/>
            <p:nvPr/>
          </p:nvSpPr>
          <p:spPr bwMode="auto">
            <a:xfrm flipH="1">
              <a:off x="1049839" y="5884371"/>
              <a:ext cx="935593" cy="357187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135950"/>
                <a:gd name="adj6" fmla="val -135016"/>
              </a:avLst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dirty="0"/>
                <a:t>발열소자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C2EA172-10F2-4871-B1F0-D7752A9ECAD1}"/>
                </a:ext>
              </a:extLst>
            </p:cNvPr>
            <p:cNvSpPr/>
            <p:nvPr/>
          </p:nvSpPr>
          <p:spPr bwMode="auto">
            <a:xfrm>
              <a:off x="3375503" y="5213351"/>
              <a:ext cx="428625" cy="357188"/>
            </a:xfrm>
            <a:prstGeom prst="ellipse">
              <a:avLst/>
            </a:prstGeom>
            <a:noFill/>
            <a:ln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/>
            </a:p>
          </p:txBody>
        </p:sp>
        <p:sp>
          <p:nvSpPr>
            <p:cNvPr id="21" name="설명선 2 9">
              <a:extLst>
                <a:ext uri="{FF2B5EF4-FFF2-40B4-BE49-F238E27FC236}">
                  <a16:creationId xmlns:a16="http://schemas.microsoft.com/office/drawing/2014/main" id="{551D4A52-A559-4B3D-81F4-B59181AF44E3}"/>
                </a:ext>
              </a:extLst>
            </p:cNvPr>
            <p:cNvSpPr/>
            <p:nvPr/>
          </p:nvSpPr>
          <p:spPr bwMode="auto">
            <a:xfrm flipH="1">
              <a:off x="2447869" y="5884371"/>
              <a:ext cx="870777" cy="357187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114563"/>
                <a:gd name="adj6" fmla="val -39106"/>
              </a:avLst>
            </a:prstGeom>
            <a:ln>
              <a:solidFill>
                <a:srgbClr val="FF000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dirty="0" err="1"/>
                <a:t>Incar</a:t>
              </a:r>
              <a:r>
                <a:rPr lang="en-US" altLang="ko-KR" sz="1000" dirty="0"/>
                <a:t> </a:t>
              </a:r>
            </a:p>
            <a:p>
              <a:pPr algn="ctr">
                <a:defRPr/>
              </a:pPr>
              <a:r>
                <a:rPr lang="en-US" altLang="ko-KR" sz="1000" dirty="0"/>
                <a:t>Sensor</a:t>
              </a:r>
              <a:endParaRPr lang="ko-KR" altLang="en-US" sz="1000" dirty="0"/>
            </a:p>
          </p:txBody>
        </p:sp>
      </p:grpSp>
      <p:sp>
        <p:nvSpPr>
          <p:cNvPr id="22" name="Text Box 71">
            <a:extLst>
              <a:ext uri="{FF2B5EF4-FFF2-40B4-BE49-F238E27FC236}">
                <a16:creationId xmlns:a16="http://schemas.microsoft.com/office/drawing/2014/main" id="{42710395-9343-4405-99AC-E1478174C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220" y="2547347"/>
            <a:ext cx="746016" cy="279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200" dirty="0">
                <a:solidFill>
                  <a:srgbClr val="FF0000"/>
                </a:solidFill>
                <a:latin typeface="+mj-ea"/>
                <a:ea typeface="+mj-ea"/>
              </a:rPr>
              <a:t>&lt; NG &gt;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BAD53-A341-4EA7-B694-888748B1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4" y="4858782"/>
            <a:ext cx="2528144" cy="114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012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075070"/>
              </p:ext>
            </p:extLst>
          </p:nvPr>
        </p:nvGraphicFramePr>
        <p:xfrm>
          <a:off x="273050" y="836712"/>
          <a:ext cx="9432140" cy="5561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DCC-4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발진소자 주변 설계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 [ MCU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발진소자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주변 설계 명확화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- (DCC-01)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MCU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와 발진 소자는 최대한 가깝게 배치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(A) 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20mm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초과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금지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최대 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</a:rPr>
                        <a:t>10mm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SMD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사용시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IC,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발진 소자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수동 소자는 동일 면에 배치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(B)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Via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사용 금지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발진 소자 및 그에 연결된 소자 사이로 다른 신호선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배선 금지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(C)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인접 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Layer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동일하게 적용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4)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발진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소자 주변으로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Connector I/O Net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근접 배선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인접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Layer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포함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설계 금지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(D) (D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5mm)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2952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방사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전도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노이즈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발생 방지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1" name="제목 1"/>
          <p:cNvSpPr>
            <a:spLocks/>
          </p:cNvSpPr>
          <p:nvPr/>
        </p:nvSpPr>
        <p:spPr bwMode="auto">
          <a:xfrm>
            <a:off x="273050" y="232847"/>
            <a:ext cx="12423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MCU (IC)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1D382ED3-B468-477A-B472-E8234A44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95" y="3436931"/>
            <a:ext cx="3344371" cy="18131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28" y="3284984"/>
            <a:ext cx="2062726" cy="259228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088904" y="5979101"/>
            <a:ext cx="27363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57838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ko-KR" sz="1000" dirty="0" smtClean="0">
                <a:latin typeface="현대하모니 L"/>
                <a:ea typeface="현대하모니 L"/>
              </a:rPr>
              <a:t>MCU(U2) </a:t>
            </a:r>
            <a:r>
              <a:rPr lang="ko-KR" altLang="en-US" sz="1000" dirty="0" smtClean="0">
                <a:latin typeface="현대하모니 L"/>
                <a:ea typeface="현대하모니 L"/>
              </a:rPr>
              <a:t>와 발진 소자</a:t>
            </a:r>
            <a:r>
              <a:rPr lang="en-US" altLang="ko-KR" sz="1000" dirty="0" smtClean="0">
                <a:latin typeface="현대하모니 L"/>
                <a:ea typeface="현대하모니 L"/>
              </a:rPr>
              <a:t>(Y1)</a:t>
            </a:r>
            <a:endParaRPr lang="ko-KR" altLang="en-US" sz="1000" dirty="0">
              <a:latin typeface="현대하모니 L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21192909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95BED58-FA3D-4961-9EC0-9A29ABB1A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02768"/>
              </p:ext>
            </p:extLst>
          </p:nvPr>
        </p:nvGraphicFramePr>
        <p:xfrm>
          <a:off x="273050" y="828344"/>
          <a:ext cx="9335855" cy="564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DCC-5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]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부품 과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기구물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간의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이격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설계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6000" algn="l" fontAlgn="ctr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 PCB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부품과 기구물의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이격거리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확보 하였는가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(d1 &gt; 2mm )</a:t>
                      </a:r>
                    </a:p>
                    <a:p>
                      <a:pPr marL="36000" marR="0" lvl="0" indent="0" algn="l" defTabSz="95783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-. 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 고전압 부품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전압별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공간 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전해커패시터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배치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하여 적용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72">
                <a:tc gridSpan="4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0144">
                <a:tc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ko-KR" altLang="en-US" sz="1000" baseline="0" dirty="0">
                          <a:latin typeface="+mj-ea"/>
                          <a:ea typeface="+mj-ea"/>
                        </a:rPr>
                        <a:t>개선 시점 </a:t>
                      </a:r>
                      <a:r>
                        <a:rPr lang="en-US" altLang="ko-KR" sz="1000" baseline="0" dirty="0">
                          <a:latin typeface="+mj-ea"/>
                          <a:ea typeface="+mj-ea"/>
                        </a:rPr>
                        <a:t>: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부품 및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PCB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소손 방지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1" name="제목 1"/>
          <p:cNvSpPr>
            <a:spLocks/>
          </p:cNvSpPr>
          <p:nvPr/>
        </p:nvSpPr>
        <p:spPr bwMode="auto">
          <a:xfrm>
            <a:off x="273050" y="232847"/>
            <a:ext cx="11621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5726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0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부품 배치</a:t>
            </a:r>
            <a:endParaRPr lang="en-US" altLang="ko-KR" sz="2400" b="0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69D0D2E-5FB4-48F1-AF63-61F394433F03}"/>
              </a:ext>
            </a:extLst>
          </p:cNvPr>
          <p:cNvGrpSpPr/>
          <p:nvPr/>
        </p:nvGrpSpPr>
        <p:grpSpPr>
          <a:xfrm>
            <a:off x="704528" y="2924944"/>
            <a:ext cx="2902054" cy="1880754"/>
            <a:chOff x="488504" y="3061652"/>
            <a:chExt cx="2679367" cy="1732474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8B75DF3-A2FB-45D0-866C-F3390D22AF2A}"/>
                </a:ext>
              </a:extLst>
            </p:cNvPr>
            <p:cNvCxnSpPr/>
            <p:nvPr/>
          </p:nvCxnSpPr>
          <p:spPr bwMode="auto">
            <a:xfrm>
              <a:off x="1707191" y="3780795"/>
              <a:ext cx="0" cy="131762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60AD615C-D1A7-4757-A836-342854C814AB}"/>
                </a:ext>
              </a:extLst>
            </p:cNvPr>
            <p:cNvCxnSpPr/>
            <p:nvPr/>
          </p:nvCxnSpPr>
          <p:spPr bwMode="auto">
            <a:xfrm flipV="1">
              <a:off x="1707191" y="3451388"/>
              <a:ext cx="0" cy="144463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69">
              <a:extLst>
                <a:ext uri="{FF2B5EF4-FFF2-40B4-BE49-F238E27FC236}">
                  <a16:creationId xmlns:a16="http://schemas.microsoft.com/office/drawing/2014/main" id="{3E8B6759-84FD-4F64-9F97-F0A6DF3FF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554" y="3567922"/>
              <a:ext cx="105830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현대하모니 M" panose="02020603020101020101" pitchFamily="18" charset="-127"/>
                </a:rPr>
                <a:t>d1 &gt; 2mm </a:t>
              </a:r>
              <a:r>
                <a:rPr lang="ko-KR" altLang="en-US" sz="1000" dirty="0">
                  <a:latin typeface="현대하모니 M" panose="02020603020101020101" pitchFamily="18" charset="-127"/>
                </a:rPr>
                <a:t>이상</a:t>
              </a:r>
            </a:p>
          </p:txBody>
        </p:sp>
        <p:sp>
          <p:nvSpPr>
            <p:cNvPr id="25" name="TextBox 91">
              <a:extLst>
                <a:ext uri="{FF2B5EF4-FFF2-40B4-BE49-F238E27FC236}">
                  <a16:creationId xmlns:a16="http://schemas.microsoft.com/office/drawing/2014/main" id="{573E152C-5E58-435F-97F2-B2DED0D7A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757" y="306165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800" u="sng" dirty="0">
                  <a:latin typeface="현대하모니 M" panose="02020603020101020101" pitchFamily="18" charset="-127"/>
                </a:rPr>
                <a:t>부품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23644AE-6845-4301-AFF6-08BCC68B0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504" y="3212976"/>
              <a:ext cx="1076325" cy="1581150"/>
            </a:xfrm>
            <a:prstGeom prst="rect">
              <a:avLst/>
            </a:prstGeom>
          </p:spPr>
        </p:pic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2D74452-2AF3-40D5-B3A5-BC1EAFBD63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37372" y="3771270"/>
              <a:ext cx="9298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3CA747E-033E-4A1B-8CC7-E93F1DD6026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12771" y="3605377"/>
              <a:ext cx="9544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86">
              <a:extLst>
                <a:ext uri="{FF2B5EF4-FFF2-40B4-BE49-F238E27FC236}">
                  <a16:creationId xmlns:a16="http://schemas.microsoft.com/office/drawing/2014/main" id="{1A312A6B-2183-4DB0-BA85-EB1B352D88EA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993996" y="3169374"/>
              <a:ext cx="873217" cy="368523"/>
            </a:xfrm>
            <a:prstGeom prst="bentConnector3">
              <a:avLst>
                <a:gd name="adj1" fmla="val 9963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꺾인 연결선 86">
              <a:extLst>
                <a:ext uri="{FF2B5EF4-FFF2-40B4-BE49-F238E27FC236}">
                  <a16:creationId xmlns:a16="http://schemas.microsoft.com/office/drawing/2014/main" id="{4E2165E5-4147-4FF0-A68D-1496BC92A2EC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937372" y="3948009"/>
              <a:ext cx="1063300" cy="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91">
              <a:extLst>
                <a:ext uri="{FF2B5EF4-FFF2-40B4-BE49-F238E27FC236}">
                  <a16:creationId xmlns:a16="http://schemas.microsoft.com/office/drawing/2014/main" id="{54D4DD9A-247F-4084-B038-58326D7E9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188" y="3824863"/>
              <a:ext cx="1140683" cy="25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800" u="sng" dirty="0" err="1">
                  <a:latin typeface="현대하모니 M" panose="02020603020101020101" pitchFamily="18" charset="-127"/>
                </a:rPr>
                <a:t>기구물</a:t>
              </a:r>
              <a:r>
                <a:rPr lang="ko-KR" altLang="en-US" sz="800" u="sng" dirty="0">
                  <a:latin typeface="현대하모니 M" panose="02020603020101020101" pitchFamily="18" charset="-127"/>
                </a:rPr>
                <a:t> </a:t>
              </a:r>
              <a:r>
                <a:rPr lang="en-US" altLang="ko-KR" sz="800" u="sng" dirty="0">
                  <a:latin typeface="현대하모니 M" panose="02020603020101020101" pitchFamily="18" charset="-127"/>
                </a:rPr>
                <a:t>or </a:t>
              </a:r>
              <a:r>
                <a:rPr lang="ko-KR" altLang="en-US" sz="800" u="sng" dirty="0">
                  <a:latin typeface="현대하모니 M" panose="02020603020101020101" pitchFamily="18" charset="-127"/>
                </a:rPr>
                <a:t>사출물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8488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864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절연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188851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[HV-01]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오염등급 정의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PCB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 장소의 사용 환경에 따른 등급 결정을 통한 절연 거리 기준 제시 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환경센터는 자체 기준 사용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208">
                <a:tc gridSpan="3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55267" marR="55267" marT="27632" marB="27632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kern="1200" dirty="0">
                        <a:solidFill>
                          <a:srgbClr val="0000FF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1952">
                <a:tc>
                  <a:txBody>
                    <a:bodyPr/>
                    <a:lstStyle/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IEC 60664-1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오염등급 분류체계에서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오염등급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1, 2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해당하는 경우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번 항목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전압 별 공간거리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연면거리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”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기준을 따른다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3, 4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등급은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공간 거리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연면 거리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대책 제시 요망</a:t>
                      </a:r>
                    </a:p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사용환경에 따른 연면거리 최적화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750B2C-D9F9-4420-BE9E-D45794D77B0B}"/>
              </a:ext>
            </a:extLst>
          </p:cNvPr>
          <p:cNvGraphicFramePr>
            <a:graphicFrameLocks noGrp="1"/>
          </p:cNvGraphicFramePr>
          <p:nvPr/>
        </p:nvGraphicFramePr>
        <p:xfrm>
          <a:off x="495300" y="1600200"/>
          <a:ext cx="6264696" cy="140448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569648528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1817649488"/>
                    </a:ext>
                  </a:extLst>
                </a:gridCol>
              </a:tblGrid>
              <a:tr h="144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오염등급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환경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912891"/>
                  </a:ext>
                </a:extLst>
              </a:tr>
              <a:tr h="144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오염이나 건조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비전도성 오염이 발생하지 않는다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오염이 영향을 미치지 않는다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445968"/>
                  </a:ext>
                </a:extLst>
              </a:tr>
              <a:tr h="1704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응축으로 인해 일시적인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전도성이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예상되는 경우를 제외하면 비전도성 오염만 발생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96543"/>
                  </a:ext>
                </a:extLst>
              </a:tr>
              <a:tr h="20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전도성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오염이 발생하거나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응축으로 인한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전도성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건조한 비전도성 오염이 발생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639206"/>
                  </a:ext>
                </a:extLst>
              </a:tr>
              <a:tr h="20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오염은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전도성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먼지 또는 비나 눈으로 인해 발생한 지속적인 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전도성을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발생시킨다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89645"/>
                  </a:ext>
                </a:extLst>
              </a:tr>
              <a:tr h="201475">
                <a:tc gridSpan="2">
                  <a:txBody>
                    <a:bodyPr/>
                    <a:lstStyle/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※ 3, 4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지양</a:t>
                      </a: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057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7301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절연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83306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[HV-02]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비교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트래킹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지수 정의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99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절연체의 전도성 오염에 따른 내성 확인을 통한 연면 거리 기준 제시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32" marB="27632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208">
                <a:tc gridSpan="3"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marL="55267" marR="55267" marT="27632" marB="27632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kern="1200" dirty="0">
                        <a:solidFill>
                          <a:srgbClr val="0000FF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1952">
                <a:tc>
                  <a:txBody>
                    <a:bodyPr/>
                    <a:lstStyle/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IEC 60664-1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CTI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분류에 따라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재료등급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I, II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에 해당하는 경우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번 항목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전압 별 공간거리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연면거리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기준을 따른다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IIIa,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IIIb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등급은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연면거리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대책 제시 요망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특성에 따른 연면거리 최적화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479535C-CAAA-403A-98E7-800B79EE496F}"/>
              </a:ext>
            </a:extLst>
          </p:cNvPr>
          <p:cNvGraphicFramePr>
            <a:graphicFrameLocks noGrp="1"/>
          </p:cNvGraphicFramePr>
          <p:nvPr/>
        </p:nvGraphicFramePr>
        <p:xfrm>
          <a:off x="671852" y="1556792"/>
          <a:ext cx="6296462" cy="1427046"/>
        </p:xfrm>
        <a:graphic>
          <a:graphicData uri="http://schemas.openxmlformats.org/drawingml/2006/table">
            <a:tbl>
              <a:tblPr/>
              <a:tblGrid>
                <a:gridCol w="133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재료 그룹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CTI (Comparative Tracking Index)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전압 범위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[V]</a:t>
                      </a: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</a:t>
                      </a: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600 ≤ CTI</a:t>
                      </a: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II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400 ≤ CTI &lt; 600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IIIa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175 ≤ CTI &lt; 400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IIIb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100 ≤ CTI &lt; 175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841">
                <a:tc gridSpan="2">
                  <a:txBody>
                    <a:bodyPr/>
                    <a:lstStyle/>
                    <a:p>
                      <a:pPr marL="0" marR="0" lvl="0" indent="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IIIa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en-US" altLang="ko-KR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IIIb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지양</a:t>
                      </a: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7" marB="27627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0240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절연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391947"/>
              </p:ext>
            </p:extLst>
          </p:nvPr>
        </p:nvGraphicFramePr>
        <p:xfrm>
          <a:off x="273050" y="828344"/>
          <a:ext cx="9335855" cy="5705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5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[HV-03]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전압 별 연면거리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패턴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부품 간 절연 거리 준수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환경센터는 자체 기준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5267" marR="55267" marT="27632" marB="27632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전압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오염등급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재료 등급에 따른 연면거리를 준수 하는가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</a:p>
                  </a:txBody>
                  <a:tcPr marL="55267" marR="55267" marT="27632" marB="27632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3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간에는 기본절연 적용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↔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이종 전원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간에는 강화절연 적용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450V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동작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오염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재료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: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고전압 간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㎜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이종전원 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6.4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㎜ </a:t>
                      </a:r>
                      <a:r>
                        <a:rPr kumimoji="1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이격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슬릿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(hole)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을 통해 </a:t>
                      </a:r>
                      <a:r>
                        <a:rPr kumimoji="1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이격시킬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경우 연면거리 해당 없음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공간거리만 해당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오염에 의한 스트레스성 발화 및 누설 방지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1AEF70B-4898-4437-8BFC-9B0C458ADE2B}"/>
              </a:ext>
            </a:extLst>
          </p:cNvPr>
          <p:cNvGrpSpPr/>
          <p:nvPr/>
        </p:nvGrpSpPr>
        <p:grpSpPr>
          <a:xfrm>
            <a:off x="1512466" y="2492896"/>
            <a:ext cx="1784350" cy="661999"/>
            <a:chOff x="1438275" y="3741946"/>
            <a:chExt cx="1784350" cy="661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906360D-1F66-476F-AC8B-7640377DD25D}"/>
                </a:ext>
              </a:extLst>
            </p:cNvPr>
            <p:cNvSpPr/>
            <p:nvPr/>
          </p:nvSpPr>
          <p:spPr>
            <a:xfrm>
              <a:off x="1564420" y="3778285"/>
              <a:ext cx="203504" cy="25101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007855A-615B-44C0-9458-640463254BB0}"/>
                </a:ext>
              </a:extLst>
            </p:cNvPr>
            <p:cNvSpPr/>
            <p:nvPr/>
          </p:nvSpPr>
          <p:spPr>
            <a:xfrm>
              <a:off x="2911448" y="3778285"/>
              <a:ext cx="203504" cy="25101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4">
              <a:extLst>
                <a:ext uri="{FF2B5EF4-FFF2-40B4-BE49-F238E27FC236}">
                  <a16:creationId xmlns:a16="http://schemas.microsoft.com/office/drawing/2014/main" id="{9B747C6C-9A6E-4EC7-9B9F-6E9CF82AD0DB}"/>
                </a:ext>
              </a:extLst>
            </p:cNvPr>
            <p:cNvSpPr/>
            <p:nvPr/>
          </p:nvSpPr>
          <p:spPr>
            <a:xfrm>
              <a:off x="1777852" y="3941189"/>
              <a:ext cx="1116807" cy="297657"/>
            </a:xfrm>
            <a:custGeom>
              <a:avLst/>
              <a:gdLst>
                <a:gd name="connsiteX0" fmla="*/ 0 w 1116807"/>
                <a:gd name="connsiteY0" fmla="*/ 0 h 297657"/>
                <a:gd name="connsiteX1" fmla="*/ 121444 w 1116807"/>
                <a:gd name="connsiteY1" fmla="*/ 0 h 297657"/>
                <a:gd name="connsiteX2" fmla="*/ 419101 w 1116807"/>
                <a:gd name="connsiteY2" fmla="*/ 297657 h 297657"/>
                <a:gd name="connsiteX3" fmla="*/ 697707 w 1116807"/>
                <a:gd name="connsiteY3" fmla="*/ 297657 h 297657"/>
                <a:gd name="connsiteX4" fmla="*/ 985839 w 1116807"/>
                <a:gd name="connsiteY4" fmla="*/ 9525 h 297657"/>
                <a:gd name="connsiteX5" fmla="*/ 1116807 w 1116807"/>
                <a:gd name="connsiteY5" fmla="*/ 9525 h 29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6807" h="297657">
                  <a:moveTo>
                    <a:pt x="0" y="0"/>
                  </a:moveTo>
                  <a:lnTo>
                    <a:pt x="121444" y="0"/>
                  </a:lnTo>
                  <a:lnTo>
                    <a:pt x="419101" y="297657"/>
                  </a:lnTo>
                  <a:lnTo>
                    <a:pt x="697707" y="297657"/>
                  </a:lnTo>
                  <a:lnTo>
                    <a:pt x="985839" y="9525"/>
                  </a:lnTo>
                  <a:lnTo>
                    <a:pt x="1116807" y="9525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sysDash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5">
              <a:extLst>
                <a:ext uri="{FF2B5EF4-FFF2-40B4-BE49-F238E27FC236}">
                  <a16:creationId xmlns:a16="http://schemas.microsoft.com/office/drawing/2014/main" id="{6F6F87B7-F49A-406C-B861-D9307CF1108A}"/>
                </a:ext>
              </a:extLst>
            </p:cNvPr>
            <p:cNvSpPr/>
            <p:nvPr/>
          </p:nvSpPr>
          <p:spPr>
            <a:xfrm>
              <a:off x="1438275" y="4029295"/>
              <a:ext cx="1784350" cy="374650"/>
            </a:xfrm>
            <a:custGeom>
              <a:avLst/>
              <a:gdLst>
                <a:gd name="connsiteX0" fmla="*/ 0 w 1784350"/>
                <a:gd name="connsiteY0" fmla="*/ 3175 h 374650"/>
                <a:gd name="connsiteX1" fmla="*/ 425450 w 1784350"/>
                <a:gd name="connsiteY1" fmla="*/ 3175 h 374650"/>
                <a:gd name="connsiteX2" fmla="*/ 730250 w 1784350"/>
                <a:gd name="connsiteY2" fmla="*/ 307975 h 374650"/>
                <a:gd name="connsiteX3" fmla="*/ 1038225 w 1784350"/>
                <a:gd name="connsiteY3" fmla="*/ 307975 h 374650"/>
                <a:gd name="connsiteX4" fmla="*/ 1346200 w 1784350"/>
                <a:gd name="connsiteY4" fmla="*/ 0 h 374650"/>
                <a:gd name="connsiteX5" fmla="*/ 1784350 w 1784350"/>
                <a:gd name="connsiteY5" fmla="*/ 0 h 374650"/>
                <a:gd name="connsiteX6" fmla="*/ 1784350 w 1784350"/>
                <a:gd name="connsiteY6" fmla="*/ 374650 h 374650"/>
                <a:gd name="connsiteX7" fmla="*/ 6350 w 1784350"/>
                <a:gd name="connsiteY7" fmla="*/ 374650 h 374650"/>
                <a:gd name="connsiteX8" fmla="*/ 0 w 1784350"/>
                <a:gd name="connsiteY8" fmla="*/ 3175 h 37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350" h="374650">
                  <a:moveTo>
                    <a:pt x="0" y="3175"/>
                  </a:moveTo>
                  <a:lnTo>
                    <a:pt x="425450" y="3175"/>
                  </a:lnTo>
                  <a:lnTo>
                    <a:pt x="730250" y="307975"/>
                  </a:lnTo>
                  <a:lnTo>
                    <a:pt x="1038225" y="307975"/>
                  </a:lnTo>
                  <a:lnTo>
                    <a:pt x="1346200" y="0"/>
                  </a:lnTo>
                  <a:lnTo>
                    <a:pt x="1784350" y="0"/>
                  </a:lnTo>
                  <a:lnTo>
                    <a:pt x="1784350" y="374650"/>
                  </a:lnTo>
                  <a:lnTo>
                    <a:pt x="6350" y="374650"/>
                  </a:lnTo>
                  <a:lnTo>
                    <a:pt x="0" y="3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EE17305-6D18-405E-AD5C-90693185AE5A}"/>
                </a:ext>
              </a:extLst>
            </p:cNvPr>
            <p:cNvSpPr/>
            <p:nvPr/>
          </p:nvSpPr>
          <p:spPr>
            <a:xfrm>
              <a:off x="1950327" y="3741946"/>
              <a:ext cx="7569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900" b="1" dirty="0" err="1"/>
                <a:t>연면거리</a:t>
              </a:r>
              <a:endParaRPr lang="en-US" altLang="ko-KR" sz="900" b="1" dirty="0"/>
            </a:p>
            <a:p>
              <a:pPr algn="ctr"/>
              <a:r>
                <a:rPr lang="en-US" altLang="ko-KR" sz="900" b="1" dirty="0"/>
                <a:t>CREEPAGE</a:t>
              </a:r>
              <a:endParaRPr lang="ko-KR" altLang="en-US" sz="900" b="1" dirty="0"/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CDD46C-B716-4207-9862-3BD4CC7B3069}"/>
              </a:ext>
            </a:extLst>
          </p:cNvPr>
          <p:cNvGraphicFramePr>
            <a:graphicFrameLocks noGrp="1"/>
          </p:cNvGraphicFramePr>
          <p:nvPr/>
        </p:nvGraphicFramePr>
        <p:xfrm>
          <a:off x="344487" y="3219773"/>
          <a:ext cx="4032448" cy="2301613"/>
        </p:xfrm>
        <a:graphic>
          <a:graphicData uri="http://schemas.openxmlformats.org/drawingml/2006/table">
            <a:tbl>
              <a:tblPr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40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동작전압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  <a:b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(RMS)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내층 기판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오염 등급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8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재료등급</a:t>
                      </a:r>
                      <a:b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무관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Ⅲb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불가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재료등급</a:t>
                      </a:r>
                      <a:b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</a:b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무관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재료등급</a:t>
                      </a:r>
                      <a:b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Ⅰ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재료등급</a:t>
                      </a:r>
                      <a:b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Ⅱ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재료등급</a:t>
                      </a:r>
                      <a:b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Ⅲ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[V]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[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]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0.750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1.600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0.750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1.600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2.200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2.800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450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1.150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1.150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4.500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1.300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2.500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1.300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2.500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3.600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5.000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630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1.800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1.800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4.500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6.300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800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2.400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2.400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4.000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5.600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8.000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4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5.000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3.200</a:t>
                      </a: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5.000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7.100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10.000</a:t>
                      </a: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401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※ IEC 60664-1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945" marR="8945" marT="894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605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절연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672982"/>
              </p:ext>
            </p:extLst>
          </p:nvPr>
        </p:nvGraphicFramePr>
        <p:xfrm>
          <a:off x="273050" y="828344"/>
          <a:ext cx="9335855" cy="5705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5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[HV-04]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전압 별 공간거리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패턴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부품 간 절연 거리 준수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환경센터는 자체 기준 사용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5267" marR="55267" marT="27632" marB="27632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전압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오염등급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재료 등급에 따른 공간 거리를 준수 하는가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</a:p>
                  </a:txBody>
                  <a:tcPr marL="55267" marR="55267" marT="27632" marB="27632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3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요구되는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내전압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시험 규격을 참고하여 공간거리 적용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2563" marR="0" lvl="0" indent="-9366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내전압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시험 규격이 없을 경우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IEC 60664-1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표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참고하여 정격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임펄스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전압 산정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동상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간에는 기본절연 적용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88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↔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이종 전원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간에는 강화절연 적용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450V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제어기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2KV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1mm,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이종전원 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2mm</a:t>
                      </a:r>
                    </a:p>
                  </a:txBody>
                  <a:tcPr marL="72000" marR="72000" marT="72000" marB="7200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써지에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의한 절연 파괴 방지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D58F870-7067-4AEF-96B9-0216F8109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760"/>
          <a:stretch/>
        </p:blipFill>
        <p:spPr>
          <a:xfrm>
            <a:off x="-425444" y="3367185"/>
            <a:ext cx="3070745" cy="62768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1B5AF09-EE5D-4D1C-BFE4-2066C788B6AE}"/>
              </a:ext>
            </a:extLst>
          </p:cNvPr>
          <p:cNvSpPr/>
          <p:nvPr/>
        </p:nvSpPr>
        <p:spPr>
          <a:xfrm>
            <a:off x="2627554" y="2378496"/>
            <a:ext cx="10152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009900"/>
                </a:solidFill>
                <a:latin typeface="현대하모니 L"/>
                <a:ea typeface="현대하모니 L"/>
              </a:rPr>
              <a:t>(DCC-03.1) </a:t>
            </a:r>
            <a:endParaRPr lang="ko-KR" altLang="en-US" sz="1200" dirty="0">
              <a:solidFill>
                <a:srgbClr val="0099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8DD06B-2498-4272-93A2-516E7226F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863" y="2664503"/>
            <a:ext cx="2028596" cy="23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044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절연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40072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5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[HV-05]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고전압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저전압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영역 간 레이어 분리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고전압 영역에서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저전압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영역으로의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노이즈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커플링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및 고압방전 방지</a:t>
                      </a: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고전압부의 전압을 기준으로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연면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거리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공간 거리를 준수 하는가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2) PCB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레이어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내부에서의 교차되는 구간도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연면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거리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공간 거리를 준수 하는가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 기준은 트랜스포머로 절연된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 영역 뿐 만 아니라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동일 그라운드를 사용하는 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영역 간에도 적용을 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영역 절연 확보 및 노이즈 커플링 방지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6" name="Picture 3">
            <a:extLst>
              <a:ext uri="{FF2B5EF4-FFF2-40B4-BE49-F238E27FC236}">
                <a16:creationId xmlns:a16="http://schemas.microsoft.com/office/drawing/2014/main" id="{4B7CA150-07C0-4F08-B662-A2C9A47CF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12" y="3068960"/>
            <a:ext cx="3942222" cy="124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00431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628150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[HV-06]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고전압 영역 층 구성에 의한 층간 절연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99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장시간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PCB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내부의 고전압이 층간 구성 되어 있을 경우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Migration(CAF)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에 의한 절연 파괴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고전압부의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+/-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극 층간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절연층은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300um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prepreg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장 이상 으로 구성되어 있는가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29088" algn="l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2) 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prepreg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의 두께를 조정할 수 없을 경우 고전압부의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+/-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극의 거리를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층 이상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이격하여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구성 하였는가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고전압이 층간 구성 시 층간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migration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 가능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migration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절연파괴를 유발시키며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고습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장시간 환경에 의해 가속 됨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절연성 확보를 위해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prepreg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두께를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0.3mm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이상으로 관리 필요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영역 절연 확보 및 노이즈 커플링 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Picture 4">
            <a:extLst>
              <a:ext uri="{FF2B5EF4-FFF2-40B4-BE49-F238E27FC236}">
                <a16:creationId xmlns:a16="http://schemas.microsoft.com/office/drawing/2014/main" id="{F19B5E95-65C4-43D8-A353-8166A475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56" y="2924944"/>
            <a:ext cx="3935825" cy="1610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33087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456087"/>
              </p:ext>
            </p:extLst>
          </p:nvPr>
        </p:nvGraphicFramePr>
        <p:xfrm>
          <a:off x="273050" y="836712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[HV-07]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중요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신호 패턴 설계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99FF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중요 신호들의 방사 노이즈를 저감시키고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고전압으로 부터 유기되는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노이즈를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중요 신호선의 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아래 층에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Signal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의 기준이 되는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GND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가 배치 되었는가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중요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신호선이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이종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GND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나 고전압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GND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와 겹치지 않도록 배치 되었는가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3) Via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사용을 지양하고 최단거리로 설계 되었는가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?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58372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중요한 신호를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(Critical signal)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선정하여 강화된 설계법을 따른다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68288" marR="0" lvl="0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Inverter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U/V/W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high/low side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제어 신호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전류 센싱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과전류 감지 신호 등 주요 신호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기능에 필수적인 신호 무결성 확보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9" name="Picture 2">
            <a:extLst>
              <a:ext uri="{FF2B5EF4-FFF2-40B4-BE49-F238E27FC236}">
                <a16:creationId xmlns:a16="http://schemas.microsoft.com/office/drawing/2014/main" id="{458BDAC4-0E24-473E-BCF4-58F2A389C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58" y="3573016"/>
            <a:ext cx="3772697" cy="110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47571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27999"/>
              </p:ext>
            </p:extLst>
          </p:nvPr>
        </p:nvGraphicFramePr>
        <p:xfrm>
          <a:off x="273050" y="836712"/>
          <a:ext cx="9335855" cy="562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[HV-08]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고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저전압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동시 사용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IC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의 연면거리 강화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IC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단일 패키지의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동시 사용시 절연 파괴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고전압과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간에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연면거리가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충분한가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연면거리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추가 확보를 위한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hole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처리가 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6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일반적인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SOIC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타입 이상의 반도체는 연면거리가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㎜ 이상 확보 되지만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IC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배면 오염물질로 인한 절연성능 저하를 막기 위해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hole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을 추가 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(hole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폭은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㎜ 이상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배면의 오염으로 인한 절연 파괴 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0C343D1D-81F6-40A4-AC23-F7B83982BA1E}"/>
              </a:ext>
            </a:extLst>
          </p:cNvPr>
          <p:cNvGrpSpPr/>
          <p:nvPr/>
        </p:nvGrpSpPr>
        <p:grpSpPr>
          <a:xfrm>
            <a:off x="560512" y="2852936"/>
            <a:ext cx="3609975" cy="866593"/>
            <a:chOff x="704528" y="2387595"/>
            <a:chExt cx="3609975" cy="866593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54BACB30-31C7-4138-9620-620036DC3A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887"/>
            <a:stretch/>
          </p:blipFill>
          <p:spPr bwMode="auto">
            <a:xfrm>
              <a:off x="704528" y="2463552"/>
              <a:ext cx="3609975" cy="7906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D440D1C-3AF9-4F80-A70D-4D98B0D97718}"/>
                </a:ext>
              </a:extLst>
            </p:cNvPr>
            <p:cNvGrpSpPr/>
            <p:nvPr/>
          </p:nvGrpSpPr>
          <p:grpSpPr>
            <a:xfrm>
              <a:off x="773434" y="2387595"/>
              <a:ext cx="1497340" cy="483271"/>
              <a:chOff x="773434" y="2387595"/>
              <a:chExt cx="1497340" cy="483271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B3F813DB-F3D5-4AA5-AB2D-EE217EFE2796}"/>
                  </a:ext>
                </a:extLst>
              </p:cNvPr>
              <p:cNvCxnSpPr/>
              <p:nvPr/>
            </p:nvCxnSpPr>
            <p:spPr>
              <a:xfrm>
                <a:off x="1532569" y="2387595"/>
                <a:ext cx="0" cy="483271"/>
              </a:xfrm>
              <a:prstGeom prst="line">
                <a:avLst/>
              </a:prstGeom>
              <a:ln w="19050">
                <a:solidFill>
                  <a:srgbClr val="0000F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05E505E7-8048-490A-833D-5DE14EA99A8B}"/>
                  </a:ext>
                </a:extLst>
              </p:cNvPr>
              <p:cNvSpPr/>
              <p:nvPr/>
            </p:nvSpPr>
            <p:spPr>
              <a:xfrm>
                <a:off x="773434" y="2421935"/>
                <a:ext cx="60785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ko-KR" altLang="en-US" sz="1100" dirty="0">
                    <a:solidFill>
                      <a:srgbClr val="000000"/>
                    </a:solidFill>
                  </a:rPr>
                  <a:t>고전압</a:t>
                </a:r>
                <a:endParaRPr lang="ko-KR" altLang="en-US" sz="1400" dirty="0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5AD43C3-8EA9-4E3D-ABA0-320250608642}"/>
                  </a:ext>
                </a:extLst>
              </p:cNvPr>
              <p:cNvSpPr/>
              <p:nvPr/>
            </p:nvSpPr>
            <p:spPr>
              <a:xfrm>
                <a:off x="1662915" y="2421935"/>
                <a:ext cx="60785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ko-KR" altLang="en-US" sz="1100" dirty="0" err="1">
                    <a:solidFill>
                      <a:srgbClr val="000000"/>
                    </a:solidFill>
                  </a:rPr>
                  <a:t>저전압</a:t>
                </a:r>
                <a:endParaRPr lang="ko-KR" altLang="en-US" sz="1400" dirty="0"/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E8041BC0-1041-4DBE-9930-F2532D8FCA88}"/>
                  </a:ext>
                </a:extLst>
              </p:cNvPr>
              <p:cNvCxnSpPr/>
              <p:nvPr/>
            </p:nvCxnSpPr>
            <p:spPr>
              <a:xfrm rot="5400000">
                <a:off x="1523603" y="2371196"/>
                <a:ext cx="0" cy="363088"/>
              </a:xfrm>
              <a:prstGeom prst="line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2EDE21F-9DF0-4750-8D5E-47614648D9E7}"/>
                </a:ext>
              </a:extLst>
            </p:cNvPr>
            <p:cNvGrpSpPr/>
            <p:nvPr/>
          </p:nvGrpSpPr>
          <p:grpSpPr>
            <a:xfrm>
              <a:off x="2648744" y="2387595"/>
              <a:ext cx="1497340" cy="483271"/>
              <a:chOff x="773434" y="2387595"/>
              <a:chExt cx="1497340" cy="483271"/>
            </a:xfrm>
          </p:grpSpPr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C3C8ABE6-2A8D-420B-855B-CECC5BA85FC6}"/>
                  </a:ext>
                </a:extLst>
              </p:cNvPr>
              <p:cNvCxnSpPr/>
              <p:nvPr/>
            </p:nvCxnSpPr>
            <p:spPr>
              <a:xfrm>
                <a:off x="1532569" y="2387595"/>
                <a:ext cx="0" cy="483271"/>
              </a:xfrm>
              <a:prstGeom prst="line">
                <a:avLst/>
              </a:prstGeom>
              <a:ln w="19050">
                <a:solidFill>
                  <a:srgbClr val="0000FF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4073C9C-8B58-4A3E-9FD6-36C1F803D5D8}"/>
                  </a:ext>
                </a:extLst>
              </p:cNvPr>
              <p:cNvSpPr/>
              <p:nvPr/>
            </p:nvSpPr>
            <p:spPr>
              <a:xfrm>
                <a:off x="773434" y="2421935"/>
                <a:ext cx="60785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ko-KR" altLang="en-US" sz="1100" dirty="0">
                    <a:solidFill>
                      <a:srgbClr val="000000"/>
                    </a:solidFill>
                  </a:rPr>
                  <a:t>고전압</a:t>
                </a:r>
                <a:endParaRPr lang="ko-KR" altLang="en-US" sz="1400" dirty="0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9CDFFEE5-8C2B-4099-B465-0498DEAA1C3E}"/>
                  </a:ext>
                </a:extLst>
              </p:cNvPr>
              <p:cNvSpPr/>
              <p:nvPr/>
            </p:nvSpPr>
            <p:spPr>
              <a:xfrm>
                <a:off x="1662915" y="2421935"/>
                <a:ext cx="607859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ko-KR" altLang="en-US" sz="1100" dirty="0" err="1">
                    <a:solidFill>
                      <a:srgbClr val="000000"/>
                    </a:solidFill>
                  </a:rPr>
                  <a:t>저전압</a:t>
                </a:r>
                <a:endParaRPr lang="ko-KR" altLang="en-US" sz="1400" dirty="0"/>
              </a:p>
            </p:txBody>
          </p: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97C5DD6B-DB7F-4272-98AD-0FBA5D07FF7C}"/>
                  </a:ext>
                </a:extLst>
              </p:cNvPr>
              <p:cNvCxnSpPr/>
              <p:nvPr/>
            </p:nvCxnSpPr>
            <p:spPr>
              <a:xfrm rot="5400000">
                <a:off x="1523603" y="2371196"/>
                <a:ext cx="0" cy="363088"/>
              </a:xfrm>
              <a:prstGeom prst="line">
                <a:avLst/>
              </a:prstGeom>
              <a:ln w="19050">
                <a:solidFill>
                  <a:srgbClr val="0000FF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58B65DE-14F1-4422-A73D-764826FEFDF1}"/>
              </a:ext>
            </a:extLst>
          </p:cNvPr>
          <p:cNvGrpSpPr/>
          <p:nvPr/>
        </p:nvGrpSpPr>
        <p:grpSpPr>
          <a:xfrm>
            <a:off x="1551768" y="3902018"/>
            <a:ext cx="1497340" cy="1407431"/>
            <a:chOff x="1606134" y="3436677"/>
            <a:chExt cx="1497340" cy="1407431"/>
          </a:xfrm>
        </p:grpSpPr>
        <p:pic>
          <p:nvPicPr>
            <p:cNvPr id="20" name="Picture 5" descr="Figure 4">
              <a:extLst>
                <a:ext uri="{FF2B5EF4-FFF2-40B4-BE49-F238E27FC236}">
                  <a16:creationId xmlns:a16="http://schemas.microsoft.com/office/drawing/2014/main" id="{5F3F23D5-A03D-40B6-937A-F74F26020F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698655" y="3507139"/>
              <a:ext cx="1309236" cy="1168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B9D72BB-EC34-4297-AFF2-0E04CF80DBB0}"/>
                </a:ext>
              </a:extLst>
            </p:cNvPr>
            <p:cNvSpPr/>
            <p:nvPr/>
          </p:nvSpPr>
          <p:spPr>
            <a:xfrm>
              <a:off x="1606134" y="4499970"/>
              <a:ext cx="104261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1" lang="ko-KR" altLang="en-US" sz="1100" dirty="0">
                  <a:solidFill>
                    <a:srgbClr val="000000"/>
                  </a:solidFill>
                </a:rPr>
                <a:t>고전압</a:t>
              </a:r>
              <a:endParaRPr lang="ko-KR" altLang="en-US" sz="1400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C5B896-C155-4E42-B5A1-A4B1895F9ECA}"/>
                </a:ext>
              </a:extLst>
            </p:cNvPr>
            <p:cNvSpPr/>
            <p:nvPr/>
          </p:nvSpPr>
          <p:spPr>
            <a:xfrm>
              <a:off x="2495615" y="4499970"/>
              <a:ext cx="60785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ko-KR" altLang="en-US" sz="1100" dirty="0" err="1">
                  <a:solidFill>
                    <a:srgbClr val="000000"/>
                  </a:solidFill>
                </a:rPr>
                <a:t>저전압</a:t>
              </a:r>
              <a:endParaRPr lang="ko-KR" altLang="en-US" sz="1400" dirty="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51302A7-5FFD-40D6-A9C7-EFC26E5E567D}"/>
                </a:ext>
              </a:extLst>
            </p:cNvPr>
            <p:cNvCxnSpPr/>
            <p:nvPr/>
          </p:nvCxnSpPr>
          <p:spPr>
            <a:xfrm rot="5400000">
              <a:off x="2356303" y="4472168"/>
              <a:ext cx="0" cy="363088"/>
            </a:xfrm>
            <a:prstGeom prst="line">
              <a:avLst/>
            </a:prstGeom>
            <a:ln w="19050">
              <a:solidFill>
                <a:srgbClr val="0000FF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A98A07A-CED0-4563-BA41-600A03480F27}"/>
                </a:ext>
              </a:extLst>
            </p:cNvPr>
            <p:cNvCxnSpPr/>
            <p:nvPr/>
          </p:nvCxnSpPr>
          <p:spPr>
            <a:xfrm>
              <a:off x="2365269" y="4360837"/>
              <a:ext cx="0" cy="483271"/>
            </a:xfrm>
            <a:prstGeom prst="line">
              <a:avLst/>
            </a:prstGeom>
            <a:ln w="19050">
              <a:solidFill>
                <a:srgbClr val="00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D411865-D42B-4D7C-85A3-FB59752E5AD4}"/>
              </a:ext>
            </a:extLst>
          </p:cNvPr>
          <p:cNvSpPr txBox="1"/>
          <p:nvPr/>
        </p:nvSpPr>
        <p:spPr>
          <a:xfrm>
            <a:off x="915075" y="3455664"/>
            <a:ext cx="944886" cy="195515"/>
          </a:xfrm>
          <a:prstGeom prst="rect">
            <a:avLst/>
          </a:prstGeom>
          <a:solidFill>
            <a:srgbClr val="92D050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50" b="1" dirty="0"/>
              <a:t>오염 물질</a:t>
            </a:r>
          </a:p>
        </p:txBody>
      </p:sp>
    </p:spTree>
    <p:extLst>
      <p:ext uri="{BB962C8B-B14F-4D97-AF65-F5344CB8AC3E}">
        <p14:creationId xmlns:p14="http://schemas.microsoft.com/office/powerpoint/2010/main" val="36716402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517768"/>
              </p:ext>
            </p:extLst>
          </p:nvPr>
        </p:nvGraphicFramePr>
        <p:xfrm>
          <a:off x="273050" y="836712"/>
          <a:ext cx="9335855" cy="562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[HV-09]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고전압 전력 소자 핀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간 절연성 강화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 전력 소자 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간 절연거리 확보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소자의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솔더링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패드 형상은 원형을 이루었는가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소자의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솔더링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패드 간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연면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거리 강화를 위해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cut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hole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을 추가 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6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1) pin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간 공간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연면거리 확보를 위해 사각패드 지양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패드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사이에 연면 거리 추가 확보를 위해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cut/hole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Pin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 쇼트로 인한 파손 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2F5D03F2-29AF-40AC-8BB7-A31AD05754CF}"/>
              </a:ext>
            </a:extLst>
          </p:cNvPr>
          <p:cNvGrpSpPr/>
          <p:nvPr/>
        </p:nvGrpSpPr>
        <p:grpSpPr>
          <a:xfrm>
            <a:off x="3025773" y="3185378"/>
            <a:ext cx="882545" cy="1004702"/>
            <a:chOff x="410235" y="2775770"/>
            <a:chExt cx="1299553" cy="1643259"/>
          </a:xfrm>
        </p:grpSpPr>
        <p:pic>
          <p:nvPicPr>
            <p:cNvPr id="27" name="Picture 2" descr="http://arabtronics.net/image/cache/catalog/2/TO-274-500x500.jpg">
              <a:extLst>
                <a:ext uri="{FF2B5EF4-FFF2-40B4-BE49-F238E27FC236}">
                  <a16:creationId xmlns:a16="http://schemas.microsoft.com/office/drawing/2014/main" id="{9C493965-7894-4670-A96E-73454481B7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14" r="22493"/>
            <a:stretch/>
          </p:blipFill>
          <p:spPr bwMode="auto">
            <a:xfrm>
              <a:off x="488504" y="2775770"/>
              <a:ext cx="879043" cy="14750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B727531-527A-46FA-B744-9FB0E611B62B}"/>
                </a:ext>
              </a:extLst>
            </p:cNvPr>
            <p:cNvSpPr/>
            <p:nvPr/>
          </p:nvSpPr>
          <p:spPr>
            <a:xfrm>
              <a:off x="410235" y="4232825"/>
              <a:ext cx="1299553" cy="18620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lvl="0" fontAlgn="base">
                <a:spcBef>
                  <a:spcPct val="20000"/>
                </a:spcBef>
                <a:spcAft>
                  <a:spcPct val="0"/>
                </a:spcAft>
              </a:pPr>
              <a:r>
                <a:rPr kumimoji="1" lang="ko-KR" altLang="en-US" sz="1000" dirty="0">
                  <a:solidFill>
                    <a:prstClr val="black"/>
                  </a:solidFill>
                </a:rPr>
                <a:t>예</a:t>
              </a:r>
              <a:r>
                <a:rPr kumimoji="1" lang="en-US" altLang="ko-KR" sz="1000" dirty="0">
                  <a:solidFill>
                    <a:prstClr val="black"/>
                  </a:solidFill>
                </a:rPr>
                <a:t>) TO-247 </a:t>
              </a:r>
              <a:r>
                <a:rPr kumimoji="1" lang="ko-KR" altLang="en-US" sz="1000" dirty="0">
                  <a:solidFill>
                    <a:prstClr val="black"/>
                  </a:solidFill>
                </a:rPr>
                <a:t>패키지</a:t>
              </a:r>
              <a:endParaRPr kumimoji="1" lang="en-US" altLang="ko-KR" sz="1000" dirty="0">
                <a:solidFill>
                  <a:prstClr val="black"/>
                </a:solidFill>
              </a:endParaRPr>
            </a:p>
          </p:txBody>
        </p:sp>
      </p:grpSp>
      <p:pic>
        <p:nvPicPr>
          <p:cNvPr id="29" name="Picture 2">
            <a:extLst>
              <a:ext uri="{FF2B5EF4-FFF2-40B4-BE49-F238E27FC236}">
                <a16:creationId xmlns:a16="http://schemas.microsoft.com/office/drawing/2014/main" id="{D0828E3A-EBFC-4B3B-910C-E9AC0D5B0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68" y="4727130"/>
            <a:ext cx="2160240" cy="11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>
            <a:extLst>
              <a:ext uri="{FF2B5EF4-FFF2-40B4-BE49-F238E27FC236}">
                <a16:creationId xmlns:a16="http://schemas.microsoft.com/office/drawing/2014/main" id="{486A0C6E-4AD8-460A-BA1B-B3FF6DAAA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18" y="3004823"/>
            <a:ext cx="2550284" cy="13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46169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624702"/>
              </p:ext>
            </p:extLst>
          </p:nvPr>
        </p:nvGraphicFramePr>
        <p:xfrm>
          <a:off x="273050" y="836712"/>
          <a:ext cx="9335855" cy="5552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[HV-10]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전해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커패시터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양극 패턴 분리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고전압용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슬리브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포장 비닐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절연 파괴 및 전해액 오염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(300Vdc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에 사용되는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+,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양극이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실장면에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같이 배치되는 것을 지양하였는가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80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고전압에 사용되는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슬리브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포장 비닐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절연성은 업체에서 보장하지 않음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양극 패턴의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층을 분리 설계하여 절연성 확보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슬리브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소손 및 전해액으로 인한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고전압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전원부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단락 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9" name="Picture 2">
            <a:extLst>
              <a:ext uri="{FF2B5EF4-FFF2-40B4-BE49-F238E27FC236}">
                <a16:creationId xmlns:a16="http://schemas.microsoft.com/office/drawing/2014/main" id="{1BD2082F-165E-4012-BA05-2B7F6FF09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50" y="2852935"/>
            <a:ext cx="770494" cy="104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65EA7567-97B3-4D62-B782-3F9335E58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8" t="10630" r="12396" b="2316"/>
          <a:stretch/>
        </p:blipFill>
        <p:spPr bwMode="auto">
          <a:xfrm>
            <a:off x="2363906" y="2852935"/>
            <a:ext cx="770494" cy="104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38F4F0-F945-4FD5-BB4A-715E0DF50FE6}"/>
              </a:ext>
            </a:extLst>
          </p:cNvPr>
          <p:cNvSpPr/>
          <p:nvPr/>
        </p:nvSpPr>
        <p:spPr>
          <a:xfrm>
            <a:off x="854416" y="3846240"/>
            <a:ext cx="87235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9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900" dirty="0" err="1">
                <a:solidFill>
                  <a:srgbClr val="000000"/>
                </a:solidFill>
                <a:latin typeface="+mn-ea"/>
              </a:rPr>
              <a:t>슬리브</a:t>
            </a:r>
            <a:r>
              <a:rPr kumimoji="1" lang="ko-KR" altLang="en-US" sz="900" dirty="0">
                <a:solidFill>
                  <a:srgbClr val="000000"/>
                </a:solidFill>
                <a:latin typeface="+mn-ea"/>
              </a:rPr>
              <a:t> 양호</a:t>
            </a:r>
            <a:r>
              <a:rPr kumimoji="1" lang="en-US" altLang="ko-KR" sz="900" dirty="0">
                <a:solidFill>
                  <a:srgbClr val="000000"/>
                </a:solidFill>
                <a:latin typeface="+mn-ea"/>
              </a:rPr>
              <a:t>]</a:t>
            </a:r>
            <a:endParaRPr kumimoji="1" lang="ko-KR" altLang="en-US" sz="9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1F992F-74CA-416C-B9AB-1C994E9C6C0E}"/>
              </a:ext>
            </a:extLst>
          </p:cNvPr>
          <p:cNvSpPr/>
          <p:nvPr/>
        </p:nvSpPr>
        <p:spPr>
          <a:xfrm>
            <a:off x="2287977" y="3846240"/>
            <a:ext cx="87235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9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900" dirty="0" err="1">
                <a:solidFill>
                  <a:srgbClr val="000000"/>
                </a:solidFill>
                <a:latin typeface="+mn-ea"/>
              </a:rPr>
              <a:t>슬리브</a:t>
            </a:r>
            <a:r>
              <a:rPr kumimoji="1" lang="ko-KR" altLang="en-US" sz="900" dirty="0">
                <a:solidFill>
                  <a:srgbClr val="000000"/>
                </a:solidFill>
                <a:latin typeface="+mn-ea"/>
              </a:rPr>
              <a:t> 소손</a:t>
            </a:r>
            <a:r>
              <a:rPr kumimoji="1" lang="en-US" altLang="ko-KR" sz="900" dirty="0">
                <a:solidFill>
                  <a:srgbClr val="000000"/>
                </a:solidFill>
                <a:latin typeface="+mn-ea"/>
              </a:rPr>
              <a:t>]</a:t>
            </a:r>
            <a:endParaRPr kumimoji="1" lang="ko-KR" altLang="en-US" sz="9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E467E41-6BC3-442C-B2E1-A73C8632526A}"/>
              </a:ext>
            </a:extLst>
          </p:cNvPr>
          <p:cNvCxnSpPr/>
          <p:nvPr/>
        </p:nvCxnSpPr>
        <p:spPr>
          <a:xfrm flipH="1">
            <a:off x="2878899" y="3179505"/>
            <a:ext cx="504056" cy="28803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5A6CAE-85A3-4BB3-947E-A40CE2FAA4EE}"/>
              </a:ext>
            </a:extLst>
          </p:cNvPr>
          <p:cNvSpPr/>
          <p:nvPr/>
        </p:nvSpPr>
        <p:spPr>
          <a:xfrm>
            <a:off x="3298247" y="3038689"/>
            <a:ext cx="801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ko-KR" altLang="en-US" sz="900" err="1">
                <a:solidFill>
                  <a:srgbClr val="000000"/>
                </a:solidFill>
                <a:latin typeface="+mn-ea"/>
              </a:rPr>
              <a:t>금속부</a:t>
            </a:r>
            <a:r>
              <a:rPr kumimoji="1" lang="ko-KR" altLang="en-US" sz="900" dirty="0">
                <a:solidFill>
                  <a:srgbClr val="000000"/>
                </a:solidFill>
                <a:latin typeface="+mn-ea"/>
              </a:rPr>
              <a:t> 노출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181FBED7-87C6-400F-A106-FD8BB442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65" y="4365104"/>
            <a:ext cx="3639739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F279EE92-18C9-42D4-B1E9-CE96185C4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55"/>
          <a:stretch/>
        </p:blipFill>
        <p:spPr bwMode="auto">
          <a:xfrm>
            <a:off x="529408" y="5843164"/>
            <a:ext cx="927556" cy="184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B6AD2625-0F93-40F3-B7ED-CB8EAC7FB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538345" y="5805264"/>
            <a:ext cx="927556" cy="24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2048F590-1121-4026-B01F-C8773A17A5D4}"/>
              </a:ext>
            </a:extLst>
          </p:cNvPr>
          <p:cNvSpPr txBox="1">
            <a:spLocks/>
          </p:cNvSpPr>
          <p:nvPr/>
        </p:nvSpPr>
        <p:spPr bwMode="auto">
          <a:xfrm>
            <a:off x="200472" y="186210"/>
            <a:ext cx="6730330" cy="506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l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+mj-cs"/>
              </a:defRPr>
            </a:lvl1pPr>
            <a:lvl2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defTabSz="957263" rtl="0" eaLnBrk="0" fontAlgn="base" latinLnBrk="1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1984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839694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259540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679387" algn="ctr" defTabSz="957776" rtl="0" fontAlgn="base" latinLnBrk="1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400" b="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</p:spTree>
    <p:extLst>
      <p:ext uri="{BB962C8B-B14F-4D97-AF65-F5344CB8AC3E}">
        <p14:creationId xmlns:p14="http://schemas.microsoft.com/office/powerpoint/2010/main" val="39226644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써지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004321"/>
              </p:ext>
            </p:extLst>
          </p:nvPr>
        </p:nvGraphicFramePr>
        <p:xfrm>
          <a:off x="273050" y="836712"/>
          <a:ext cx="9335855" cy="569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[HV-11]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입력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전원부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X-CAP, Y-CAP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선정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써지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전압에 의한 부품 소손 및 누설전류 과다 방지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1) X-CAP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내압은 최대 인가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써지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전압을 고려하였는가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2) X-CAP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용량은 전원차단 시 방전시간을 고려하였는가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 (OBC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 해당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4465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3) Y-CAP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내압은 최대 인가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써지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전압을 고려하였는가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1591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4) Y-CAP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용량은 누설전류 범위를 초과하지 않는가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4200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X-CAP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은 동작전압이 아닌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써지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전압 기준으로 내압을 설정한다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9388" marR="0" lvl="0" indent="-1793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영향으로 인한 누설전류는 각 제어기의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ES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만족할 것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9388" marR="0" lvl="0" indent="-1793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IEC61851-1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L-GND, N- GND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3.5mA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X-CAP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영향으로 인한 전원 차단 시 방전 시간은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IEC61851-1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만족해야 한다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(OBC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 해당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9388" marR="0" lvl="0" indent="-1793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IEC61851-1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기준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차단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 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42.4Vpk / 60Vdc / 30Vrms</a:t>
                      </a:r>
                    </a:p>
                    <a:p>
                      <a:pPr marL="179388" marR="0" lvl="0" indent="-1793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모든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용량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모든 방전저항 용량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 0.5 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보호회로로 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방지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9641CF16-5734-4890-9D8F-A3695D953309}"/>
              </a:ext>
            </a:extLst>
          </p:cNvPr>
          <p:cNvGrpSpPr/>
          <p:nvPr/>
        </p:nvGrpSpPr>
        <p:grpSpPr>
          <a:xfrm>
            <a:off x="560512" y="3356992"/>
            <a:ext cx="3273946" cy="1296144"/>
            <a:chOff x="416496" y="3190095"/>
            <a:chExt cx="3600400" cy="1544192"/>
          </a:xfrm>
        </p:grpSpPr>
        <p:pic>
          <p:nvPicPr>
            <p:cNvPr id="19" name="Picture 2" descr="http://www.prosoundweb.com/images/uploads/ClearPathFigure-2.jpg">
              <a:extLst>
                <a:ext uri="{FF2B5EF4-FFF2-40B4-BE49-F238E27FC236}">
                  <a16:creationId xmlns:a16="http://schemas.microsoft.com/office/drawing/2014/main" id="{7E8D08C9-4CFF-4FB9-9186-CF148D876A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597" b="10357"/>
            <a:stretch/>
          </p:blipFill>
          <p:spPr bwMode="auto">
            <a:xfrm>
              <a:off x="416496" y="3306657"/>
              <a:ext cx="3088704" cy="1427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44CECD4-9A1D-428E-9A67-215BAB5C1EAD}"/>
                </a:ext>
              </a:extLst>
            </p:cNvPr>
            <p:cNvSpPr/>
            <p:nvPr/>
          </p:nvSpPr>
          <p:spPr>
            <a:xfrm>
              <a:off x="1379205" y="3709009"/>
              <a:ext cx="504056" cy="504056"/>
            </a:xfrm>
            <a:prstGeom prst="ellipse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B64DE980-CE45-4FE8-82BE-F139B9E4972D}"/>
                </a:ext>
              </a:extLst>
            </p:cNvPr>
            <p:cNvSpPr/>
            <p:nvPr/>
          </p:nvSpPr>
          <p:spPr>
            <a:xfrm>
              <a:off x="2523778" y="3463816"/>
              <a:ext cx="504056" cy="504056"/>
            </a:xfrm>
            <a:prstGeom prst="ellipse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A43E6D-F83A-4B5A-A826-E87B12B00C1C}"/>
                </a:ext>
              </a:extLst>
            </p:cNvPr>
            <p:cNvSpPr txBox="1"/>
            <p:nvPr/>
          </p:nvSpPr>
          <p:spPr>
            <a:xfrm>
              <a:off x="1300152" y="3190095"/>
              <a:ext cx="609462" cy="2616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+mn-ea"/>
                </a:rPr>
                <a:t>X-CAP</a:t>
              </a:r>
              <a:endParaRPr lang="ko-KR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37111F-80A8-49B3-B033-F8C6661559B2}"/>
                </a:ext>
              </a:extLst>
            </p:cNvPr>
            <p:cNvSpPr txBox="1"/>
            <p:nvPr/>
          </p:nvSpPr>
          <p:spPr>
            <a:xfrm>
              <a:off x="2471075" y="3190095"/>
              <a:ext cx="603050" cy="26161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+mn-ea"/>
                </a:rPr>
                <a:t>Y-CAP</a:t>
              </a:r>
              <a:endParaRPr lang="ko-KR" altLang="en-US" sz="11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5382B09-C3AB-446E-B0AC-BF968DFF6351}"/>
                </a:ext>
              </a:extLst>
            </p:cNvPr>
            <p:cNvSpPr/>
            <p:nvPr/>
          </p:nvSpPr>
          <p:spPr>
            <a:xfrm>
              <a:off x="3505200" y="3428845"/>
              <a:ext cx="511696" cy="118321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ko-KR" sz="1200" b="1" dirty="0">
                  <a:solidFill>
                    <a:schemeClr val="tx1"/>
                  </a:solidFill>
                  <a:latin typeface="+mn-ea"/>
                </a:rPr>
                <a:t>LOAD</a:t>
              </a:r>
              <a:endParaRPr kumimoji="1"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4919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써지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12491"/>
              </p:ext>
            </p:extLst>
          </p:nvPr>
        </p:nvGraphicFramePr>
        <p:xfrm>
          <a:off x="186800" y="617622"/>
          <a:ext cx="9335855" cy="56227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[HV-12]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써지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보호 회로 선정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99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써지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보호 소자의 방전개시 전압 최적화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(OBC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 해당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1)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써지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보호소자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Varistor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Arrestor, DSA)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방전 개시 전압은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내전압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시험을 고려하였는가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30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써지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보호 소자의 방전 개시 전압이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내전압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시험보다 높을 것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써지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인가 시험  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ES96200-00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2.2KV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내전압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인가 시험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ES91500-50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L-GND, N-GND, L-N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간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전압 따른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내전압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인가 후 절연상태 확인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보호회로로 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방지</a:t>
                      </a: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8" name="Picture 2">
            <a:extLst>
              <a:ext uri="{FF2B5EF4-FFF2-40B4-BE49-F238E27FC236}">
                <a16:creationId xmlns:a16="http://schemas.microsoft.com/office/drawing/2014/main" id="{75A6A3A6-F0BC-4C3E-992A-03A3D00C1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2492896"/>
            <a:ext cx="3756215" cy="24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48225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</a:t>
            </a:r>
            <a:r>
              <a:rPr lang="en-US" altLang="ko-KR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소자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조립성</a:t>
            </a:r>
            <a:endParaRPr lang="ko-KR" altLang="en-US" sz="2400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79109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[HV-13]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전력 소자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-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방열판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체결 관리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스크류 체결 토크 관리를 통한 부품 소손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해당 없음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방열판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체결 토크는 업체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권장안에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맞게 관리 하는가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해당 없음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스크류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풀림 방지를 위한 대책을 고려하였는가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스프링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와셔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나사고정제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en-US" altLang="ko-KR" sz="1000" dirty="0" smtClean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</a:rPr>
                        <a:t>해당 없음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토크 부족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과열로 인한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Thermal shut down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토크 과다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외부 파손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내부 박리 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반드시 부품업체에서 권장하는 토크 및 조립법을 준수 할 것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부품 소손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성능 저하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6" name="Picture 4">
            <a:extLst>
              <a:ext uri="{FF2B5EF4-FFF2-40B4-BE49-F238E27FC236}">
                <a16:creationId xmlns:a16="http://schemas.microsoft.com/office/drawing/2014/main" id="{73D828C4-CBF4-4DFD-8089-AD16D3074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12" y="2852936"/>
            <a:ext cx="3419486" cy="195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0801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</a:t>
            </a:r>
            <a:r>
              <a:rPr lang="en-US" altLang="ko-KR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소자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조립성</a:t>
            </a:r>
            <a:endParaRPr lang="ko-KR" altLang="en-US" sz="2400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081945"/>
              </p:ext>
            </p:extLst>
          </p:nvPr>
        </p:nvGraphicFramePr>
        <p:xfrm>
          <a:off x="273050" y="836712"/>
          <a:ext cx="9335855" cy="56227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[HV-14]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전력 소자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-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</a:rPr>
                        <a:t>방열판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 간 절연성 강화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방열판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소자 간 절연거리 확보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소자의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도전체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노출부와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방열판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간에 공간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거리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연면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거리가 확보 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30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전력 소자의 리드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패키지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노출부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측면 노출부와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방열판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간의 절연거리를 고려하여 설계한다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방열판과의 방전으로 인한 부품 소손 방지</a:t>
                      </a:r>
                    </a:p>
                  </a:txBody>
                  <a:tcPr marL="55267" marR="55267" marT="27626" marB="27626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13B81E6-E22C-443E-A576-E53073CED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22" y="4005064"/>
            <a:ext cx="3911292" cy="219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48A0E5E-26AF-43C8-9F54-C622D4F1FE2C}"/>
              </a:ext>
            </a:extLst>
          </p:cNvPr>
          <p:cNvGrpSpPr/>
          <p:nvPr/>
        </p:nvGrpSpPr>
        <p:grpSpPr>
          <a:xfrm>
            <a:off x="389425" y="2498538"/>
            <a:ext cx="3771487" cy="858454"/>
            <a:chOff x="389425" y="2498538"/>
            <a:chExt cx="4203535" cy="100247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623CC6-A699-4A17-A634-641BCA05AF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224"/>
            <a:stretch/>
          </p:blipFill>
          <p:spPr bwMode="auto">
            <a:xfrm>
              <a:off x="389425" y="2498538"/>
              <a:ext cx="4203535" cy="10024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자유형 12">
              <a:extLst>
                <a:ext uri="{FF2B5EF4-FFF2-40B4-BE49-F238E27FC236}">
                  <a16:creationId xmlns:a16="http://schemas.microsoft.com/office/drawing/2014/main" id="{90949A17-E6A0-4C08-9CA3-C397020B0894}"/>
                </a:ext>
              </a:extLst>
            </p:cNvPr>
            <p:cNvSpPr/>
            <p:nvPr/>
          </p:nvSpPr>
          <p:spPr>
            <a:xfrm>
              <a:off x="4002892" y="3072299"/>
              <a:ext cx="5016" cy="97631"/>
            </a:xfrm>
            <a:custGeom>
              <a:avLst/>
              <a:gdLst>
                <a:gd name="connsiteX0" fmla="*/ 5016 w 5016"/>
                <a:gd name="connsiteY0" fmla="*/ 0 h 97631"/>
                <a:gd name="connsiteX1" fmla="*/ 2634 w 5016"/>
                <a:gd name="connsiteY1" fmla="*/ 11906 h 97631"/>
                <a:gd name="connsiteX2" fmla="*/ 253 w 5016"/>
                <a:gd name="connsiteY2" fmla="*/ 97631 h 97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6" h="97631">
                  <a:moveTo>
                    <a:pt x="5016" y="0"/>
                  </a:moveTo>
                  <a:cubicBezTo>
                    <a:pt x="4222" y="3969"/>
                    <a:pt x="3081" y="7883"/>
                    <a:pt x="2634" y="11906"/>
                  </a:cubicBezTo>
                  <a:cubicBezTo>
                    <a:pt x="-1147" y="45932"/>
                    <a:pt x="253" y="59208"/>
                    <a:pt x="253" y="97631"/>
                  </a:cubicBezTo>
                </a:path>
              </a:pathLst>
            </a:custGeom>
            <a:noFill/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 14">
              <a:extLst>
                <a:ext uri="{FF2B5EF4-FFF2-40B4-BE49-F238E27FC236}">
                  <a16:creationId xmlns:a16="http://schemas.microsoft.com/office/drawing/2014/main" id="{4661ED1F-4098-4B0B-B727-DC126692DC4D}"/>
                </a:ext>
              </a:extLst>
            </p:cNvPr>
            <p:cNvSpPr/>
            <p:nvPr/>
          </p:nvSpPr>
          <p:spPr>
            <a:xfrm>
              <a:off x="2938726" y="2869893"/>
              <a:ext cx="173832" cy="61912"/>
            </a:xfrm>
            <a:custGeom>
              <a:avLst/>
              <a:gdLst>
                <a:gd name="connsiteX0" fmla="*/ 0 w 173832"/>
                <a:gd name="connsiteY0" fmla="*/ 47625 h 61912"/>
                <a:gd name="connsiteX1" fmla="*/ 11907 w 173832"/>
                <a:gd name="connsiteY1" fmla="*/ 50006 h 61912"/>
                <a:gd name="connsiteX2" fmla="*/ 19050 w 173832"/>
                <a:gd name="connsiteY2" fmla="*/ 52387 h 61912"/>
                <a:gd name="connsiteX3" fmla="*/ 28575 w 173832"/>
                <a:gd name="connsiteY3" fmla="*/ 54768 h 61912"/>
                <a:gd name="connsiteX4" fmla="*/ 52388 w 173832"/>
                <a:gd name="connsiteY4" fmla="*/ 61912 h 61912"/>
                <a:gd name="connsiteX5" fmla="*/ 61913 w 173832"/>
                <a:gd name="connsiteY5" fmla="*/ 52387 h 61912"/>
                <a:gd name="connsiteX6" fmla="*/ 69057 w 173832"/>
                <a:gd name="connsiteY6" fmla="*/ 50006 h 61912"/>
                <a:gd name="connsiteX7" fmla="*/ 73819 w 173832"/>
                <a:gd name="connsiteY7" fmla="*/ 42862 h 61912"/>
                <a:gd name="connsiteX8" fmla="*/ 88107 w 173832"/>
                <a:gd name="connsiteY8" fmla="*/ 33337 h 61912"/>
                <a:gd name="connsiteX9" fmla="*/ 95250 w 173832"/>
                <a:gd name="connsiteY9" fmla="*/ 28575 h 61912"/>
                <a:gd name="connsiteX10" fmla="*/ 104775 w 173832"/>
                <a:gd name="connsiteY10" fmla="*/ 23812 h 61912"/>
                <a:gd name="connsiteX11" fmla="*/ 111919 w 173832"/>
                <a:gd name="connsiteY11" fmla="*/ 19050 h 61912"/>
                <a:gd name="connsiteX12" fmla="*/ 119063 w 173832"/>
                <a:gd name="connsiteY12" fmla="*/ 16668 h 61912"/>
                <a:gd name="connsiteX13" fmla="*/ 135732 w 173832"/>
                <a:gd name="connsiteY13" fmla="*/ 4762 h 61912"/>
                <a:gd name="connsiteX14" fmla="*/ 145257 w 173832"/>
                <a:gd name="connsiteY14" fmla="*/ 0 h 61912"/>
                <a:gd name="connsiteX15" fmla="*/ 152400 w 173832"/>
                <a:gd name="connsiteY15" fmla="*/ 2381 h 61912"/>
                <a:gd name="connsiteX16" fmla="*/ 157163 w 173832"/>
                <a:gd name="connsiteY16" fmla="*/ 9525 h 61912"/>
                <a:gd name="connsiteX17" fmla="*/ 169069 w 173832"/>
                <a:gd name="connsiteY17" fmla="*/ 23812 h 61912"/>
                <a:gd name="connsiteX18" fmla="*/ 173832 w 173832"/>
                <a:gd name="connsiteY18" fmla="*/ 33337 h 6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3832" h="61912">
                  <a:moveTo>
                    <a:pt x="0" y="47625"/>
                  </a:moveTo>
                  <a:cubicBezTo>
                    <a:pt x="3969" y="48419"/>
                    <a:pt x="7980" y="49024"/>
                    <a:pt x="11907" y="50006"/>
                  </a:cubicBezTo>
                  <a:cubicBezTo>
                    <a:pt x="14342" y="50615"/>
                    <a:pt x="16637" y="51698"/>
                    <a:pt x="19050" y="52387"/>
                  </a:cubicBezTo>
                  <a:cubicBezTo>
                    <a:pt x="22197" y="53286"/>
                    <a:pt x="25440" y="53828"/>
                    <a:pt x="28575" y="54768"/>
                  </a:cubicBezTo>
                  <a:cubicBezTo>
                    <a:pt x="57562" y="63464"/>
                    <a:pt x="30434" y="56424"/>
                    <a:pt x="52388" y="61912"/>
                  </a:cubicBezTo>
                  <a:cubicBezTo>
                    <a:pt x="71439" y="55563"/>
                    <a:pt x="49213" y="65087"/>
                    <a:pt x="61913" y="52387"/>
                  </a:cubicBezTo>
                  <a:cubicBezTo>
                    <a:pt x="63688" y="50612"/>
                    <a:pt x="66676" y="50800"/>
                    <a:pt x="69057" y="50006"/>
                  </a:cubicBezTo>
                  <a:cubicBezTo>
                    <a:pt x="70644" y="47625"/>
                    <a:pt x="71665" y="44747"/>
                    <a:pt x="73819" y="42862"/>
                  </a:cubicBezTo>
                  <a:cubicBezTo>
                    <a:pt x="78127" y="39093"/>
                    <a:pt x="83344" y="36512"/>
                    <a:pt x="88107" y="33337"/>
                  </a:cubicBezTo>
                  <a:cubicBezTo>
                    <a:pt x="90488" y="31750"/>
                    <a:pt x="92691" y="29855"/>
                    <a:pt x="95250" y="28575"/>
                  </a:cubicBezTo>
                  <a:cubicBezTo>
                    <a:pt x="98425" y="26987"/>
                    <a:pt x="101693" y="25573"/>
                    <a:pt x="104775" y="23812"/>
                  </a:cubicBezTo>
                  <a:cubicBezTo>
                    <a:pt x="107260" y="22392"/>
                    <a:pt x="109359" y="20330"/>
                    <a:pt x="111919" y="19050"/>
                  </a:cubicBezTo>
                  <a:cubicBezTo>
                    <a:pt x="114164" y="17927"/>
                    <a:pt x="116818" y="17791"/>
                    <a:pt x="119063" y="16668"/>
                  </a:cubicBezTo>
                  <a:cubicBezTo>
                    <a:pt x="124110" y="14144"/>
                    <a:pt x="131405" y="7466"/>
                    <a:pt x="135732" y="4762"/>
                  </a:cubicBezTo>
                  <a:cubicBezTo>
                    <a:pt x="138742" y="2881"/>
                    <a:pt x="142082" y="1587"/>
                    <a:pt x="145257" y="0"/>
                  </a:cubicBezTo>
                  <a:cubicBezTo>
                    <a:pt x="147638" y="794"/>
                    <a:pt x="150440" y="813"/>
                    <a:pt x="152400" y="2381"/>
                  </a:cubicBezTo>
                  <a:cubicBezTo>
                    <a:pt x="154635" y="4169"/>
                    <a:pt x="155331" y="7326"/>
                    <a:pt x="157163" y="9525"/>
                  </a:cubicBezTo>
                  <a:cubicBezTo>
                    <a:pt x="163748" y="17426"/>
                    <a:pt x="164634" y="14941"/>
                    <a:pt x="169069" y="23812"/>
                  </a:cubicBezTo>
                  <a:cubicBezTo>
                    <a:pt x="174539" y="34754"/>
                    <a:pt x="168452" y="27959"/>
                    <a:pt x="173832" y="33337"/>
                  </a:cubicBezTo>
                </a:path>
              </a:pathLst>
            </a:custGeom>
            <a:noFill/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8330182-DA10-484C-A660-8BB31F3FBE37}"/>
                </a:ext>
              </a:extLst>
            </p:cNvPr>
            <p:cNvSpPr/>
            <p:nvPr/>
          </p:nvSpPr>
          <p:spPr>
            <a:xfrm>
              <a:off x="1335054" y="2776751"/>
              <a:ext cx="378705" cy="37870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CA7F84E-2D29-4839-AE27-C2928AD7CD6A}"/>
                </a:ext>
              </a:extLst>
            </p:cNvPr>
            <p:cNvSpPr/>
            <p:nvPr/>
          </p:nvSpPr>
          <p:spPr>
            <a:xfrm>
              <a:off x="2836289" y="2693594"/>
              <a:ext cx="378705" cy="37870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73EF6B8-DAD8-4384-8003-16AAAFF82005}"/>
                </a:ext>
              </a:extLst>
            </p:cNvPr>
            <p:cNvSpPr/>
            <p:nvPr/>
          </p:nvSpPr>
          <p:spPr>
            <a:xfrm>
              <a:off x="3813539" y="2931805"/>
              <a:ext cx="378705" cy="37870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3911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</a:t>
            </a:r>
            <a:r>
              <a:rPr lang="en-US" altLang="ko-KR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소자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조립성</a:t>
            </a:r>
            <a:endParaRPr lang="ko-KR" altLang="en-US" sz="2400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420565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[HV-15]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전력 소자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정류용 소자 내압 확인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배터리 전압이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DC-DC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출력보다 높을 경우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정류 회로에서의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역전압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가능성 고려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다이오드 사용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역전압에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대비하여 내압이 충분하게 설계되었는가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스위칭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소자 사용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역전압에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대비하여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스위칭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타이밍 혹은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배터리부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전압 감지 기능이 설계되어 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DIODE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경우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내압이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ES95400-10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만족시킬 것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(-18V, 5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스위칭 소자의 경우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역전압에 따른 보호 알고리즘을 설계할 것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방열판과의 방전으로 인한 부품 소손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Picture 2" descr="http://postfiles11.naver.net/20160701_298/lagrange0115_1467301629848afSHA_PNG/%B1%D7%B8%B22.png?type=w773">
            <a:extLst>
              <a:ext uri="{FF2B5EF4-FFF2-40B4-BE49-F238E27FC236}">
                <a16:creationId xmlns:a16="http://schemas.microsoft.com/office/drawing/2014/main" id="{0082546C-94B4-4233-9400-72A957CA4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2778383"/>
            <a:ext cx="3778294" cy="13441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postfiles11.naver.net/20160701_298/lagrange0115_1467301629848afSHA_PNG/%B1%D7%B8%B22.png?type=w773">
            <a:extLst>
              <a:ext uri="{FF2B5EF4-FFF2-40B4-BE49-F238E27FC236}">
                <a16:creationId xmlns:a16="http://schemas.microsoft.com/office/drawing/2014/main" id="{95ED0CFF-7D93-4E62-ADD3-1DE490E82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4245087"/>
            <a:ext cx="3778294" cy="13441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자유형 2">
            <a:extLst>
              <a:ext uri="{FF2B5EF4-FFF2-40B4-BE49-F238E27FC236}">
                <a16:creationId xmlns:a16="http://schemas.microsoft.com/office/drawing/2014/main" id="{DF91A6F3-8959-42DD-B39A-3F00FE2A045B}"/>
              </a:ext>
            </a:extLst>
          </p:cNvPr>
          <p:cNvSpPr/>
          <p:nvPr/>
        </p:nvSpPr>
        <p:spPr>
          <a:xfrm>
            <a:off x="2524378" y="3393929"/>
            <a:ext cx="1258006" cy="265224"/>
          </a:xfrm>
          <a:custGeom>
            <a:avLst/>
            <a:gdLst>
              <a:gd name="connsiteX0" fmla="*/ 1258006 w 1258006"/>
              <a:gd name="connsiteY0" fmla="*/ 230833 h 265224"/>
              <a:gd name="connsiteX1" fmla="*/ 173924 w 1258006"/>
              <a:gd name="connsiteY1" fmla="*/ 249686 h 265224"/>
              <a:gd name="connsiteX2" fmla="*/ 98509 w 1258006"/>
              <a:gd name="connsiteY2" fmla="*/ 32870 h 265224"/>
              <a:gd name="connsiteX3" fmla="*/ 1135458 w 1258006"/>
              <a:gd name="connsiteY3" fmla="*/ 4589 h 26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8006" h="265224">
                <a:moveTo>
                  <a:pt x="1258006" y="230833"/>
                </a:moveTo>
                <a:cubicBezTo>
                  <a:pt x="812589" y="256756"/>
                  <a:pt x="367173" y="282680"/>
                  <a:pt x="173924" y="249686"/>
                </a:cubicBezTo>
                <a:cubicBezTo>
                  <a:pt x="-19325" y="216692"/>
                  <a:pt x="-61747" y="73719"/>
                  <a:pt x="98509" y="32870"/>
                </a:cubicBezTo>
                <a:cubicBezTo>
                  <a:pt x="258765" y="-7980"/>
                  <a:pt x="697111" y="-1696"/>
                  <a:pt x="1135458" y="4589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3">
            <a:extLst>
              <a:ext uri="{FF2B5EF4-FFF2-40B4-BE49-F238E27FC236}">
                <a16:creationId xmlns:a16="http://schemas.microsoft.com/office/drawing/2014/main" id="{1F327997-3E2F-405F-8901-29646E803854}"/>
              </a:ext>
            </a:extLst>
          </p:cNvPr>
          <p:cNvSpPr/>
          <p:nvPr/>
        </p:nvSpPr>
        <p:spPr>
          <a:xfrm>
            <a:off x="2564683" y="4870320"/>
            <a:ext cx="1406237" cy="235001"/>
          </a:xfrm>
          <a:custGeom>
            <a:avLst/>
            <a:gdLst>
              <a:gd name="connsiteX0" fmla="*/ 1406237 w 1406237"/>
              <a:gd name="connsiteY0" fmla="*/ 17633 h 235001"/>
              <a:gd name="connsiteX1" fmla="*/ 209033 w 1406237"/>
              <a:gd name="connsiteY1" fmla="*/ 8207 h 235001"/>
              <a:gd name="connsiteX2" fmla="*/ 1644 w 1406237"/>
              <a:gd name="connsiteY2" fmla="*/ 121328 h 235001"/>
              <a:gd name="connsiteX3" fmla="*/ 124192 w 1406237"/>
              <a:gd name="connsiteY3" fmla="*/ 225023 h 235001"/>
              <a:gd name="connsiteX4" fmla="*/ 341008 w 1406237"/>
              <a:gd name="connsiteY4" fmla="*/ 225023 h 23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6237" h="235001">
                <a:moveTo>
                  <a:pt x="1406237" y="17633"/>
                </a:moveTo>
                <a:cubicBezTo>
                  <a:pt x="924684" y="4279"/>
                  <a:pt x="443132" y="-9075"/>
                  <a:pt x="209033" y="8207"/>
                </a:cubicBezTo>
                <a:cubicBezTo>
                  <a:pt x="-25066" y="25489"/>
                  <a:pt x="15784" y="85192"/>
                  <a:pt x="1644" y="121328"/>
                </a:cubicBezTo>
                <a:cubicBezTo>
                  <a:pt x="-12496" y="157464"/>
                  <a:pt x="67631" y="207740"/>
                  <a:pt x="124192" y="225023"/>
                </a:cubicBezTo>
                <a:cubicBezTo>
                  <a:pt x="180753" y="242306"/>
                  <a:pt x="260880" y="233664"/>
                  <a:pt x="341008" y="225023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0DEA0B-4929-4AAE-9A18-B0B793CA5B9C}"/>
              </a:ext>
            </a:extLst>
          </p:cNvPr>
          <p:cNvSpPr/>
          <p:nvPr/>
        </p:nvSpPr>
        <p:spPr>
          <a:xfrm>
            <a:off x="3490168" y="2795719"/>
            <a:ext cx="674993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kumimoji="1" lang="ko-KR" altLang="en-US" sz="1000" dirty="0">
                <a:solidFill>
                  <a:prstClr val="black"/>
                </a:solidFill>
              </a:rPr>
              <a:t>정상 조건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BD7389-D1C4-4C87-B4BB-29D9633E3ABA}"/>
              </a:ext>
            </a:extLst>
          </p:cNvPr>
          <p:cNvSpPr/>
          <p:nvPr/>
        </p:nvSpPr>
        <p:spPr>
          <a:xfrm>
            <a:off x="3484623" y="4267516"/>
            <a:ext cx="686085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kumimoji="1" lang="ko-KR" altLang="en-US" sz="1000">
                <a:solidFill>
                  <a:prstClr val="black"/>
                </a:solidFill>
              </a:rPr>
              <a:t>역전압</a:t>
            </a:r>
            <a:r>
              <a:rPr kumimoji="1" lang="ko-KR" altLang="en-US" sz="1000" dirty="0">
                <a:solidFill>
                  <a:prstClr val="black"/>
                </a:solidFill>
              </a:rPr>
              <a:t> 조건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67414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</a:t>
            </a:r>
            <a:r>
              <a:rPr lang="en-US" altLang="ko-KR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소자 </a:t>
            </a:r>
            <a:r>
              <a:rPr lang="ko-KR" altLang="en-US" sz="2400" dirty="0" err="1">
                <a:latin typeface="현대하모니 B" panose="02020603020101020101" pitchFamily="18" charset="-127"/>
                <a:ea typeface="현대하모니 B" panose="02020603020101020101" pitchFamily="18" charset="-127"/>
              </a:rPr>
              <a:t>조립성</a:t>
            </a:r>
            <a:endParaRPr lang="ko-KR" altLang="en-US" sz="2400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123565"/>
              </p:ext>
            </p:extLst>
          </p:nvPr>
        </p:nvGraphicFramePr>
        <p:xfrm>
          <a:off x="273050" y="828344"/>
          <a:ext cx="9335855" cy="563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[HV-16]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전력 소자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</a:rPr>
                        <a:t>저항 내압 확인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 회로 저항의 내압 확인 필요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최고 사용전압을 만족시키도록 설계되었는가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정격전력의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이내에서 설계되었는가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저항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최고 사용전압을 만족시키며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정격 전력의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이내 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저항 전력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실사용 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^2/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저항값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≤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정격전력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* 0.5 (P=V^2/R)</a:t>
                      </a:r>
                      <a:b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1608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사이즈 저항을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5V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사용할 경우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 이하 사용 불가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방열판과의 방전으로 인한 부품 소손 방지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6C288AB-5E89-488D-BCE3-D6089B67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3" y="3068960"/>
            <a:ext cx="378352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734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 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601348"/>
              </p:ext>
            </p:extLst>
          </p:nvPr>
        </p:nvGraphicFramePr>
        <p:xfrm>
          <a:off x="273050" y="836712"/>
          <a:ext cx="9335855" cy="570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[HV-17]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전해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커패시터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방폭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설계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(300Vdc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폭발 및 열화 방지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가스 방출을 위해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안전변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상단에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2mm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이상 공간 설계 할 것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(22-1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항 추가 참조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고온 가스 방출 시 회로 보호를 위해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안전변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상단 배선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패턴 설계 금지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44656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3)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돌입 전류로 인한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소손 대책이 설계 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159100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4)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사용 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실효값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은 정격 전압의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80%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이내로 설계 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542007"/>
                  </a:ext>
                </a:extLst>
              </a:tr>
              <a:tr h="288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5)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써지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피크값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은 정격전압의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이내로 설계 되었는가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?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73206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69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정격전압을 초과할 경우 가스 누출로 인한 용량 감소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누설전류 증가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발화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등의 문제가 발생할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 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(RMS)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정격 전압의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이내에서 설계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과전압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(Peak)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정격 전압의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이내에서 설계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450V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제어기의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DCLINK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600V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: 600V * 80%=480V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사용전압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(450V)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정격전압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80%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600V * 100% = 600V 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과전압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(500V)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정격전압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100%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안전성 확보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3A9DE7C-FDE6-44E9-AF75-91699D525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3645024"/>
            <a:ext cx="3312368" cy="11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29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39B1B-1663-45E4-981F-29EF820B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186210"/>
            <a:ext cx="6730330" cy="506486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고전압</a:t>
            </a:r>
            <a:r>
              <a:rPr lang="en-US" altLang="ko-KR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400" dirty="0">
                <a:latin typeface="현대하모니 B" panose="02020603020101020101" pitchFamily="18" charset="-127"/>
                <a:ea typeface="현대하모니 B" panose="02020603020101020101" pitchFamily="18" charset="-127"/>
              </a:rPr>
              <a:t>패턴 설계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603DAC-6687-4EAD-87C3-9457A9463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581403"/>
              </p:ext>
            </p:extLst>
          </p:nvPr>
        </p:nvGraphicFramePr>
        <p:xfrm>
          <a:off x="273050" y="828344"/>
          <a:ext cx="9335855" cy="5674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470241962"/>
                    </a:ext>
                  </a:extLst>
                </a:gridCol>
                <a:gridCol w="1199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200" b="0" dirty="0">
                          <a:latin typeface="+mn-ea"/>
                          <a:ea typeface="+mn-ea"/>
                        </a:rPr>
                        <a:t>[HV-18] 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+mn-ea"/>
                        </a:rPr>
                        <a:t>전해 </a:t>
                      </a:r>
                      <a:r>
                        <a:rPr lang="ko-KR" altLang="en-US" sz="1200" b="0" dirty="0" err="1">
                          <a:solidFill>
                            <a:srgbClr val="000000"/>
                          </a:solidFill>
                          <a:latin typeface="+mn-ea"/>
                        </a:rPr>
                        <a:t>커패시터</a:t>
                      </a:r>
                      <a:r>
                        <a:rPr lang="ko-KR" altLang="en-US" sz="1200" b="0" dirty="0">
                          <a:solidFill>
                            <a:srgbClr val="000000"/>
                          </a:solidFill>
                          <a:latin typeface="+mn-ea"/>
                        </a:rPr>
                        <a:t> 실장 유의사항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판정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(O, X)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판정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(O,X)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고전압용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(300Vdc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커패시터의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수명 개선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1)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세척제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고정용 접착제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염소계 화합물 사용 금지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78563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2)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주변 발열부품 설계 금지</a:t>
                      </a:r>
                    </a:p>
                  </a:txBody>
                  <a:tcPr marL="55267" marR="55267" marT="27626" marB="276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9193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별도 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기준을 적용할 경우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상세 내용 및 근거를 첨부하고 담당자와 협의한다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권 장 안 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예시</a:t>
                      </a:r>
                      <a:r>
                        <a:rPr lang="en-US" altLang="ko-KR" sz="1200" b="1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협력사</a:t>
                      </a: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 사전 검토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개선 대책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4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세척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고정 접착제에 염소계 화합물이 사용될 경우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커패시터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내부로 스며들어 부식을 유발시켜 전해액 증발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누설전류 증가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 발생 가능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주변 발열부품이 있을 경우 발열부품을 고려한 수명 산출 및 제시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※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커패시터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수명 확보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algn="ctr" latinLnBrk="1">
                        <a:spcBef>
                          <a:spcPts val="600"/>
                        </a:spcBef>
                      </a:pPr>
                      <a:endParaRPr lang="ko-KR" altLang="en-US" sz="8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86585A-3380-4FD1-A11F-E279884E309E}"/>
              </a:ext>
            </a:extLst>
          </p:cNvPr>
          <p:cNvGraphicFramePr>
            <a:graphicFrameLocks noGrp="1"/>
          </p:cNvGraphicFramePr>
          <p:nvPr/>
        </p:nvGraphicFramePr>
        <p:xfrm>
          <a:off x="309320" y="2755432"/>
          <a:ext cx="3923600" cy="2617784"/>
        </p:xfrm>
        <a:graphic>
          <a:graphicData uri="http://schemas.openxmlformats.org/drawingml/2006/table">
            <a:tbl>
              <a:tblPr/>
              <a:tblGrid>
                <a:gridCol w="1821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18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78919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57838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43675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915677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394596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873515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352434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831353" algn="l" defTabSz="95783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권장 안</a:t>
                      </a:r>
                    </a:p>
                  </a:txBody>
                  <a:tcPr marL="18000" marR="18000" marT="28780" marB="2878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오류 사례</a:t>
                      </a:r>
                    </a:p>
                  </a:txBody>
                  <a:tcPr marL="18000" marR="18000" marT="28780" marB="2878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</a:txBody>
                  <a:tcPr marL="18000" marR="18000" marT="28780" marB="28780" anchor="b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</a:txBody>
                  <a:tcPr marL="18000" marR="18000" marT="28780" marB="28780" anchor="b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5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</a:txBody>
                  <a:tcPr marL="18000" marR="18000" marT="28780" marB="28780" anchor="b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  <a:sym typeface="Wingdings" panose="05000000000000000000" pitchFamily="2" charset="2"/>
                      </a:endParaRPr>
                    </a:p>
                  </a:txBody>
                  <a:tcPr marL="18000" marR="18000" marT="28780" marB="28780" anchor="b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2" descr="Image result for electrolytic capacitor adhesive">
            <a:hlinkClick r:id="rId2"/>
            <a:extLst>
              <a:ext uri="{FF2B5EF4-FFF2-40B4-BE49-F238E27FC236}">
                <a16:creationId xmlns:a16="http://schemas.microsoft.com/office/drawing/2014/main" id="{0054BEA7-DFED-4023-8C54-CFCD0ADED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28" y="2989728"/>
            <a:ext cx="1356818" cy="94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DE24E19-0C89-4788-AB48-36CEE8183AAD}"/>
              </a:ext>
            </a:extLst>
          </p:cNvPr>
          <p:cNvSpPr/>
          <p:nvPr/>
        </p:nvSpPr>
        <p:spPr>
          <a:xfrm>
            <a:off x="293440" y="3982128"/>
            <a:ext cx="1910948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>
                <a:solidFill>
                  <a:prstClr val="black"/>
                </a:solidFill>
              </a:rPr>
              <a:t>비염소계 </a:t>
            </a:r>
            <a:r>
              <a:rPr kumimoji="1" lang="ko-KR" altLang="en-US" sz="800" dirty="0">
                <a:solidFill>
                  <a:srgbClr val="000000"/>
                </a:solidFill>
                <a:latin typeface="+mn-ea"/>
              </a:rPr>
              <a:t>세척제</a:t>
            </a:r>
            <a:r>
              <a:rPr kumimoji="1" lang="en-US" altLang="ko-KR" sz="800" dirty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800" dirty="0">
                <a:solidFill>
                  <a:srgbClr val="000000"/>
                </a:solidFill>
                <a:latin typeface="+mn-ea"/>
              </a:rPr>
              <a:t>고정용 접착제 사용</a:t>
            </a:r>
            <a:endParaRPr kumimoji="1" lang="ko-KR" altLang="en-US" sz="800" dirty="0">
              <a:solidFill>
                <a:prstClr val="black"/>
              </a:solidFill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638D693-F2EA-4907-9E73-4C8D59A5B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545" y="2979076"/>
            <a:ext cx="1763360" cy="998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4C6180E-D215-49CB-BDB6-518F2AA3A956}"/>
              </a:ext>
            </a:extLst>
          </p:cNvPr>
          <p:cNvSpPr/>
          <p:nvPr/>
        </p:nvSpPr>
        <p:spPr>
          <a:xfrm>
            <a:off x="2177681" y="3975874"/>
            <a:ext cx="2102043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en-US" altLang="ko-KR" sz="800" dirty="0">
                <a:solidFill>
                  <a:prstClr val="black"/>
                </a:solidFill>
              </a:rPr>
              <a:t>Flux </a:t>
            </a:r>
            <a:r>
              <a:rPr kumimoji="1" lang="ko-KR" altLang="en-US" sz="800" dirty="0">
                <a:solidFill>
                  <a:prstClr val="black"/>
                </a:solidFill>
              </a:rPr>
              <a:t>세척제의 염소 성분으로 인한 부식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8715E6-9DFA-44F8-B2F9-EC420572BDF1}"/>
              </a:ext>
            </a:extLst>
          </p:cNvPr>
          <p:cNvGrpSpPr/>
          <p:nvPr/>
        </p:nvGrpSpPr>
        <p:grpSpPr>
          <a:xfrm>
            <a:off x="381328" y="4268702"/>
            <a:ext cx="1728192" cy="847616"/>
            <a:chOff x="416496" y="4005064"/>
            <a:chExt cx="1728192" cy="847616"/>
          </a:xfrm>
        </p:grpSpPr>
        <p:sp>
          <p:nvSpPr>
            <p:cNvPr id="12" name="자유형 23">
              <a:extLst>
                <a:ext uri="{FF2B5EF4-FFF2-40B4-BE49-F238E27FC236}">
                  <a16:creationId xmlns:a16="http://schemas.microsoft.com/office/drawing/2014/main" id="{19DA9741-0735-429D-8724-27763E2DF89B}"/>
                </a:ext>
              </a:extLst>
            </p:cNvPr>
            <p:cNvSpPr/>
            <p:nvPr/>
          </p:nvSpPr>
          <p:spPr>
            <a:xfrm>
              <a:off x="1038084" y="4005064"/>
              <a:ext cx="491995" cy="661240"/>
            </a:xfrm>
            <a:custGeom>
              <a:avLst/>
              <a:gdLst>
                <a:gd name="connsiteX0" fmla="*/ 9525 w 595313"/>
                <a:gd name="connsiteY0" fmla="*/ 0 h 800100"/>
                <a:gd name="connsiteX1" fmla="*/ 590550 w 595313"/>
                <a:gd name="connsiteY1" fmla="*/ 0 h 800100"/>
                <a:gd name="connsiteX2" fmla="*/ 590550 w 595313"/>
                <a:gd name="connsiteY2" fmla="*/ 695325 h 800100"/>
                <a:gd name="connsiteX3" fmla="*/ 528638 w 595313"/>
                <a:gd name="connsiteY3" fmla="*/ 695325 h 800100"/>
                <a:gd name="connsiteX4" fmla="*/ 528638 w 595313"/>
                <a:gd name="connsiteY4" fmla="*/ 747713 h 800100"/>
                <a:gd name="connsiteX5" fmla="*/ 595313 w 595313"/>
                <a:gd name="connsiteY5" fmla="*/ 747713 h 800100"/>
                <a:gd name="connsiteX6" fmla="*/ 595313 w 595313"/>
                <a:gd name="connsiteY6" fmla="*/ 800100 h 800100"/>
                <a:gd name="connsiteX7" fmla="*/ 0 w 595313"/>
                <a:gd name="connsiteY7" fmla="*/ 800100 h 800100"/>
                <a:gd name="connsiteX8" fmla="*/ 0 w 595313"/>
                <a:gd name="connsiteY8" fmla="*/ 747713 h 800100"/>
                <a:gd name="connsiteX9" fmla="*/ 61913 w 595313"/>
                <a:gd name="connsiteY9" fmla="*/ 747713 h 800100"/>
                <a:gd name="connsiteX10" fmla="*/ 61913 w 595313"/>
                <a:gd name="connsiteY10" fmla="*/ 704850 h 800100"/>
                <a:gd name="connsiteX11" fmla="*/ 9525 w 595313"/>
                <a:gd name="connsiteY11" fmla="*/ 704850 h 800100"/>
                <a:gd name="connsiteX12" fmla="*/ 9525 w 595313"/>
                <a:gd name="connsiteY12" fmla="*/ 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5313" h="800100">
                  <a:moveTo>
                    <a:pt x="9525" y="0"/>
                  </a:moveTo>
                  <a:lnTo>
                    <a:pt x="590550" y="0"/>
                  </a:lnTo>
                  <a:lnTo>
                    <a:pt x="590550" y="695325"/>
                  </a:lnTo>
                  <a:lnTo>
                    <a:pt x="528638" y="695325"/>
                  </a:lnTo>
                  <a:lnTo>
                    <a:pt x="528638" y="747713"/>
                  </a:lnTo>
                  <a:lnTo>
                    <a:pt x="595313" y="747713"/>
                  </a:lnTo>
                  <a:lnTo>
                    <a:pt x="595313" y="800100"/>
                  </a:lnTo>
                  <a:lnTo>
                    <a:pt x="0" y="800100"/>
                  </a:lnTo>
                  <a:lnTo>
                    <a:pt x="0" y="747713"/>
                  </a:lnTo>
                  <a:lnTo>
                    <a:pt x="61913" y="747713"/>
                  </a:lnTo>
                  <a:lnTo>
                    <a:pt x="61913" y="704850"/>
                  </a:lnTo>
                  <a:lnTo>
                    <a:pt x="9525" y="7048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kumimoji="1" lang="en-US" altLang="ko-KR" sz="1050" dirty="0">
                  <a:solidFill>
                    <a:prstClr val="black"/>
                  </a:solidFill>
                </a:rPr>
                <a:t>CAP</a:t>
              </a:r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19EF05E-149B-44DA-B644-A5408C2859D5}"/>
                </a:ext>
              </a:extLst>
            </p:cNvPr>
            <p:cNvSpPr/>
            <p:nvPr/>
          </p:nvSpPr>
          <p:spPr>
            <a:xfrm>
              <a:off x="416496" y="4666304"/>
              <a:ext cx="1728192" cy="61418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 2">
              <a:extLst>
                <a:ext uri="{FF2B5EF4-FFF2-40B4-BE49-F238E27FC236}">
                  <a16:creationId xmlns:a16="http://schemas.microsoft.com/office/drawing/2014/main" id="{390B1B59-41F2-44BB-89DC-414D60EF52C6}"/>
                </a:ext>
              </a:extLst>
            </p:cNvPr>
            <p:cNvSpPr/>
            <p:nvPr/>
          </p:nvSpPr>
          <p:spPr>
            <a:xfrm>
              <a:off x="800100" y="4058042"/>
              <a:ext cx="162115" cy="525780"/>
            </a:xfrm>
            <a:custGeom>
              <a:avLst/>
              <a:gdLst>
                <a:gd name="connsiteX0" fmla="*/ 0 w 162115"/>
                <a:gd name="connsiteY0" fmla="*/ 525780 h 525780"/>
                <a:gd name="connsiteX1" fmla="*/ 114300 w 162115"/>
                <a:gd name="connsiteY1" fmla="*/ 411480 h 525780"/>
                <a:gd name="connsiteX2" fmla="*/ 160020 w 162115"/>
                <a:gd name="connsiteY2" fmla="*/ 251460 h 525780"/>
                <a:gd name="connsiteX3" fmla="*/ 144780 w 162115"/>
                <a:gd name="connsiteY3" fmla="*/ 106680 h 525780"/>
                <a:gd name="connsiteX4" fmla="*/ 60960 w 162115"/>
                <a:gd name="connsiteY4" fmla="*/ 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15" h="525780">
                  <a:moveTo>
                    <a:pt x="0" y="525780"/>
                  </a:moveTo>
                  <a:cubicBezTo>
                    <a:pt x="43815" y="491490"/>
                    <a:pt x="87630" y="457200"/>
                    <a:pt x="114300" y="411480"/>
                  </a:cubicBezTo>
                  <a:cubicBezTo>
                    <a:pt x="140970" y="365760"/>
                    <a:pt x="154940" y="302260"/>
                    <a:pt x="160020" y="251460"/>
                  </a:cubicBezTo>
                  <a:cubicBezTo>
                    <a:pt x="165100" y="200660"/>
                    <a:pt x="161290" y="148590"/>
                    <a:pt x="144780" y="106680"/>
                  </a:cubicBezTo>
                  <a:cubicBezTo>
                    <a:pt x="128270" y="64770"/>
                    <a:pt x="94615" y="32385"/>
                    <a:pt x="60960" y="0"/>
                  </a:cubicBezTo>
                </a:path>
              </a:pathLst>
            </a:custGeom>
            <a:noFill/>
            <a:ln w="1270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자유형 3">
              <a:extLst>
                <a:ext uri="{FF2B5EF4-FFF2-40B4-BE49-F238E27FC236}">
                  <a16:creationId xmlns:a16="http://schemas.microsoft.com/office/drawing/2014/main" id="{93643BB2-D5DA-4BE9-8412-B5E81BE0EC0C}"/>
                </a:ext>
              </a:extLst>
            </p:cNvPr>
            <p:cNvSpPr/>
            <p:nvPr/>
          </p:nvSpPr>
          <p:spPr>
            <a:xfrm>
              <a:off x="1592580" y="4210442"/>
              <a:ext cx="213360" cy="259080"/>
            </a:xfrm>
            <a:custGeom>
              <a:avLst/>
              <a:gdLst>
                <a:gd name="connsiteX0" fmla="*/ 0 w 213360"/>
                <a:gd name="connsiteY0" fmla="*/ 259080 h 259080"/>
                <a:gd name="connsiteX1" fmla="*/ 83820 w 213360"/>
                <a:gd name="connsiteY1" fmla="*/ 60960 h 259080"/>
                <a:gd name="connsiteX2" fmla="*/ 99060 w 213360"/>
                <a:gd name="connsiteY2" fmla="*/ 190500 h 259080"/>
                <a:gd name="connsiteX3" fmla="*/ 213360 w 213360"/>
                <a:gd name="connsiteY3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360" h="259080">
                  <a:moveTo>
                    <a:pt x="0" y="259080"/>
                  </a:moveTo>
                  <a:lnTo>
                    <a:pt x="83820" y="60960"/>
                  </a:lnTo>
                  <a:lnTo>
                    <a:pt x="99060" y="190500"/>
                  </a:lnTo>
                  <a:lnTo>
                    <a:pt x="213360" y="0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4">
              <a:extLst>
                <a:ext uri="{FF2B5EF4-FFF2-40B4-BE49-F238E27FC236}">
                  <a16:creationId xmlns:a16="http://schemas.microsoft.com/office/drawing/2014/main" id="{4C73A92B-1E34-4887-ACF7-384C98FEC141}"/>
                </a:ext>
              </a:extLst>
            </p:cNvPr>
            <p:cNvSpPr/>
            <p:nvPr/>
          </p:nvSpPr>
          <p:spPr>
            <a:xfrm>
              <a:off x="914400" y="4548660"/>
              <a:ext cx="251460" cy="153115"/>
            </a:xfrm>
            <a:custGeom>
              <a:avLst/>
              <a:gdLst>
                <a:gd name="connsiteX0" fmla="*/ 251460 w 251460"/>
                <a:gd name="connsiteY0" fmla="*/ 0 h 153115"/>
                <a:gd name="connsiteX1" fmla="*/ 182880 w 251460"/>
                <a:gd name="connsiteY1" fmla="*/ 137160 h 153115"/>
                <a:gd name="connsiteX2" fmla="*/ 0 w 251460"/>
                <a:gd name="connsiteY2" fmla="*/ 144780 h 15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460" h="153115">
                  <a:moveTo>
                    <a:pt x="251460" y="0"/>
                  </a:moveTo>
                  <a:cubicBezTo>
                    <a:pt x="238125" y="56515"/>
                    <a:pt x="224790" y="113030"/>
                    <a:pt x="182880" y="137160"/>
                  </a:cubicBezTo>
                  <a:cubicBezTo>
                    <a:pt x="140970" y="161290"/>
                    <a:pt x="70485" y="153035"/>
                    <a:pt x="0" y="144780"/>
                  </a:cubicBezTo>
                </a:path>
              </a:pathLst>
            </a:custGeom>
            <a:noFill/>
            <a:ln w="1270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 29">
              <a:extLst>
                <a:ext uri="{FF2B5EF4-FFF2-40B4-BE49-F238E27FC236}">
                  <a16:creationId xmlns:a16="http://schemas.microsoft.com/office/drawing/2014/main" id="{C57E56AA-BEF6-4877-823E-3D76123F7513}"/>
                </a:ext>
              </a:extLst>
            </p:cNvPr>
            <p:cNvSpPr/>
            <p:nvPr/>
          </p:nvSpPr>
          <p:spPr>
            <a:xfrm flipH="1">
              <a:off x="1388728" y="4548660"/>
              <a:ext cx="241412" cy="153115"/>
            </a:xfrm>
            <a:custGeom>
              <a:avLst/>
              <a:gdLst>
                <a:gd name="connsiteX0" fmla="*/ 251460 w 251460"/>
                <a:gd name="connsiteY0" fmla="*/ 0 h 153115"/>
                <a:gd name="connsiteX1" fmla="*/ 182880 w 251460"/>
                <a:gd name="connsiteY1" fmla="*/ 137160 h 153115"/>
                <a:gd name="connsiteX2" fmla="*/ 0 w 251460"/>
                <a:gd name="connsiteY2" fmla="*/ 144780 h 15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1460" h="153115">
                  <a:moveTo>
                    <a:pt x="251460" y="0"/>
                  </a:moveTo>
                  <a:cubicBezTo>
                    <a:pt x="238125" y="56515"/>
                    <a:pt x="224790" y="113030"/>
                    <a:pt x="182880" y="137160"/>
                  </a:cubicBezTo>
                  <a:cubicBezTo>
                    <a:pt x="140970" y="161290"/>
                    <a:pt x="70485" y="153035"/>
                    <a:pt x="0" y="144780"/>
                  </a:cubicBezTo>
                </a:path>
              </a:pathLst>
            </a:custGeom>
            <a:noFill/>
            <a:ln w="1270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4D9D16F-67D4-4EC3-9368-8EEA041F6F3B}"/>
                </a:ext>
              </a:extLst>
            </p:cNvPr>
            <p:cNvSpPr/>
            <p:nvPr/>
          </p:nvSpPr>
          <p:spPr>
            <a:xfrm>
              <a:off x="504675" y="4210442"/>
              <a:ext cx="415877" cy="1566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kumimoji="1" lang="ko-KR" altLang="en-US" sz="800" dirty="0">
                  <a:solidFill>
                    <a:prstClr val="black"/>
                  </a:solidFill>
                </a:rPr>
                <a:t>대류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43266AF-68BC-4400-B7F8-6E0B4E45EA97}"/>
                </a:ext>
              </a:extLst>
            </p:cNvPr>
            <p:cNvSpPr/>
            <p:nvPr/>
          </p:nvSpPr>
          <p:spPr>
            <a:xfrm>
              <a:off x="1728811" y="4210442"/>
              <a:ext cx="415877" cy="1566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kumimoji="1" lang="ko-KR" altLang="en-US" sz="800" dirty="0">
                  <a:solidFill>
                    <a:prstClr val="black"/>
                  </a:solidFill>
                </a:rPr>
                <a:t>복사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31CE75C-CF2F-4989-AEFF-CB323553F946}"/>
                </a:ext>
              </a:extLst>
            </p:cNvPr>
            <p:cNvSpPr/>
            <p:nvPr/>
          </p:nvSpPr>
          <p:spPr>
            <a:xfrm>
              <a:off x="1076143" y="4695984"/>
              <a:ext cx="415877" cy="1566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kumimoji="1" lang="ko-KR" altLang="en-US" sz="800" dirty="0">
                  <a:solidFill>
                    <a:prstClr val="black"/>
                  </a:solidFill>
                </a:rPr>
                <a:t>전도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540679-DFFB-4197-A5E6-B5E7440E02F3}"/>
              </a:ext>
            </a:extLst>
          </p:cNvPr>
          <p:cNvSpPr/>
          <p:nvPr/>
        </p:nvSpPr>
        <p:spPr>
          <a:xfrm>
            <a:off x="293440" y="5203704"/>
            <a:ext cx="1910948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 err="1">
                <a:solidFill>
                  <a:prstClr val="black"/>
                </a:solidFill>
              </a:rPr>
              <a:t>커패시터</a:t>
            </a:r>
            <a:r>
              <a:rPr kumimoji="1" lang="ko-KR" altLang="en-US" sz="800" dirty="0">
                <a:solidFill>
                  <a:prstClr val="black"/>
                </a:solidFill>
              </a:rPr>
              <a:t> 방열 경로 확보</a:t>
            </a:r>
          </a:p>
        </p:txBody>
      </p:sp>
      <p:sp>
        <p:nvSpPr>
          <p:cNvPr id="22" name="자유형 38">
            <a:extLst>
              <a:ext uri="{FF2B5EF4-FFF2-40B4-BE49-F238E27FC236}">
                <a16:creationId xmlns:a16="http://schemas.microsoft.com/office/drawing/2014/main" id="{5FCB1E59-EB72-4CB5-80FF-65BB6AA6ADC3}"/>
              </a:ext>
            </a:extLst>
          </p:cNvPr>
          <p:cNvSpPr/>
          <p:nvPr/>
        </p:nvSpPr>
        <p:spPr>
          <a:xfrm>
            <a:off x="2769653" y="4268702"/>
            <a:ext cx="491995" cy="661240"/>
          </a:xfrm>
          <a:custGeom>
            <a:avLst/>
            <a:gdLst>
              <a:gd name="connsiteX0" fmla="*/ 9525 w 595313"/>
              <a:gd name="connsiteY0" fmla="*/ 0 h 800100"/>
              <a:gd name="connsiteX1" fmla="*/ 590550 w 595313"/>
              <a:gd name="connsiteY1" fmla="*/ 0 h 800100"/>
              <a:gd name="connsiteX2" fmla="*/ 590550 w 595313"/>
              <a:gd name="connsiteY2" fmla="*/ 695325 h 800100"/>
              <a:gd name="connsiteX3" fmla="*/ 528638 w 595313"/>
              <a:gd name="connsiteY3" fmla="*/ 695325 h 800100"/>
              <a:gd name="connsiteX4" fmla="*/ 528638 w 595313"/>
              <a:gd name="connsiteY4" fmla="*/ 747713 h 800100"/>
              <a:gd name="connsiteX5" fmla="*/ 595313 w 595313"/>
              <a:gd name="connsiteY5" fmla="*/ 747713 h 800100"/>
              <a:gd name="connsiteX6" fmla="*/ 595313 w 595313"/>
              <a:gd name="connsiteY6" fmla="*/ 800100 h 800100"/>
              <a:gd name="connsiteX7" fmla="*/ 0 w 595313"/>
              <a:gd name="connsiteY7" fmla="*/ 800100 h 800100"/>
              <a:gd name="connsiteX8" fmla="*/ 0 w 595313"/>
              <a:gd name="connsiteY8" fmla="*/ 747713 h 800100"/>
              <a:gd name="connsiteX9" fmla="*/ 61913 w 595313"/>
              <a:gd name="connsiteY9" fmla="*/ 747713 h 800100"/>
              <a:gd name="connsiteX10" fmla="*/ 61913 w 595313"/>
              <a:gd name="connsiteY10" fmla="*/ 704850 h 800100"/>
              <a:gd name="connsiteX11" fmla="*/ 9525 w 595313"/>
              <a:gd name="connsiteY11" fmla="*/ 704850 h 800100"/>
              <a:gd name="connsiteX12" fmla="*/ 9525 w 595313"/>
              <a:gd name="connsiteY12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313" h="800100">
                <a:moveTo>
                  <a:pt x="9525" y="0"/>
                </a:moveTo>
                <a:lnTo>
                  <a:pt x="590550" y="0"/>
                </a:lnTo>
                <a:lnTo>
                  <a:pt x="590550" y="695325"/>
                </a:lnTo>
                <a:lnTo>
                  <a:pt x="528638" y="695325"/>
                </a:lnTo>
                <a:lnTo>
                  <a:pt x="528638" y="747713"/>
                </a:lnTo>
                <a:lnTo>
                  <a:pt x="595313" y="747713"/>
                </a:lnTo>
                <a:lnTo>
                  <a:pt x="595313" y="800100"/>
                </a:lnTo>
                <a:lnTo>
                  <a:pt x="0" y="800100"/>
                </a:lnTo>
                <a:lnTo>
                  <a:pt x="0" y="747713"/>
                </a:lnTo>
                <a:lnTo>
                  <a:pt x="61913" y="747713"/>
                </a:lnTo>
                <a:lnTo>
                  <a:pt x="61913" y="704850"/>
                </a:lnTo>
                <a:lnTo>
                  <a:pt x="9525" y="704850"/>
                </a:lnTo>
                <a:lnTo>
                  <a:pt x="952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kumimoji="1" lang="en-US" altLang="ko-KR" sz="1050" dirty="0">
                <a:solidFill>
                  <a:prstClr val="black"/>
                </a:solidFill>
              </a:rPr>
              <a:t>CAP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C720B0-ABBB-40E9-A3C6-CED652B5C864}"/>
              </a:ext>
            </a:extLst>
          </p:cNvPr>
          <p:cNvSpPr/>
          <p:nvPr/>
        </p:nvSpPr>
        <p:spPr>
          <a:xfrm>
            <a:off x="2235416" y="4929942"/>
            <a:ext cx="2091112" cy="6141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75EB45C-E0E2-4302-96A7-6EC899C9EF29}"/>
              </a:ext>
            </a:extLst>
          </p:cNvPr>
          <p:cNvGrpSpPr/>
          <p:nvPr/>
        </p:nvGrpSpPr>
        <p:grpSpPr>
          <a:xfrm>
            <a:off x="3573808" y="4275040"/>
            <a:ext cx="191896" cy="654902"/>
            <a:chOff x="3537877" y="4084512"/>
            <a:chExt cx="191896" cy="65490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6147CA-CD3B-400A-B092-21D5AC7BE3B7}"/>
                </a:ext>
              </a:extLst>
            </p:cNvPr>
            <p:cNvSpPr/>
            <p:nvPr/>
          </p:nvSpPr>
          <p:spPr>
            <a:xfrm>
              <a:off x="3537877" y="4084512"/>
              <a:ext cx="191896" cy="43280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AC9B25-BD58-47AF-AFA2-96D34C17980C}"/>
                </a:ext>
              </a:extLst>
            </p:cNvPr>
            <p:cNvSpPr/>
            <p:nvPr/>
          </p:nvSpPr>
          <p:spPr>
            <a:xfrm>
              <a:off x="3612945" y="4517317"/>
              <a:ext cx="41763" cy="2220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자유형 48">
            <a:extLst>
              <a:ext uri="{FF2B5EF4-FFF2-40B4-BE49-F238E27FC236}">
                <a16:creationId xmlns:a16="http://schemas.microsoft.com/office/drawing/2014/main" id="{19FFC20A-0B67-451C-9C12-98D5E582D207}"/>
              </a:ext>
            </a:extLst>
          </p:cNvPr>
          <p:cNvSpPr/>
          <p:nvPr/>
        </p:nvSpPr>
        <p:spPr>
          <a:xfrm rot="12600000">
            <a:off x="3320248" y="4417416"/>
            <a:ext cx="213360" cy="259080"/>
          </a:xfrm>
          <a:custGeom>
            <a:avLst/>
            <a:gdLst>
              <a:gd name="connsiteX0" fmla="*/ 0 w 213360"/>
              <a:gd name="connsiteY0" fmla="*/ 259080 h 259080"/>
              <a:gd name="connsiteX1" fmla="*/ 83820 w 213360"/>
              <a:gd name="connsiteY1" fmla="*/ 60960 h 259080"/>
              <a:gd name="connsiteX2" fmla="*/ 99060 w 213360"/>
              <a:gd name="connsiteY2" fmla="*/ 190500 h 259080"/>
              <a:gd name="connsiteX3" fmla="*/ 213360 w 213360"/>
              <a:gd name="connsiteY3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60" h="259080">
                <a:moveTo>
                  <a:pt x="0" y="259080"/>
                </a:moveTo>
                <a:lnTo>
                  <a:pt x="83820" y="60960"/>
                </a:lnTo>
                <a:lnTo>
                  <a:pt x="99060" y="190500"/>
                </a:lnTo>
                <a:lnTo>
                  <a:pt x="213360" y="0"/>
                </a:lnTo>
              </a:path>
            </a:pathLst>
          </a:custGeom>
          <a:noFill/>
          <a:ln w="127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 49">
            <a:extLst>
              <a:ext uri="{FF2B5EF4-FFF2-40B4-BE49-F238E27FC236}">
                <a16:creationId xmlns:a16="http://schemas.microsoft.com/office/drawing/2014/main" id="{DDFFA761-D067-41EC-9825-665F433A527C}"/>
              </a:ext>
            </a:extLst>
          </p:cNvPr>
          <p:cNvSpPr/>
          <p:nvPr/>
        </p:nvSpPr>
        <p:spPr>
          <a:xfrm>
            <a:off x="2657019" y="4812298"/>
            <a:ext cx="251460" cy="153115"/>
          </a:xfrm>
          <a:custGeom>
            <a:avLst/>
            <a:gdLst>
              <a:gd name="connsiteX0" fmla="*/ 251460 w 251460"/>
              <a:gd name="connsiteY0" fmla="*/ 0 h 153115"/>
              <a:gd name="connsiteX1" fmla="*/ 182880 w 251460"/>
              <a:gd name="connsiteY1" fmla="*/ 137160 h 153115"/>
              <a:gd name="connsiteX2" fmla="*/ 0 w 251460"/>
              <a:gd name="connsiteY2" fmla="*/ 144780 h 15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153115">
                <a:moveTo>
                  <a:pt x="251460" y="0"/>
                </a:moveTo>
                <a:cubicBezTo>
                  <a:pt x="238125" y="56515"/>
                  <a:pt x="224790" y="113030"/>
                  <a:pt x="182880" y="137160"/>
                </a:cubicBezTo>
                <a:cubicBezTo>
                  <a:pt x="140970" y="161290"/>
                  <a:pt x="70485" y="153035"/>
                  <a:pt x="0" y="14478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50">
            <a:extLst>
              <a:ext uri="{FF2B5EF4-FFF2-40B4-BE49-F238E27FC236}">
                <a16:creationId xmlns:a16="http://schemas.microsoft.com/office/drawing/2014/main" id="{2E2A6D15-72D0-4FA2-A205-371F74FF9B7A}"/>
              </a:ext>
            </a:extLst>
          </p:cNvPr>
          <p:cNvSpPr/>
          <p:nvPr/>
        </p:nvSpPr>
        <p:spPr>
          <a:xfrm flipH="1">
            <a:off x="3120444" y="4822304"/>
            <a:ext cx="241412" cy="153115"/>
          </a:xfrm>
          <a:custGeom>
            <a:avLst/>
            <a:gdLst>
              <a:gd name="connsiteX0" fmla="*/ 251460 w 251460"/>
              <a:gd name="connsiteY0" fmla="*/ 0 h 153115"/>
              <a:gd name="connsiteX1" fmla="*/ 182880 w 251460"/>
              <a:gd name="connsiteY1" fmla="*/ 137160 h 153115"/>
              <a:gd name="connsiteX2" fmla="*/ 0 w 251460"/>
              <a:gd name="connsiteY2" fmla="*/ 144780 h 15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153115">
                <a:moveTo>
                  <a:pt x="251460" y="0"/>
                </a:moveTo>
                <a:cubicBezTo>
                  <a:pt x="238125" y="56515"/>
                  <a:pt x="224790" y="113030"/>
                  <a:pt x="182880" y="137160"/>
                </a:cubicBezTo>
                <a:cubicBezTo>
                  <a:pt x="140970" y="161290"/>
                  <a:pt x="70485" y="153035"/>
                  <a:pt x="0" y="14478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69C3BC8-3584-469E-BCF4-69ED6B92E3C9}"/>
              </a:ext>
            </a:extLst>
          </p:cNvPr>
          <p:cNvSpPr/>
          <p:nvPr/>
        </p:nvSpPr>
        <p:spPr>
          <a:xfrm>
            <a:off x="2825273" y="4961392"/>
            <a:ext cx="415877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>
                <a:solidFill>
                  <a:prstClr val="black"/>
                </a:solidFill>
              </a:rPr>
              <a:t>전도</a:t>
            </a:r>
          </a:p>
        </p:txBody>
      </p:sp>
      <p:sp>
        <p:nvSpPr>
          <p:cNvPr id="31" name="자유형 52">
            <a:extLst>
              <a:ext uri="{FF2B5EF4-FFF2-40B4-BE49-F238E27FC236}">
                <a16:creationId xmlns:a16="http://schemas.microsoft.com/office/drawing/2014/main" id="{6F8F5A6D-2EEC-4049-9F7B-069319E0676B}"/>
              </a:ext>
            </a:extLst>
          </p:cNvPr>
          <p:cNvSpPr/>
          <p:nvPr/>
        </p:nvSpPr>
        <p:spPr>
          <a:xfrm rot="16479852" flipH="1">
            <a:off x="3469277" y="4793084"/>
            <a:ext cx="241412" cy="153115"/>
          </a:xfrm>
          <a:custGeom>
            <a:avLst/>
            <a:gdLst>
              <a:gd name="connsiteX0" fmla="*/ 251460 w 251460"/>
              <a:gd name="connsiteY0" fmla="*/ 0 h 153115"/>
              <a:gd name="connsiteX1" fmla="*/ 182880 w 251460"/>
              <a:gd name="connsiteY1" fmla="*/ 137160 h 153115"/>
              <a:gd name="connsiteX2" fmla="*/ 0 w 251460"/>
              <a:gd name="connsiteY2" fmla="*/ 144780 h 15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153115">
                <a:moveTo>
                  <a:pt x="251460" y="0"/>
                </a:moveTo>
                <a:cubicBezTo>
                  <a:pt x="238125" y="56515"/>
                  <a:pt x="224790" y="113030"/>
                  <a:pt x="182880" y="137160"/>
                </a:cubicBezTo>
                <a:cubicBezTo>
                  <a:pt x="140970" y="161290"/>
                  <a:pt x="70485" y="153035"/>
                  <a:pt x="0" y="14478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34B41D-B56C-470C-8902-8E7869D17BF2}"/>
              </a:ext>
            </a:extLst>
          </p:cNvPr>
          <p:cNvSpPr/>
          <p:nvPr/>
        </p:nvSpPr>
        <p:spPr>
          <a:xfrm>
            <a:off x="3194155" y="4317384"/>
            <a:ext cx="415877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>
                <a:solidFill>
                  <a:prstClr val="black"/>
                </a:solidFill>
              </a:rPr>
              <a:t>복사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5F4039-2E2F-4C95-968D-71433CF7FF32}"/>
              </a:ext>
            </a:extLst>
          </p:cNvPr>
          <p:cNvSpPr/>
          <p:nvPr/>
        </p:nvSpPr>
        <p:spPr>
          <a:xfrm>
            <a:off x="2262371" y="5203704"/>
            <a:ext cx="1910948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>
                <a:solidFill>
                  <a:prstClr val="black"/>
                </a:solidFill>
              </a:rPr>
              <a:t>발열 부품</a:t>
            </a:r>
            <a:r>
              <a:rPr kumimoji="1" lang="en-US" altLang="ko-KR" sz="800" dirty="0">
                <a:solidFill>
                  <a:prstClr val="black"/>
                </a:solidFill>
              </a:rPr>
              <a:t>, </a:t>
            </a:r>
            <a:r>
              <a:rPr kumimoji="1" lang="ko-KR" altLang="en-US" sz="800" dirty="0">
                <a:solidFill>
                  <a:prstClr val="black"/>
                </a:solidFill>
              </a:rPr>
              <a:t>패턴으로 인한 온도상승</a:t>
            </a:r>
          </a:p>
        </p:txBody>
      </p:sp>
      <p:sp>
        <p:nvSpPr>
          <p:cNvPr id="34" name="자유형 57">
            <a:extLst>
              <a:ext uri="{FF2B5EF4-FFF2-40B4-BE49-F238E27FC236}">
                <a16:creationId xmlns:a16="http://schemas.microsoft.com/office/drawing/2014/main" id="{3335ABAA-CE02-46CB-B519-639F4FBD6AC2}"/>
              </a:ext>
            </a:extLst>
          </p:cNvPr>
          <p:cNvSpPr/>
          <p:nvPr/>
        </p:nvSpPr>
        <p:spPr>
          <a:xfrm>
            <a:off x="2570273" y="4321680"/>
            <a:ext cx="162115" cy="525780"/>
          </a:xfrm>
          <a:custGeom>
            <a:avLst/>
            <a:gdLst>
              <a:gd name="connsiteX0" fmla="*/ 0 w 162115"/>
              <a:gd name="connsiteY0" fmla="*/ 525780 h 525780"/>
              <a:gd name="connsiteX1" fmla="*/ 114300 w 162115"/>
              <a:gd name="connsiteY1" fmla="*/ 411480 h 525780"/>
              <a:gd name="connsiteX2" fmla="*/ 160020 w 162115"/>
              <a:gd name="connsiteY2" fmla="*/ 251460 h 525780"/>
              <a:gd name="connsiteX3" fmla="*/ 144780 w 162115"/>
              <a:gd name="connsiteY3" fmla="*/ 106680 h 525780"/>
              <a:gd name="connsiteX4" fmla="*/ 60960 w 162115"/>
              <a:gd name="connsiteY4" fmla="*/ 0 h 52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15" h="525780">
                <a:moveTo>
                  <a:pt x="0" y="525780"/>
                </a:moveTo>
                <a:cubicBezTo>
                  <a:pt x="43815" y="491490"/>
                  <a:pt x="87630" y="457200"/>
                  <a:pt x="114300" y="411480"/>
                </a:cubicBezTo>
                <a:cubicBezTo>
                  <a:pt x="140970" y="365760"/>
                  <a:pt x="154940" y="302260"/>
                  <a:pt x="160020" y="251460"/>
                </a:cubicBezTo>
                <a:cubicBezTo>
                  <a:pt x="165100" y="200660"/>
                  <a:pt x="161290" y="148590"/>
                  <a:pt x="144780" y="106680"/>
                </a:cubicBezTo>
                <a:cubicBezTo>
                  <a:pt x="128270" y="64770"/>
                  <a:pt x="94615" y="32385"/>
                  <a:pt x="60960" y="0"/>
                </a:cubicBezTo>
              </a:path>
            </a:pathLst>
          </a:custGeom>
          <a:noFill/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6B5867-21A7-49A3-A92E-5F0BC2774DB9}"/>
              </a:ext>
            </a:extLst>
          </p:cNvPr>
          <p:cNvSpPr/>
          <p:nvPr/>
        </p:nvSpPr>
        <p:spPr>
          <a:xfrm>
            <a:off x="2274848" y="4474080"/>
            <a:ext cx="415877" cy="156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ko-KR" altLang="en-US" sz="800" dirty="0">
                <a:solidFill>
                  <a:prstClr val="black"/>
                </a:solidFill>
              </a:rPr>
              <a:t>대류</a:t>
            </a:r>
          </a:p>
        </p:txBody>
      </p:sp>
    </p:spTree>
    <p:extLst>
      <p:ext uri="{BB962C8B-B14F-4D97-AF65-F5344CB8AC3E}">
        <p14:creationId xmlns:p14="http://schemas.microsoft.com/office/powerpoint/2010/main" val="33540133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wrap="square" rtlCol="0" anchor="ctr">
        <a:noAutofit/>
      </a:bodyPr>
      <a:lstStyle>
        <a:defPPr algn="ctr">
          <a:spcBef>
            <a:spcPts val="600"/>
          </a:spcBef>
          <a:defRPr sz="1000" b="0" dirty="0">
            <a:latin typeface="+mj-ea"/>
            <a:ea typeface="+mj-ea"/>
          </a:defRPr>
        </a:defPPr>
      </a:lstStyle>
    </a:spDef>
    <a:lnDef>
      <a:spPr>
        <a:ln>
          <a:solidFill>
            <a:srgbClr val="0000FF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00"/>
        </a:solidFill>
        <a:ln>
          <a:solidFill>
            <a:srgbClr val="FF0000"/>
          </a:solidFill>
        </a:ln>
      </a:spPr>
      <a:bodyPr wrap="none" rtlCol="0">
        <a:spAutoFit/>
      </a:bodyPr>
      <a:lstStyle>
        <a:defPPr>
          <a:defRPr sz="1000" b="0" dirty="0" smtClean="0">
            <a:latin typeface="+mj-ea"/>
            <a:ea typeface="+mj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24661</TotalTime>
  <Words>13513</Words>
  <Application>Microsoft Office PowerPoint</Application>
  <PresentationFormat>A4 용지(210x297mm)</PresentationFormat>
  <Paragraphs>2358</Paragraphs>
  <Slides>82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91" baseType="lpstr">
      <vt:lpstr>현대하모니 M</vt:lpstr>
      <vt:lpstr>현대하모니 L</vt:lpstr>
      <vt:lpstr>굴림</vt:lpstr>
      <vt:lpstr>현대하모니 B</vt:lpstr>
      <vt:lpstr>맑은 고딕</vt:lpstr>
      <vt:lpstr>Wingdings</vt:lpstr>
      <vt:lpstr>Arial</vt:lpstr>
      <vt:lpstr>2_Office 테마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고전압 절연 설계</vt:lpstr>
      <vt:lpstr>고전압 절연 설계</vt:lpstr>
      <vt:lpstr>고전압 절연 설계</vt:lpstr>
      <vt:lpstr>고전압 절연 설계</vt:lpstr>
      <vt:lpstr>고전압 절연 설계</vt:lpstr>
      <vt:lpstr>고전압 패턴 설계</vt:lpstr>
      <vt:lpstr>고전압 패턴 설계</vt:lpstr>
      <vt:lpstr>고전압 패턴 설계</vt:lpstr>
      <vt:lpstr>고전압 패턴 설계</vt:lpstr>
      <vt:lpstr>PowerPoint 프레젠테이션</vt:lpstr>
      <vt:lpstr>고전압 써지 설계</vt:lpstr>
      <vt:lpstr>고전압 써지 설계</vt:lpstr>
      <vt:lpstr>고전압 소자 조립성</vt:lpstr>
      <vt:lpstr>고전압 소자 조립성</vt:lpstr>
      <vt:lpstr>고전압 소자 조립성</vt:lpstr>
      <vt:lpstr>고전압 소자 조립성</vt:lpstr>
      <vt:lpstr>고전압 패턴 설계</vt:lpstr>
      <vt:lpstr>고전압 패턴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Junsick</dc:creator>
  <cp:lastModifiedBy>cts00</cp:lastModifiedBy>
  <cp:revision>1438</cp:revision>
  <cp:lastPrinted>2025-04-16T06:16:56Z</cp:lastPrinted>
  <dcterms:created xsi:type="dcterms:W3CDTF">2012-06-03T16:57:30Z</dcterms:created>
  <dcterms:modified xsi:type="dcterms:W3CDTF">2025-04-16T08:37:02Z</dcterms:modified>
</cp:coreProperties>
</file>