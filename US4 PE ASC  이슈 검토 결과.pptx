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91827" r:id="rId1"/>
  </p:sldMasterIdLst>
  <p:notesMasterIdLst>
    <p:notesMasterId r:id="rId4"/>
  </p:notesMasterIdLst>
  <p:sldIdLst>
    <p:sldId id="400" r:id="rId2"/>
    <p:sldId id="401" r:id="rId3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2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9"/>
    <a:srgbClr val="0000FF"/>
    <a:srgbClr val="CCFFFF"/>
    <a:srgbClr val="C4E59F"/>
    <a:srgbClr val="0000F2"/>
    <a:srgbClr val="CCECFF"/>
    <a:srgbClr val="C6EFCE"/>
    <a:srgbClr val="FFCC00"/>
    <a:srgbClr val="FFC7CE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0" autoAdjust="0"/>
    <p:restoredTop sz="99805" autoAdjust="0"/>
  </p:normalViewPr>
  <p:slideViewPr>
    <p:cSldViewPr>
      <p:cViewPr varScale="1">
        <p:scale>
          <a:sx n="109" d="100"/>
          <a:sy n="109" d="100"/>
        </p:scale>
        <p:origin x="1074" y="108"/>
      </p:cViewPr>
      <p:guideLst>
        <p:guide orient="horz" pos="2387"/>
        <p:guide pos="52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6125"/>
            <a:ext cx="537527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03523BC-CF62-4675-9285-114EB2255E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7620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1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934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2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523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 userDrawn="1"/>
        </p:nvSpPr>
        <p:spPr>
          <a:xfrm>
            <a:off x="0" y="0"/>
            <a:ext cx="9906000" cy="6207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dirty="0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3" name="직선 연결선 6"/>
          <p:cNvCxnSpPr/>
          <p:nvPr userDrawn="1"/>
        </p:nvCxnSpPr>
        <p:spPr>
          <a:xfrm>
            <a:off x="0" y="523875"/>
            <a:ext cx="9906000" cy="0"/>
          </a:xfrm>
          <a:prstGeom prst="line">
            <a:avLst/>
          </a:prstGeom>
          <a:solidFill>
            <a:schemeClr val="accent1">
              <a:alpha val="77000"/>
            </a:schemeClr>
          </a:solidFill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1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1F497D"/>
              </a:clrFrom>
              <a:clrTo>
                <a:srgbClr val="1F49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013" y="76200"/>
            <a:ext cx="588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678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1080445" y="-11113"/>
            <a:ext cx="3118546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6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DDS Active Rear Spoiler (JKs)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7B8A0-5AA3-49CD-AC62-F2887AD80A6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6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23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665663" y="6381750"/>
            <a:ext cx="428625" cy="365125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fld id="{EF9CFE5C-130B-4719-8929-8528935BB4B3}" type="slidenum">
              <a:rPr kumimoji="0" lang="ko-KR" altLang="en-US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endParaRPr kumimoji="0" lang="ko-KR" altLang="en-US" sz="1200" smtClean="0">
              <a:solidFill>
                <a:srgbClr val="89898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007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828" r:id="rId1"/>
    <p:sldLayoutId id="2147491841" r:id="rId2"/>
    <p:sldLayoutId id="2147491842" r:id="rId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제목 1"/>
          <p:cNvSpPr txBox="1">
            <a:spLocks/>
          </p:cNvSpPr>
          <p:nvPr/>
        </p:nvSpPr>
        <p:spPr>
          <a:xfrm>
            <a:off x="109538" y="58738"/>
            <a:ext cx="7003702" cy="41751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kumimoji="0" lang="en-US" altLang="ko-KR" sz="2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 PE ASC</a:t>
            </a:r>
            <a:r>
              <a:rPr kumimoji="0" lang="ko-KR" altLang="en-US" sz="2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2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제어기 검토 결과</a:t>
            </a:r>
            <a:endParaRPr kumimoji="0" lang="ko-KR" altLang="en-US" sz="2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dirty="0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44488" y="1048549"/>
                <a:ext cx="9288462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3. PSD </a:t>
                </a:r>
                <a:r>
                  <a:rPr lang="ko-KR" altLang="en-US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덜 닫힌 상태에서</a:t>
                </a:r>
                <a:r>
                  <a:rPr lang="en-US" altLang="ko-KR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, R</a:t>
                </a:r>
                <a:r>
                  <a:rPr lang="ko-KR" altLang="en-US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단 후진</a:t>
                </a:r>
                <a:r>
                  <a:rPr lang="en-US" altLang="ko-KR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(</a:t>
                </a:r>
                <a:r>
                  <a:rPr lang="ko-KR" altLang="en-US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시속 </a:t>
                </a:r>
                <a:r>
                  <a:rPr lang="en-US" altLang="ko-KR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10KM/h)</a:t>
                </a:r>
                <a:r>
                  <a:rPr lang="ko-KR" altLang="en-US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시 스텝 </a:t>
                </a:r>
                <a:r>
                  <a:rPr lang="ko-KR" altLang="en-US" sz="2000" strike="sngStrike" dirty="0" err="1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안닫힘</a:t>
                </a:r>
                <a:r>
                  <a:rPr lang="ko-KR" altLang="en-US" sz="20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20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문제</a:t>
                </a:r>
                <a:endParaRPr lang="en-US" altLang="ko-KR" sz="2000" strike="sngStrike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sz="1500" strike="sngStrike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r>
                  <a:rPr lang="en-US" altLang="ko-KR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26.01.27 </a:t>
                </a:r>
                <a:r>
                  <a:rPr lang="ko-KR" altLang="en-US" sz="1500" strike="sngStrike" dirty="0" err="1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용도차</a:t>
                </a:r>
                <a:r>
                  <a:rPr lang="ko-KR" altLang="en-US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점검 결과</a:t>
                </a:r>
                <a:endParaRPr lang="en-US" altLang="ko-KR" sz="1500" strike="sngStrike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PSD </a:t>
                </a:r>
                <a:r>
                  <a:rPr lang="ko-KR" altLang="en-US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닫힘</a:t>
                </a:r>
                <a:r>
                  <a:rPr lang="en-US" altLang="ko-KR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동작 중 </a:t>
                </a:r>
                <a:r>
                  <a:rPr lang="en-US" altLang="ko-KR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R/D</a:t>
                </a:r>
                <a:r>
                  <a:rPr lang="ko-KR" altLang="en-US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단 </a:t>
                </a:r>
                <a:r>
                  <a:rPr lang="en-US" altLang="ko-KR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&amp;</a:t>
                </a:r>
                <a:r>
                  <a:rPr lang="ko-KR" altLang="en-US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휠 속도 </a:t>
                </a:r>
                <a14:m>
                  <m:oMath xmlns:m="http://schemas.openxmlformats.org/officeDocument/2006/math">
                    <m:r>
                      <a:rPr lang="en-US" altLang="ko-KR" sz="1500" i="1" strike="sngStrike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ko-KR" sz="1500" strike="sngStrike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3km/h </a:t>
                </a:r>
                <a:r>
                  <a:rPr lang="ko-KR" altLang="en-US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시</a:t>
                </a:r>
                <a:r>
                  <a:rPr lang="en-US" altLang="ko-KR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→</a:t>
                </a:r>
                <a:r>
                  <a:rPr lang="en-US" altLang="ko-KR" sz="1500" strike="sngStrike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en-US" altLang="ko-KR" sz="1500" strike="sngStrike" dirty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STEP CLOSE </a:t>
                </a:r>
                <a:r>
                  <a:rPr lang="ko-KR" altLang="en-US" sz="1500" strike="sngStrike" dirty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정상 </a:t>
                </a:r>
                <a:r>
                  <a:rPr lang="ko-KR" altLang="en-US" sz="1500" strike="sngStrike" dirty="0" smtClean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동작 </a:t>
                </a:r>
                <a:r>
                  <a:rPr lang="en-US" altLang="ko-KR" sz="1500" strike="sngStrike" dirty="0" smtClean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(</a:t>
                </a:r>
                <a:r>
                  <a:rPr lang="ko-KR" altLang="en-US" sz="1500" strike="sngStrike" dirty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재현 불가</a:t>
                </a:r>
                <a:r>
                  <a:rPr lang="en-US" altLang="ko-KR" sz="1500" strike="sngStrike" dirty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)</a:t>
                </a:r>
                <a:r>
                  <a:rPr lang="ko-KR" altLang="en-US" sz="1500" strike="sngStrike" dirty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endParaRPr lang="en-US" altLang="ko-KR" sz="1500" strike="sngStrike" dirty="0" smtClean="0">
                  <a:solidFill>
                    <a:srgbClr val="0000FF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sz="15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sz="1500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r>
                  <a:rPr lang="en-US" altLang="ko-KR" sz="2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4. </a:t>
                </a:r>
                <a:r>
                  <a:rPr lang="ko-KR" altLang="en-US" sz="2000" dirty="0" err="1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암전류</a:t>
                </a:r>
                <a:r>
                  <a:rPr lang="ko-KR" altLang="en-US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2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평가 조건 </a:t>
                </a:r>
                <a:r>
                  <a:rPr lang="en-US" altLang="ko-KR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"</a:t>
                </a:r>
                <a:r>
                  <a:rPr lang="ko-KR" altLang="en-US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시동 </a:t>
                </a:r>
                <a:r>
                  <a:rPr lang="en-US" altLang="ko-KR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off &amp; </a:t>
                </a:r>
                <a:r>
                  <a:rPr lang="ko-KR" altLang="en-US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도어 </a:t>
                </a:r>
                <a:r>
                  <a:rPr lang="en-US" altLang="ko-KR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open" spec </a:t>
                </a:r>
                <a:r>
                  <a:rPr lang="ko-KR" altLang="en-US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초과 </a:t>
                </a:r>
                <a:r>
                  <a:rPr lang="en-US" altLang="ko-KR" sz="2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(40mA</a:t>
                </a:r>
                <a:r>
                  <a:rPr lang="en-US" altLang="ko-KR" sz="2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)</a:t>
                </a:r>
                <a:endParaRPr lang="en-US" altLang="ko-KR" sz="20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b="1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r>
                  <a:rPr lang="en-US" altLang="ko-KR" sz="1500" b="1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 </a:t>
                </a:r>
                <a:r>
                  <a:rPr lang="en-US" altLang="ko-KR" sz="15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26.01.27 </a:t>
                </a:r>
                <a:r>
                  <a:rPr lang="ko-KR" altLang="en-US" sz="1500" dirty="0" err="1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용도차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15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점검 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결과</a:t>
                </a:r>
                <a:endParaRPr lang="en-US" altLang="ko-KR" sz="1500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IGN OFF &amp; DOOR OPEN 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시 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Sleep Mode 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진입 여부 확인 → 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Sleep </a:t>
                </a:r>
                <a:r>
                  <a:rPr lang="ko-KR" altLang="en-US" sz="1500" dirty="0" smtClean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진입 가능 하나 기존대비 </a:t>
                </a:r>
                <a:r>
                  <a:rPr lang="ko-KR" altLang="en-US" sz="1500" dirty="0" err="1" smtClean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암전류</a:t>
                </a:r>
                <a:r>
                  <a:rPr lang="ko-KR" altLang="en-US" sz="1500" dirty="0" smtClean="0">
                    <a:solidFill>
                      <a:srgbClr val="0000FF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값 증가</a:t>
                </a:r>
                <a:endParaRPr lang="en-US" altLang="ko-KR" sz="1500" dirty="0" smtClean="0">
                  <a:solidFill>
                    <a:srgbClr val="0000FF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위 조건 시 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STEP OPEN 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동작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및 동작 완료 후 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10s 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지속 시 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Sleep Mode 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진입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.(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약 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5mA)</a:t>
                </a:r>
                <a:endParaRPr lang="en-US" altLang="ko-KR" sz="15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sz="2000" b="1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sz="2000" b="1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* JG_ASC</a:t>
                </a:r>
                <a:r>
                  <a:rPr lang="ko-KR" altLang="en-US" sz="15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– US4 PE_ASC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1500" dirty="0" err="1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로직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비교</a:t>
                </a:r>
                <a:endParaRPr lang="en-US" altLang="ko-KR" sz="1500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sz="15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sz="1500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endParaRPr lang="en-US" altLang="ko-KR" sz="15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r>
                  <a:rPr lang="ko-KR" altLang="en-US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endParaRPr lang="en-US" altLang="ko-KR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1048549"/>
                <a:ext cx="9288462" cy="4647426"/>
              </a:xfrm>
              <a:prstGeom prst="rect">
                <a:avLst/>
              </a:prstGeom>
              <a:blipFill>
                <a:blip r:embed="rId3"/>
                <a:stretch>
                  <a:fillRect l="-722" t="-9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924948"/>
                  </p:ext>
                </p:extLst>
              </p:nvPr>
            </p:nvGraphicFramePr>
            <p:xfrm>
              <a:off x="704528" y="5085184"/>
              <a:ext cx="8064896" cy="12215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34617">
                      <a:extLst>
                        <a:ext uri="{9D8B030D-6E8A-4147-A177-3AD203B41FA5}">
                          <a16:colId xmlns:a16="http://schemas.microsoft.com/office/drawing/2014/main" val="564277458"/>
                        </a:ext>
                      </a:extLst>
                    </a:gridCol>
                    <a:gridCol w="2022555">
                      <a:extLst>
                        <a:ext uri="{9D8B030D-6E8A-4147-A177-3AD203B41FA5}">
                          <a16:colId xmlns:a16="http://schemas.microsoft.com/office/drawing/2014/main" val="2114809555"/>
                        </a:ext>
                      </a:extLst>
                    </a:gridCol>
                    <a:gridCol w="2307524">
                      <a:extLst>
                        <a:ext uri="{9D8B030D-6E8A-4147-A177-3AD203B41FA5}">
                          <a16:colId xmlns:a16="http://schemas.microsoft.com/office/drawing/2014/main" val="194730309"/>
                        </a:ext>
                      </a:extLst>
                    </a:gridCol>
                    <a:gridCol w="1800200">
                      <a:extLst>
                        <a:ext uri="{9D8B030D-6E8A-4147-A177-3AD203B41FA5}">
                          <a16:colId xmlns:a16="http://schemas.microsoft.com/office/drawing/2014/main" val="3334850368"/>
                        </a:ext>
                      </a:extLst>
                    </a:gridCol>
                  </a:tblGrid>
                  <a:tr h="3071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조건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Sleep</a:t>
                          </a:r>
                          <a:r>
                            <a:rPr lang="en-US" altLang="ko-KR" sz="1200" b="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Mode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휠 속도 </a:t>
                          </a:r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Close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비고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066467"/>
                      </a:ext>
                    </a:extLst>
                  </a:tr>
                  <a:tr h="42247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JG_ASC</a:t>
                          </a:r>
                          <a:endParaRPr lang="ko-KR" altLang="en-US" sz="1200" b="0" dirty="0" smtClean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전원 </a:t>
                          </a:r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OFF &amp; DOOR</a:t>
                          </a:r>
                          <a:r>
                            <a:rPr lang="en-US" altLang="ko-KR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Close</a:t>
                          </a:r>
                        </a:p>
                        <a:p>
                          <a:pPr algn="ctr" latinLnBrk="1"/>
                          <a:r>
                            <a:rPr lang="ko-KR" altLang="en-US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전원 </a:t>
                          </a:r>
                          <a:r>
                            <a:rPr lang="en-US" altLang="ko-KR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OFF &amp; DOOR Open</a:t>
                          </a:r>
                          <a:endParaRPr lang="ko-KR" altLang="en-US" sz="120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WHL_SPD_AVG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ko-KR" altLang="en-US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</a:t>
                          </a:r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5km/h</a:t>
                          </a:r>
                          <a:endParaRPr lang="ko-KR" altLang="en-US" sz="120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816175"/>
                      </a:ext>
                    </a:extLst>
                  </a:tr>
                  <a:tr h="42247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US4</a:t>
                          </a:r>
                          <a:r>
                            <a:rPr lang="en-US" altLang="ko-KR" sz="1200" b="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PE_ASC</a:t>
                          </a:r>
                          <a:endParaRPr lang="ko-KR" altLang="en-US" sz="1200" b="0" dirty="0" smtClean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IGN</a:t>
                          </a:r>
                          <a:r>
                            <a:rPr lang="ko-KR" altLang="en-US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</a:t>
                          </a:r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OFF</a:t>
                          </a:r>
                          <a:r>
                            <a:rPr lang="en-US" altLang="ko-KR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&amp; DOOR Close</a:t>
                          </a:r>
                        </a:p>
                        <a:p>
                          <a:pPr algn="ctr" latinLnBrk="1"/>
                          <a:r>
                            <a:rPr lang="en-US" altLang="ko-KR" sz="120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IGN OFF &amp; DOOR Open</a:t>
                          </a:r>
                          <a:endParaRPr lang="ko-KR" altLang="en-US" sz="1200" dirty="0">
                            <a:solidFill>
                              <a:srgbClr val="0000FF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WHL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SPD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AVG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 </m:t>
                                </m:r>
                                <m: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ko-KR" altLang="en-US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b="0" i="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km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200" dirty="0" smtClean="0">
                                    <a:latin typeface="현대하모니 M" panose="02020603020101020101" pitchFamily="18" charset="-127"/>
                                    <a:ea typeface="현대하모니 M" panose="02020603020101020101" pitchFamily="18" charset="-127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DOOR OPEN </a:t>
                          </a:r>
                          <a:r>
                            <a:rPr lang="ko-KR" altLang="en-US" sz="100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시</a:t>
                          </a:r>
                          <a:r>
                            <a:rPr lang="en-US" altLang="ko-KR" sz="1000" baseline="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Wiring</a:t>
                          </a:r>
                          <a:r>
                            <a:rPr lang="ko-KR" altLang="en-US" sz="1000" baseline="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에 의한 전기적 전류 증가</a:t>
                          </a:r>
                          <a:endParaRPr lang="ko-KR" altLang="en-US" sz="1000" dirty="0">
                            <a:solidFill>
                              <a:srgbClr val="0000FF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67549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924948"/>
                  </p:ext>
                </p:extLst>
              </p:nvPr>
            </p:nvGraphicFramePr>
            <p:xfrm>
              <a:off x="704528" y="5085184"/>
              <a:ext cx="8064896" cy="12215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34617">
                      <a:extLst>
                        <a:ext uri="{9D8B030D-6E8A-4147-A177-3AD203B41FA5}">
                          <a16:colId xmlns:a16="http://schemas.microsoft.com/office/drawing/2014/main" val="564277458"/>
                        </a:ext>
                      </a:extLst>
                    </a:gridCol>
                    <a:gridCol w="2022555">
                      <a:extLst>
                        <a:ext uri="{9D8B030D-6E8A-4147-A177-3AD203B41FA5}">
                          <a16:colId xmlns:a16="http://schemas.microsoft.com/office/drawing/2014/main" val="2114809555"/>
                        </a:ext>
                      </a:extLst>
                    </a:gridCol>
                    <a:gridCol w="2307524">
                      <a:extLst>
                        <a:ext uri="{9D8B030D-6E8A-4147-A177-3AD203B41FA5}">
                          <a16:colId xmlns:a16="http://schemas.microsoft.com/office/drawing/2014/main" val="194730309"/>
                        </a:ext>
                      </a:extLst>
                    </a:gridCol>
                    <a:gridCol w="1800200">
                      <a:extLst>
                        <a:ext uri="{9D8B030D-6E8A-4147-A177-3AD203B41FA5}">
                          <a16:colId xmlns:a16="http://schemas.microsoft.com/office/drawing/2014/main" val="3334850368"/>
                        </a:ext>
                      </a:extLst>
                    </a:gridCol>
                  </a:tblGrid>
                  <a:tr h="3071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조건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Sleep</a:t>
                          </a:r>
                          <a:r>
                            <a:rPr lang="en-US" altLang="ko-KR" sz="1200" b="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Mode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휠 속도 </a:t>
                          </a:r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Close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비고</a:t>
                          </a:r>
                          <a:endParaRPr lang="ko-KR" altLang="en-US" sz="1200" b="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0664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JG_ASC</a:t>
                          </a:r>
                          <a:endParaRPr lang="ko-KR" altLang="en-US" sz="1200" b="0" dirty="0" smtClean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전원 </a:t>
                          </a:r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OFF &amp; DOOR</a:t>
                          </a:r>
                          <a:r>
                            <a:rPr lang="en-US" altLang="ko-KR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Close</a:t>
                          </a:r>
                        </a:p>
                        <a:p>
                          <a:pPr algn="ctr" latinLnBrk="1"/>
                          <a:r>
                            <a:rPr lang="ko-KR" altLang="en-US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전원 </a:t>
                          </a:r>
                          <a:r>
                            <a:rPr lang="en-US" altLang="ko-KR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OFF &amp; DOOR Open</a:t>
                          </a:r>
                          <a:endParaRPr lang="ko-KR" altLang="en-US" sz="120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2222" t="-69333" r="-78836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8161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US4</a:t>
                          </a:r>
                          <a:r>
                            <a:rPr lang="en-US" altLang="ko-KR" sz="1200" b="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PE_ASC</a:t>
                          </a:r>
                          <a:endParaRPr lang="ko-KR" altLang="en-US" sz="1200" b="0" dirty="0" smtClean="0"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IGN</a:t>
                          </a:r>
                          <a:r>
                            <a:rPr lang="ko-KR" altLang="en-US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</a:t>
                          </a:r>
                          <a:r>
                            <a:rPr lang="en-US" altLang="ko-KR" sz="120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OFF</a:t>
                          </a:r>
                          <a:r>
                            <a:rPr lang="en-US" altLang="ko-KR" sz="1200" baseline="0" dirty="0" smtClean="0"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&amp; DOOR Close</a:t>
                          </a:r>
                        </a:p>
                        <a:p>
                          <a:pPr algn="ctr" latinLnBrk="1"/>
                          <a:r>
                            <a:rPr lang="en-US" altLang="ko-KR" sz="120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IGN OFF &amp; DOOR Open</a:t>
                          </a:r>
                          <a:endParaRPr lang="ko-KR" altLang="en-US" sz="1200" dirty="0">
                            <a:solidFill>
                              <a:srgbClr val="0000FF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2222" t="-169333" r="-78836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DOOR OPEN </a:t>
                          </a:r>
                          <a:r>
                            <a:rPr lang="ko-KR" altLang="en-US" sz="100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시</a:t>
                          </a:r>
                          <a:r>
                            <a:rPr lang="en-US" altLang="ko-KR" sz="1000" baseline="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Wiring</a:t>
                          </a:r>
                          <a:r>
                            <a:rPr lang="ko-KR" altLang="en-US" sz="1000" baseline="0" dirty="0" smtClean="0">
                              <a:solidFill>
                                <a:srgbClr val="0000FF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에 의한 전기적 전류 증가</a:t>
                          </a:r>
                          <a:endParaRPr lang="ko-KR" altLang="en-US" sz="1000" dirty="0">
                            <a:solidFill>
                              <a:srgbClr val="0000FF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675490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4671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제목 1"/>
          <p:cNvSpPr txBox="1">
            <a:spLocks/>
          </p:cNvSpPr>
          <p:nvPr/>
        </p:nvSpPr>
        <p:spPr>
          <a:xfrm>
            <a:off x="109538" y="58738"/>
            <a:ext cx="7003702" cy="41751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kumimoji="0" lang="en-US" altLang="ko-KR" sz="2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 PE ASC </a:t>
            </a:r>
            <a:r>
              <a:rPr kumimoji="0" lang="ko-KR" altLang="en-US" sz="2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전류 측정 값</a:t>
            </a:r>
            <a:endParaRPr kumimoji="0" lang="ko-KR" altLang="en-US" sz="2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dirty="0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90528" y="1587732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MODE </a:t>
            </a:r>
            <a:r>
              <a:rPr lang="en-US" altLang="ko-KR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(Sleep Mode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진입 전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0528" y="3430868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SLEEP MODE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062874"/>
              </p:ext>
            </p:extLst>
          </p:nvPr>
        </p:nvGraphicFramePr>
        <p:xfrm>
          <a:off x="520668" y="3823542"/>
          <a:ext cx="642258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936">
                  <a:extLst>
                    <a:ext uri="{9D8B030D-6E8A-4147-A177-3AD203B41FA5}">
                      <a16:colId xmlns:a16="http://schemas.microsoft.com/office/drawing/2014/main" val="2053177880"/>
                    </a:ext>
                  </a:extLst>
                </a:gridCol>
                <a:gridCol w="3590435">
                  <a:extLst>
                    <a:ext uri="{9D8B030D-6E8A-4147-A177-3AD203B41FA5}">
                      <a16:colId xmlns:a16="http://schemas.microsoft.com/office/drawing/2014/main" val="3111489990"/>
                    </a:ext>
                  </a:extLst>
                </a:gridCol>
                <a:gridCol w="1194109">
                  <a:extLst>
                    <a:ext uri="{9D8B030D-6E8A-4147-A177-3AD203B41FA5}">
                      <a16:colId xmlns:a16="http://schemas.microsoft.com/office/drawing/2014/main" val="2802280400"/>
                    </a:ext>
                  </a:extLst>
                </a:gridCol>
                <a:gridCol w="1194109">
                  <a:extLst>
                    <a:ext uri="{9D8B030D-6E8A-4147-A177-3AD203B41FA5}">
                      <a16:colId xmlns:a16="http://schemas.microsoft.com/office/drawing/2014/main" val="525278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NO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측정 조건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Current(mA)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비고</a:t>
                      </a:r>
                      <a:endParaRPr lang="en-US" altLang="ko-KR" sz="1200" b="1" dirty="0" smtClean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33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1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 smtClean="0"/>
                        <a:t>IGN</a:t>
                      </a:r>
                      <a:r>
                        <a:rPr lang="en-US" altLang="ko-KR" sz="1000" b="1" baseline="0" dirty="0" smtClean="0"/>
                        <a:t> OFF &amp; DOOR Close</a:t>
                      </a:r>
                      <a:endParaRPr lang="ko-KR" altLang="en-US" sz="10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0.4mA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기존</a:t>
                      </a:r>
                      <a:endParaRPr lang="ko-KR" altLang="en-US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035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2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IGN</a:t>
                      </a:r>
                      <a:r>
                        <a:rPr lang="en-US" altLang="ko-KR" sz="1000" b="1" baseline="0" dirty="0" smtClean="0"/>
                        <a:t> OFF &amp; DOOR Open</a:t>
                      </a:r>
                      <a:endParaRPr lang="ko-KR" altLang="en-US" sz="10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4.8mA</a:t>
                      </a:r>
                      <a:endParaRPr lang="ko-KR" altLang="en-US" sz="10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609586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32240"/>
              </p:ext>
            </p:extLst>
          </p:nvPr>
        </p:nvGraphicFramePr>
        <p:xfrm>
          <a:off x="520668" y="1991210"/>
          <a:ext cx="642258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5441">
                  <a:extLst>
                    <a:ext uri="{9D8B030D-6E8A-4147-A177-3AD203B41FA5}">
                      <a16:colId xmlns:a16="http://schemas.microsoft.com/office/drawing/2014/main" val="2053177880"/>
                    </a:ext>
                  </a:extLst>
                </a:gridCol>
                <a:gridCol w="3624393">
                  <a:extLst>
                    <a:ext uri="{9D8B030D-6E8A-4147-A177-3AD203B41FA5}">
                      <a16:colId xmlns:a16="http://schemas.microsoft.com/office/drawing/2014/main" val="3111489990"/>
                    </a:ext>
                  </a:extLst>
                </a:gridCol>
                <a:gridCol w="1176377">
                  <a:extLst>
                    <a:ext uri="{9D8B030D-6E8A-4147-A177-3AD203B41FA5}">
                      <a16:colId xmlns:a16="http://schemas.microsoft.com/office/drawing/2014/main" val="2802280400"/>
                    </a:ext>
                  </a:extLst>
                </a:gridCol>
                <a:gridCol w="1176377">
                  <a:extLst>
                    <a:ext uri="{9D8B030D-6E8A-4147-A177-3AD203B41FA5}">
                      <a16:colId xmlns:a16="http://schemas.microsoft.com/office/drawing/2014/main" val="2088436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NO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측정 조건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Current(mA)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비고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33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1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 smtClean="0"/>
                        <a:t>IGN</a:t>
                      </a:r>
                      <a:r>
                        <a:rPr lang="en-US" altLang="ko-KR" sz="1000" b="1" baseline="0" dirty="0" smtClean="0"/>
                        <a:t> OFF &amp; DOOR Close</a:t>
                      </a:r>
                      <a:endParaRPr lang="ko-KR" altLang="en-US" sz="10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33.6mA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035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2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IGN</a:t>
                      </a:r>
                      <a:r>
                        <a:rPr lang="en-US" altLang="ko-KR" sz="1000" b="1" baseline="0" dirty="0" smtClean="0"/>
                        <a:t> OFF &amp; DOOR Open</a:t>
                      </a:r>
                      <a:endParaRPr lang="ko-KR" altLang="en-US" sz="10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37.8mA</a:t>
                      </a:r>
                      <a:endParaRPr lang="ko-KR" altLang="en-US" sz="10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609586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520667" y="4577534"/>
            <a:ext cx="6422589" cy="3585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위로 굽은 화살표 2"/>
          <p:cNvSpPr/>
          <p:nvPr/>
        </p:nvSpPr>
        <p:spPr>
          <a:xfrm rot="5400000">
            <a:off x="5175570" y="4903544"/>
            <a:ext cx="655047" cy="720082"/>
          </a:xfrm>
          <a:prstGeom prst="bentUpArrow">
            <a:avLst>
              <a:gd name="adj1" fmla="val 19700"/>
              <a:gd name="adj2" fmla="val 28764"/>
              <a:gd name="adj3" fmla="val 305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863136" y="5159060"/>
            <a:ext cx="34563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IGN OFF &amp; DOOR OPEN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조건에서</a:t>
            </a:r>
            <a:endParaRPr lang="en-US" altLang="ko-KR" sz="15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전류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37.8mA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4.8mA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감소</a:t>
            </a:r>
            <a:endParaRPr lang="ko-KR" altLang="en-US" sz="15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73050" y="930277"/>
            <a:ext cx="5878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전류 값 측정 결과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497567" y="4325590"/>
            <a:ext cx="1944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lang="en-US" altLang="ko-KR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DOOR OPEN </a:t>
            </a:r>
            <a:r>
              <a:rPr lang="ko-KR" altLang="en-US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</a:t>
            </a:r>
            <a:r>
              <a:rPr lang="en-US" altLang="ko-KR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Wiring</a:t>
            </a:r>
            <a:r>
              <a:rPr lang="ko-KR" altLang="en-US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</a:t>
            </a:r>
            <a:endParaRPr lang="en-US" altLang="ko-KR" sz="1200" dirty="0" smtClean="0">
              <a:solidFill>
                <a:srgbClr val="0000FF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 latinLnBrk="1"/>
            <a:r>
              <a:rPr lang="ko-KR" altLang="en-US" sz="1200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의한 전기적 </a:t>
            </a:r>
            <a:r>
              <a:rPr lang="ko-KR" altLang="en-US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전류 증가</a:t>
            </a:r>
          </a:p>
        </p:txBody>
      </p:sp>
      <p:sp>
        <p:nvSpPr>
          <p:cNvPr id="14" name="왼쪽으로 구부러진 화살표 13"/>
          <p:cNvSpPr/>
          <p:nvPr/>
        </p:nvSpPr>
        <p:spPr>
          <a:xfrm>
            <a:off x="7075702" y="4325590"/>
            <a:ext cx="323253" cy="503888"/>
          </a:xfrm>
          <a:prstGeom prst="curvedLeftArrow">
            <a:avLst/>
          </a:prstGeom>
          <a:solidFill>
            <a:srgbClr val="FFFFC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90528" y="5530418"/>
            <a:ext cx="87584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납품 제어기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SW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다운로드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SW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변경 대상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초도품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제어기 및 추가 납품 수량 제어기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전량 업데이트 요청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8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5416</TotalTime>
  <Words>273</Words>
  <Application>Microsoft Office PowerPoint</Application>
  <PresentationFormat>A4 용지(210x297mm)</PresentationFormat>
  <Paragraphs>67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HY헤드라인M</vt:lpstr>
      <vt:lpstr>굴림</vt:lpstr>
      <vt:lpstr>맑은 고딕</vt:lpstr>
      <vt:lpstr>현대하모니 M</vt:lpstr>
      <vt:lpstr>Arial</vt:lpstr>
      <vt:lpstr>Cambria Math</vt:lpstr>
      <vt:lpstr>1_디자인 사용자 지정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hmc</dc:creator>
  <cp:lastModifiedBy>cts00</cp:lastModifiedBy>
  <cp:revision>577</cp:revision>
  <cp:lastPrinted>2014-12-14T21:26:27Z</cp:lastPrinted>
  <dcterms:created xsi:type="dcterms:W3CDTF">2010-08-14T05:41:07Z</dcterms:created>
  <dcterms:modified xsi:type="dcterms:W3CDTF">2026-02-09T00:46:09Z</dcterms:modified>
</cp:coreProperties>
</file>