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7"/>
  </p:notesMasterIdLst>
  <p:handoutMasterIdLst>
    <p:handoutMasterId r:id="rId8"/>
  </p:handoutMasterIdLst>
  <p:sldIdLst>
    <p:sldId id="274" r:id="rId2"/>
    <p:sldId id="420" r:id="rId3"/>
    <p:sldId id="421" r:id="rId4"/>
    <p:sldId id="422" r:id="rId5"/>
    <p:sldId id="423" r:id="rId6"/>
  </p:sldIdLst>
  <p:sldSz cx="9906000" cy="6858000" type="A4"/>
  <p:notesSz cx="6802438" cy="993457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404040"/>
    <a:srgbClr val="0000CC"/>
    <a:srgbClr val="E7FCFD"/>
    <a:srgbClr val="0099FF"/>
    <a:srgbClr val="F640DC"/>
    <a:srgbClr val="0099CC"/>
    <a:srgbClr val="B7099E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5" autoAdjust="0"/>
    <p:restoredTop sz="91129" autoAdjust="0"/>
  </p:normalViewPr>
  <p:slideViewPr>
    <p:cSldViewPr>
      <p:cViewPr varScale="1">
        <p:scale>
          <a:sx n="114" d="100"/>
          <a:sy n="114" d="100"/>
        </p:scale>
        <p:origin x="924" y="108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723" cy="498455"/>
          </a:xfrm>
          <a:prstGeom prst="rect">
            <a:avLst/>
          </a:prstGeom>
        </p:spPr>
        <p:txBody>
          <a:bodyPr vert="horz" lIns="91586" tIns="45793" rIns="91586" bIns="45793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3141" y="0"/>
            <a:ext cx="2947723" cy="498455"/>
          </a:xfrm>
          <a:prstGeom prst="rect">
            <a:avLst/>
          </a:prstGeom>
        </p:spPr>
        <p:txBody>
          <a:bodyPr vert="horz" lIns="91586" tIns="45793" rIns="91586" bIns="45793" rtlCol="0"/>
          <a:lstStyle>
            <a:lvl1pPr algn="r">
              <a:defRPr sz="1200"/>
            </a:lvl1pPr>
          </a:lstStyle>
          <a:p>
            <a:pPr>
              <a:defRPr/>
            </a:pPr>
            <a:fld id="{5CD26AEB-10B7-4AFA-8D7D-53E172D2C2B0}" type="datetimeFigureOut">
              <a:rPr lang="ko-KR" altLang="en-US"/>
              <a:pPr>
                <a:defRPr/>
              </a:pPr>
              <a:t>2025-10-27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23"/>
            <a:ext cx="2947723" cy="498453"/>
          </a:xfrm>
          <a:prstGeom prst="rect">
            <a:avLst/>
          </a:prstGeom>
        </p:spPr>
        <p:txBody>
          <a:bodyPr vert="horz" lIns="91586" tIns="45793" rIns="91586" bIns="4579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3141" y="9436123"/>
            <a:ext cx="2947723" cy="498453"/>
          </a:xfrm>
          <a:prstGeom prst="rect">
            <a:avLst/>
          </a:prstGeom>
        </p:spPr>
        <p:txBody>
          <a:bodyPr vert="horz" lIns="91586" tIns="45793" rIns="91586" bIns="45793" rtlCol="0" anchor="b"/>
          <a:lstStyle>
            <a:lvl1pPr algn="r">
              <a:defRPr sz="1200"/>
            </a:lvl1pPr>
          </a:lstStyle>
          <a:p>
            <a:pPr>
              <a:defRPr/>
            </a:pPr>
            <a:fld id="{14F878CE-F0F2-4799-A5D1-1D1BEDE1E1AD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326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723" cy="496729"/>
          </a:xfrm>
          <a:prstGeom prst="rect">
            <a:avLst/>
          </a:prstGeom>
        </p:spPr>
        <p:txBody>
          <a:bodyPr vert="horz" lIns="91586" tIns="45793" rIns="91586" bIns="45793" rtlCol="0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3141" y="0"/>
            <a:ext cx="2947723" cy="496729"/>
          </a:xfrm>
          <a:prstGeom prst="rect">
            <a:avLst/>
          </a:prstGeom>
        </p:spPr>
        <p:txBody>
          <a:bodyPr vert="horz" lIns="91586" tIns="45793" rIns="91586" bIns="45793" rtlCol="0"/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91693CC-416F-48A7-B290-F72B97F6469D}" type="datetimeFigureOut">
              <a:rPr lang="ko-KR" altLang="en-US"/>
              <a:pPr>
                <a:defRPr/>
              </a:pPr>
              <a:t>2025-10-27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6125"/>
            <a:ext cx="5380038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86" tIns="45793" rIns="91586" bIns="45793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245" y="4718923"/>
            <a:ext cx="5441950" cy="4470558"/>
          </a:xfrm>
          <a:prstGeom prst="rect">
            <a:avLst/>
          </a:prstGeom>
        </p:spPr>
        <p:txBody>
          <a:bodyPr vert="horz" lIns="91586" tIns="45793" rIns="91586" bIns="45793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23"/>
            <a:ext cx="2947723" cy="496729"/>
          </a:xfrm>
          <a:prstGeom prst="rect">
            <a:avLst/>
          </a:prstGeom>
        </p:spPr>
        <p:txBody>
          <a:bodyPr vert="horz" lIns="91586" tIns="45793" rIns="91586" bIns="45793" rtlCol="0" anchor="b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3141" y="9436123"/>
            <a:ext cx="2947723" cy="496729"/>
          </a:xfrm>
          <a:prstGeom prst="rect">
            <a:avLst/>
          </a:prstGeom>
        </p:spPr>
        <p:txBody>
          <a:bodyPr vert="horz" wrap="square" lIns="91586" tIns="45793" rIns="91586" bIns="4579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98F7D9-7A62-4A0A-8FA5-757741AC1CB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66281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717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4139" indent="-286207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4829" indent="-228966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2760" indent="-228966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60692" indent="-228966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8623" indent="-2289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6555" indent="-2289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34486" indent="-2289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92418" indent="-2289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CE8D9FF4-0354-4BAC-A745-878F442C303E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9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4"/>
          <p:cNvSpPr/>
          <p:nvPr userDrawn="1"/>
        </p:nvSpPr>
        <p:spPr>
          <a:xfrm>
            <a:off x="0" y="1"/>
            <a:ext cx="9906000" cy="6207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800" dirty="0">
              <a:solidFill>
                <a:prstClr val="white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4" name="직선 연결선 6"/>
          <p:cNvCxnSpPr/>
          <p:nvPr userDrawn="1"/>
        </p:nvCxnSpPr>
        <p:spPr>
          <a:xfrm>
            <a:off x="0" y="523875"/>
            <a:ext cx="9906000" cy="0"/>
          </a:xfrm>
          <a:prstGeom prst="line">
            <a:avLst/>
          </a:prstGeom>
          <a:solidFill>
            <a:schemeClr val="accent1">
              <a:alpha val="77000"/>
            </a:schemeClr>
          </a:solidFill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7" descr="ddmvs_CI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4362" y="54505"/>
            <a:ext cx="553174" cy="422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5205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4"/>
          <p:cNvSpPr/>
          <p:nvPr userDrawn="1"/>
        </p:nvSpPr>
        <p:spPr>
          <a:xfrm>
            <a:off x="0" y="1"/>
            <a:ext cx="9906000" cy="6207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800" dirty="0">
              <a:solidFill>
                <a:prstClr val="white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5" name="직선 연결선 6"/>
          <p:cNvCxnSpPr/>
          <p:nvPr userDrawn="1"/>
        </p:nvCxnSpPr>
        <p:spPr>
          <a:xfrm>
            <a:off x="0" y="523875"/>
            <a:ext cx="9906000" cy="0"/>
          </a:xfrm>
          <a:prstGeom prst="line">
            <a:avLst/>
          </a:prstGeom>
          <a:solidFill>
            <a:schemeClr val="accent1">
              <a:alpha val="77000"/>
            </a:schemeClr>
          </a:solidFill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658B7-B694-47B5-851C-422CF1125344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2025-10-27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2723C-9AEC-4FEA-BC4D-254DA9E59141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Picture 27" descr="ddmvs_CI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4362" y="54505"/>
            <a:ext cx="553174" cy="422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250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1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eaLnBrk="1" latinLnBrk="1" hangingPunct="1">
              <a:defRPr/>
            </a:pPr>
            <a:fld id="{FA02C691-151B-4838-8A21-94E9EE3FE8AD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 eaLnBrk="1" latinLnBrk="1" hangingPunct="1">
                <a:defRPr/>
              </a:pPr>
              <a:t>2025-10-27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eaLnBrk="1" latinLnBrk="1" hangingPunct="1"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eaLnBrk="1" latinLnBrk="1" hangingPunct="1">
              <a:defRPr/>
            </a:pPr>
            <a:fld id="{75483721-AC1D-4797-BB02-52EAAE47F9B0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eaLnBrk="1" latinLnBrk="1" hangingPunct="1"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직사각형 4"/>
          <p:cNvSpPr/>
          <p:nvPr userDrawn="1"/>
        </p:nvSpPr>
        <p:spPr>
          <a:xfrm>
            <a:off x="0" y="1"/>
            <a:ext cx="9906000" cy="6207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800" dirty="0">
              <a:solidFill>
                <a:prstClr val="white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13" name="직선 연결선 6"/>
          <p:cNvCxnSpPr/>
          <p:nvPr userDrawn="1"/>
        </p:nvCxnSpPr>
        <p:spPr>
          <a:xfrm>
            <a:off x="0" y="523875"/>
            <a:ext cx="9906000" cy="0"/>
          </a:xfrm>
          <a:prstGeom prst="line">
            <a:avLst/>
          </a:prstGeom>
          <a:solidFill>
            <a:schemeClr val="accent1">
              <a:alpha val="77000"/>
            </a:schemeClr>
          </a:solidFill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7" descr="ddmvs_CI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4362" y="54505"/>
            <a:ext cx="553174" cy="422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6819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0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endParaRPr kumimoji="0"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endParaRPr kumimoji="0"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448175" y="6581601"/>
            <a:ext cx="1152525" cy="23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6151" name="직사각형 7"/>
          <p:cNvSpPr>
            <a:spLocks noChangeArrowheads="1"/>
          </p:cNvSpPr>
          <p:nvPr/>
        </p:nvSpPr>
        <p:spPr bwMode="auto">
          <a:xfrm>
            <a:off x="7938" y="4722827"/>
            <a:ext cx="9906000" cy="66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kumimoji="0" lang="en-US" altLang="ko-KR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kumimoji="0" lang="en-US" altLang="ko-KR" sz="2500" b="1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kumimoji="0" lang="en-US" altLang="ko-KR" sz="25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kumimoji="0" lang="en-US" altLang="ko-KR" sz="2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-7938" y="0"/>
            <a:ext cx="9913938" cy="9191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19" name="제목 16">
            <a:extLst>
              <a:ext uri="{FF2B5EF4-FFF2-40B4-BE49-F238E27FC236}">
                <a16:creationId xmlns:a16="http://schemas.microsoft.com/office/drawing/2014/main" id="{9F8DBAFB-3306-44F5-8B33-6B7C0DC8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401" y="2149063"/>
            <a:ext cx="7594601" cy="2031325"/>
          </a:xfrm>
          <a:prstGeom prst="rect">
            <a:avLst/>
          </a:prstGeom>
          <a:noFill/>
        </p:spPr>
        <p:txBody>
          <a:bodyPr wrap="square" lIns="0" tIns="0" rIns="900000" bIns="0" rtlCol="0">
            <a:spAutoFit/>
          </a:bodyPr>
          <a:lstStyle>
            <a:lvl1pPr>
              <a:lnSpc>
                <a:spcPct val="100000"/>
              </a:lnSpc>
              <a:defRPr lang="ko-KR" altLang="en-US" sz="6600">
                <a:solidFill>
                  <a:srgbClr val="FFC000"/>
                </a:solidFill>
                <a:latin typeface="Impact" panose="020B080603090205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r"/>
            <a:r>
              <a:rPr lang="en-US" altLang="ko-KR" sz="6600" dirty="0">
                <a:solidFill>
                  <a:srgbClr val="FFC000"/>
                </a:solidFill>
                <a:latin typeface="Impact" panose="020B080603090205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PRESENTATION</a:t>
            </a:r>
            <a:br>
              <a:rPr lang="en-US" altLang="ko-KR" sz="6600" dirty="0">
                <a:solidFill>
                  <a:srgbClr val="FFC000"/>
                </a:solidFill>
                <a:latin typeface="Impact" panose="020B080603090205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 TITLE</a:t>
            </a:r>
            <a:endParaRPr lang="ko-KR" altLang="en-US" sz="6600" dirty="0">
              <a:solidFill>
                <a:schemeClr val="bg1"/>
              </a:solidFill>
              <a:latin typeface="Impact" panose="020B080603090205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한쪽 모서리가 잘린 사각형 7">
            <a:extLst>
              <a:ext uri="{FF2B5EF4-FFF2-40B4-BE49-F238E27FC236}">
                <a16:creationId xmlns:a16="http://schemas.microsoft.com/office/drawing/2014/main" id="{ADAFB089-88CD-43E3-A63B-CFE7D8E7B005}"/>
              </a:ext>
            </a:extLst>
          </p:cNvPr>
          <p:cNvSpPr/>
          <p:nvPr/>
        </p:nvSpPr>
        <p:spPr>
          <a:xfrm flipH="1" flipV="1">
            <a:off x="0" y="1052736"/>
            <a:ext cx="9906000" cy="3350575"/>
          </a:xfrm>
          <a:prstGeom prst="snip1Rect">
            <a:avLst>
              <a:gd name="adj" fmla="val 50000"/>
            </a:avLst>
          </a:prstGeom>
          <a:gradFill>
            <a:gsLst>
              <a:gs pos="0">
                <a:srgbClr val="2E4A68"/>
              </a:gs>
              <a:gs pos="100000">
                <a:srgbClr val="243A52"/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AAD856D-6BE7-457A-A2ED-5BC75BAC80E3}"/>
              </a:ext>
            </a:extLst>
          </p:cNvPr>
          <p:cNvCxnSpPr/>
          <p:nvPr/>
        </p:nvCxnSpPr>
        <p:spPr>
          <a:xfrm flipH="1">
            <a:off x="0" y="4084542"/>
            <a:ext cx="9906000" cy="0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4843AF8-0EE0-4A1D-A35C-04F176348F81}"/>
              </a:ext>
            </a:extLst>
          </p:cNvPr>
          <p:cNvCxnSpPr/>
          <p:nvPr/>
        </p:nvCxnSpPr>
        <p:spPr>
          <a:xfrm flipH="1">
            <a:off x="0" y="1375208"/>
            <a:ext cx="9906000" cy="0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016E4F1-1E27-49F6-8AA2-AD4639C1FEA8}"/>
              </a:ext>
            </a:extLst>
          </p:cNvPr>
          <p:cNvSpPr txBox="1"/>
          <p:nvPr/>
        </p:nvSpPr>
        <p:spPr bwMode="auto">
          <a:xfrm>
            <a:off x="7938" y="2132856"/>
            <a:ext cx="9921876" cy="72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4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S32K1XX MCU Secure </a:t>
            </a:r>
            <a:r>
              <a:rPr kumimoji="0" lang="ko-KR" altLang="en-US" sz="3400" b="1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보안 설정</a:t>
            </a:r>
            <a:endParaRPr kumimoji="0" lang="en-US" altLang="ko-KR" sz="3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각 삼각형 13">
            <a:extLst>
              <a:ext uri="{FF2B5EF4-FFF2-40B4-BE49-F238E27FC236}">
                <a16:creationId xmlns:a16="http://schemas.microsoft.com/office/drawing/2014/main" id="{FAFD2414-4162-43C4-8A73-6C323B388D39}"/>
              </a:ext>
            </a:extLst>
          </p:cNvPr>
          <p:cNvSpPr/>
          <p:nvPr/>
        </p:nvSpPr>
        <p:spPr>
          <a:xfrm>
            <a:off x="0" y="2564914"/>
            <a:ext cx="1792586" cy="1838397"/>
          </a:xfrm>
          <a:prstGeom prst="rtTriangl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35000">
                <a:schemeClr val="bg1">
                  <a:lumMod val="75000"/>
                </a:schemeClr>
              </a:gs>
              <a:gs pos="100000">
                <a:schemeClr val="accent4">
                  <a:tint val="15000"/>
                  <a:satMod val="35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841FCA7-B300-401E-82FA-BBD049009CF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36305" y="5845465"/>
            <a:ext cx="2376264" cy="482070"/>
          </a:xfrm>
          <a:prstGeom prst="rect">
            <a:avLst/>
          </a:prstGeom>
        </p:spPr>
      </p:pic>
      <p:sp>
        <p:nvSpPr>
          <p:cNvPr id="15" name="직사각형 7"/>
          <p:cNvSpPr>
            <a:spLocks noChangeArrowheads="1"/>
          </p:cNvSpPr>
          <p:nvPr/>
        </p:nvSpPr>
        <p:spPr bwMode="auto">
          <a:xfrm>
            <a:off x="2144688" y="5185657"/>
            <a:ext cx="9906000" cy="333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kumimoji="0" lang="ko-KR" altLang="en-US" sz="12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김현근 연구원</a:t>
            </a:r>
            <a:endParaRPr kumimoji="0"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109844" y="44624"/>
            <a:ext cx="6067292" cy="417513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kumimoji="0" lang="en-US" altLang="ko-KR" sz="2400" b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FW</a:t>
            </a:r>
            <a:endParaRPr kumimoji="0" lang="ko-KR" altLang="en-US" sz="24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/>
          <p:cNvPicPr/>
          <p:nvPr/>
        </p:nvPicPr>
        <p:blipFill>
          <a:blip r:embed="rId2"/>
          <a:stretch>
            <a:fillRect/>
          </a:stretch>
        </p:blipFill>
        <p:spPr>
          <a:xfrm>
            <a:off x="277735" y="1052736"/>
            <a:ext cx="5731510" cy="490410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rcRect r="33908"/>
          <a:stretch/>
        </p:blipFill>
        <p:spPr>
          <a:xfrm>
            <a:off x="5733010" y="1303625"/>
            <a:ext cx="4172990" cy="1440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3552" y="2766150"/>
            <a:ext cx="40324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/>
              <a:t>데이터시트 참고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마지막 </a:t>
            </a:r>
            <a:r>
              <a:rPr lang="en-US" altLang="ko-KR" b="1" smtClean="0"/>
              <a:t>FSEC </a:t>
            </a:r>
            <a:r>
              <a:rPr lang="ko-KR" altLang="en-US" b="1" smtClean="0"/>
              <a:t>비트 설정을 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en-US" altLang="ko-KR" b="1" smtClean="0"/>
              <a:t>0b10101111 -&gt; 0xAF </a:t>
            </a:r>
            <a:r>
              <a:rPr lang="ko-KR" altLang="en-US" b="1" smtClean="0"/>
              <a:t>로 설정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보안을 걸고</a:t>
            </a:r>
            <a:r>
              <a:rPr lang="en-US" altLang="ko-KR" b="1" smtClean="0"/>
              <a:t>, </a:t>
            </a:r>
            <a:r>
              <a:rPr lang="ko-KR" altLang="en-US" b="1" smtClean="0"/>
              <a:t>전체 지우기 기능을 잠금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94114706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109844" y="44624"/>
            <a:ext cx="6067292" cy="417513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kumimoji="0" lang="ko-KR" altLang="en-US" sz="2400" b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멀티링크 디버깅</a:t>
            </a:r>
            <a:endParaRPr kumimoji="0" lang="ko-KR" altLang="en-US" sz="24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152" y="1506036"/>
            <a:ext cx="2454126" cy="131111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560" y="1506036"/>
            <a:ext cx="2477693" cy="131111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728" y="3887641"/>
            <a:ext cx="4648849" cy="2457793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3656856" y="776071"/>
            <a:ext cx="30074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smtClean="0"/>
              <a:t>잠근 이후 디버깅 결과</a:t>
            </a:r>
            <a:r>
              <a:rPr lang="en-US" altLang="ko-KR" b="1" smtClean="0"/>
              <a:t/>
            </a:r>
            <a:br>
              <a:rPr lang="en-US" altLang="ko-KR" b="1" smtClean="0"/>
            </a:br>
            <a:r>
              <a:rPr lang="ko-KR" altLang="en-US" b="1" smtClean="0"/>
              <a:t>잠기었다는 메시지</a:t>
            </a:r>
            <a:endParaRPr lang="ko-KR" altLang="en-US" b="1"/>
          </a:p>
        </p:txBody>
      </p:sp>
      <p:cxnSp>
        <p:nvCxnSpPr>
          <p:cNvPr id="12" name="직선 화살표 연결선 11"/>
          <p:cNvCxnSpPr>
            <a:stCxn id="10" idx="2"/>
          </p:cNvCxnSpPr>
          <p:nvPr/>
        </p:nvCxnSpPr>
        <p:spPr>
          <a:xfrm>
            <a:off x="2231407" y="2817149"/>
            <a:ext cx="1569465" cy="1070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7" idx="2"/>
          </p:cNvCxnSpPr>
          <p:nvPr/>
        </p:nvCxnSpPr>
        <p:spPr>
          <a:xfrm flipH="1">
            <a:off x="5889104" y="2817149"/>
            <a:ext cx="1659111" cy="1070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3700029" y="3029229"/>
            <a:ext cx="30074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smtClean="0"/>
              <a:t>YES </a:t>
            </a:r>
            <a:r>
              <a:rPr lang="ko-KR" altLang="en-US" b="1" smtClean="0"/>
              <a:t>를 눌러도 </a:t>
            </a:r>
            <a:r>
              <a:rPr lang="en-US" altLang="ko-KR" b="1" smtClean="0"/>
              <a:t>NO</a:t>
            </a:r>
            <a:r>
              <a:rPr lang="ko-KR" altLang="en-US" b="1" smtClean="0"/>
              <a:t>를 눌러도 </a:t>
            </a:r>
            <a:r>
              <a:rPr lang="ko-KR" altLang="en-US" b="1" smtClean="0"/>
              <a:t>연결불가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40799856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109844" y="44624"/>
            <a:ext cx="6067292" cy="417513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kumimoji="0" lang="en-US" altLang="ko-KR" sz="2400" b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</a:rPr>
              <a:t>CYCLONE </a:t>
            </a:r>
            <a:endParaRPr kumimoji="0" lang="ko-KR" altLang="en-US" sz="24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507425"/>
            <a:ext cx="2648320" cy="155279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16496" y="908720"/>
            <a:ext cx="30074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smtClean="0"/>
              <a:t>1</a:t>
            </a:r>
            <a:r>
              <a:rPr lang="ko-KR" altLang="en-US" b="1" smtClean="0"/>
              <a:t>번 </a:t>
            </a:r>
            <a:r>
              <a:rPr lang="en-US" altLang="ko-KR" b="1" smtClean="0"/>
              <a:t>FW </a:t>
            </a:r>
            <a:r>
              <a:rPr lang="ko-KR" altLang="en-US" b="1" smtClean="0"/>
              <a:t>다운로드 시도</a:t>
            </a:r>
            <a:endParaRPr lang="ko-KR" altLang="en-US" b="1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419" y="1507425"/>
            <a:ext cx="2591162" cy="1562318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584848" y="908720"/>
            <a:ext cx="30074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smtClean="0"/>
              <a:t>접근 실패</a:t>
            </a:r>
            <a:endParaRPr lang="ko-KR" altLang="en-US" b="1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347" y="1526848"/>
            <a:ext cx="2592288" cy="1533369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6880347" y="980728"/>
            <a:ext cx="30074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smtClean="0"/>
              <a:t>보안으로 접근 불가 메세지</a:t>
            </a:r>
            <a:endParaRPr lang="ko-KR" altLang="en-US" b="1"/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3143490" y="2283821"/>
            <a:ext cx="441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>
            <a:off x="6371636" y="2278846"/>
            <a:ext cx="441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496" y="4653136"/>
            <a:ext cx="2655072" cy="1485496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280914" y="3915865"/>
            <a:ext cx="30074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/>
              <a:t>2</a:t>
            </a:r>
            <a:r>
              <a:rPr lang="ko-KR" altLang="en-US" b="1" smtClean="0"/>
              <a:t>번 </a:t>
            </a:r>
            <a:r>
              <a:rPr lang="en-US" altLang="ko-KR" b="1" smtClean="0"/>
              <a:t>FW </a:t>
            </a:r>
            <a:r>
              <a:rPr lang="ko-KR" altLang="en-US" b="1" smtClean="0"/>
              <a:t>다운로드 시도</a:t>
            </a:r>
            <a:endParaRPr lang="ko-KR" altLang="en-US" b="1"/>
          </a:p>
        </p:txBody>
      </p:sp>
      <p:sp>
        <p:nvSpPr>
          <p:cNvPr id="15" name="직사각형 14"/>
          <p:cNvSpPr/>
          <p:nvPr/>
        </p:nvSpPr>
        <p:spPr>
          <a:xfrm>
            <a:off x="3449266" y="3915865"/>
            <a:ext cx="30074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smtClean="0"/>
              <a:t>접근 실패</a:t>
            </a:r>
            <a:endParaRPr lang="ko-KR" altLang="en-US" b="1"/>
          </a:p>
        </p:txBody>
      </p:sp>
      <p:sp>
        <p:nvSpPr>
          <p:cNvPr id="16" name="직사각형 15"/>
          <p:cNvSpPr/>
          <p:nvPr/>
        </p:nvSpPr>
        <p:spPr>
          <a:xfrm>
            <a:off x="6744765" y="3987873"/>
            <a:ext cx="30074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smtClean="0"/>
              <a:t>보안으로 접근 불가 메세지</a:t>
            </a:r>
            <a:endParaRPr lang="ko-KR" altLang="en-US" b="1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0674" y="4653136"/>
            <a:ext cx="2680351" cy="1485496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0347" y="4662294"/>
            <a:ext cx="2562792" cy="1423264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992560" y="2206838"/>
            <a:ext cx="720080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992560" y="5301208"/>
            <a:ext cx="1800200" cy="1433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91929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109844" y="44624"/>
            <a:ext cx="6067292" cy="417513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  <a:defRPr/>
            </a:pPr>
            <a:r>
              <a:rPr kumimoji="0" lang="ko-KR" altLang="en-US" sz="2400" b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</a:rPr>
              <a:t>결론</a:t>
            </a:r>
            <a:r>
              <a:rPr kumimoji="0" lang="en-US" altLang="ko-KR" sz="2400" b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</a:rPr>
              <a:t> </a:t>
            </a:r>
            <a:endParaRPr kumimoji="0" lang="ko-KR" altLang="en-US" sz="24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720752" y="3068960"/>
            <a:ext cx="478136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500" b="1" smtClean="0"/>
              <a:t>최종 단계에서 </a:t>
            </a:r>
            <a:r>
              <a:rPr lang="en-US" altLang="ko-KR" sz="2500" b="1" smtClean="0"/>
              <a:t>MCU </a:t>
            </a:r>
            <a:r>
              <a:rPr lang="ko-KR" altLang="en-US" sz="2500" b="1" smtClean="0"/>
              <a:t>보안을 걸어 모든 수단 접근이 불가</a:t>
            </a:r>
            <a:endParaRPr lang="ko-KR" altLang="en-US" sz="2500" b="1"/>
          </a:p>
        </p:txBody>
      </p:sp>
    </p:spTree>
    <p:extLst>
      <p:ext uri="{BB962C8B-B14F-4D97-AF65-F5344CB8AC3E}">
        <p14:creationId xmlns:p14="http://schemas.microsoft.com/office/powerpoint/2010/main" val="64776388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13074</TotalTime>
  <Words>87</Words>
  <Application>Microsoft Office PowerPoint</Application>
  <PresentationFormat>A4 용지(210x297mm)</PresentationFormat>
  <Paragraphs>19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HY헤드라인M</vt:lpstr>
      <vt:lpstr>굴림</vt:lpstr>
      <vt:lpstr>맑은 고딕</vt:lpstr>
      <vt:lpstr>Arial</vt:lpstr>
      <vt:lpstr>Impact</vt:lpstr>
      <vt:lpstr>Tahoma</vt:lpstr>
      <vt:lpstr>Office 테마</vt:lpstr>
      <vt:lpstr>PRESENTATION MAIN TITLE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평화정공(주)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5203042</dc:creator>
  <cp:lastModifiedBy>DELL</cp:lastModifiedBy>
  <cp:revision>1172</cp:revision>
  <cp:lastPrinted>2025-02-12T09:12:57Z</cp:lastPrinted>
  <dcterms:created xsi:type="dcterms:W3CDTF">2018-02-12T10:18:53Z</dcterms:created>
  <dcterms:modified xsi:type="dcterms:W3CDTF">2025-10-27T07:14:14Z</dcterms:modified>
</cp:coreProperties>
</file>